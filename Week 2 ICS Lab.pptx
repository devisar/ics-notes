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71" r:id="rId13"/>
    <p:sldId id="269" r:id="rId14"/>
    <p:sldId id="267" r:id="rId15"/>
    <p:sldId id="268" r:id="rId16"/>
    <p:sldId id="270" r:id="rId1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 varScale="1">
        <p:scale>
          <a:sx n="109" d="100"/>
          <a:sy n="109" d="100"/>
        </p:scale>
        <p:origin x="-1674" y="-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7CB1D5-305F-4DEF-91E7-079DE8142E00}" type="datetimeFigureOut">
              <a:rPr lang="en-US" smtClean="0"/>
              <a:pPr/>
              <a:t>7/21/2026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2143AA-4FCA-4A8F-9AA2-DAC918FA7BC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7CB1D5-305F-4DEF-91E7-079DE8142E00}" type="datetimeFigureOut">
              <a:rPr lang="en-US" smtClean="0"/>
              <a:pPr/>
              <a:t>7/21/2026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2143AA-4FCA-4A8F-9AA2-DAC918FA7BC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7CB1D5-305F-4DEF-91E7-079DE8142E00}" type="datetimeFigureOut">
              <a:rPr lang="en-US" smtClean="0"/>
              <a:pPr/>
              <a:t>7/21/2026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2143AA-4FCA-4A8F-9AA2-DAC918FA7BC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7CB1D5-305F-4DEF-91E7-079DE8142E00}" type="datetimeFigureOut">
              <a:rPr lang="en-US" smtClean="0"/>
              <a:pPr/>
              <a:t>7/21/2026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2143AA-4FCA-4A8F-9AA2-DAC918FA7BC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7CB1D5-305F-4DEF-91E7-079DE8142E00}" type="datetimeFigureOut">
              <a:rPr lang="en-US" smtClean="0"/>
              <a:pPr/>
              <a:t>7/21/2026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2143AA-4FCA-4A8F-9AA2-DAC918FA7BC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7CB1D5-305F-4DEF-91E7-079DE8142E00}" type="datetimeFigureOut">
              <a:rPr lang="en-US" smtClean="0"/>
              <a:pPr/>
              <a:t>7/21/2026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2143AA-4FCA-4A8F-9AA2-DAC918FA7BC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7CB1D5-305F-4DEF-91E7-079DE8142E00}" type="datetimeFigureOut">
              <a:rPr lang="en-US" smtClean="0"/>
              <a:pPr/>
              <a:t>7/21/2026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2143AA-4FCA-4A8F-9AA2-DAC918FA7BC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7CB1D5-305F-4DEF-91E7-079DE8142E00}" type="datetimeFigureOut">
              <a:rPr lang="en-US" smtClean="0"/>
              <a:pPr/>
              <a:t>7/21/2026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2143AA-4FCA-4A8F-9AA2-DAC918FA7BC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7CB1D5-305F-4DEF-91E7-079DE8142E00}" type="datetimeFigureOut">
              <a:rPr lang="en-US" smtClean="0"/>
              <a:pPr/>
              <a:t>7/21/2026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2143AA-4FCA-4A8F-9AA2-DAC918FA7BC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7CB1D5-305F-4DEF-91E7-079DE8142E00}" type="datetimeFigureOut">
              <a:rPr lang="en-US" smtClean="0"/>
              <a:pPr/>
              <a:t>7/21/2026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2143AA-4FCA-4A8F-9AA2-DAC918FA7BC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7CB1D5-305F-4DEF-91E7-079DE8142E00}" type="datetimeFigureOut">
              <a:rPr lang="en-US" smtClean="0"/>
              <a:pPr/>
              <a:t>7/21/2026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2143AA-4FCA-4A8F-9AA2-DAC918FA7BC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97CB1D5-305F-4DEF-91E7-079DE8142E00}" type="datetimeFigureOut">
              <a:rPr lang="en-US" smtClean="0"/>
              <a:pPr/>
              <a:t>7/21/2026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2143AA-4FCA-4A8F-9AA2-DAC918FA7BC6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62000" y="304801"/>
            <a:ext cx="7772400" cy="762000"/>
          </a:xfrm>
        </p:spPr>
        <p:txBody>
          <a:bodyPr/>
          <a:lstStyle/>
          <a:p>
            <a:r>
              <a:rPr lang="en-US" dirty="0" smtClean="0"/>
              <a:t>Week 2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47800" y="1219200"/>
            <a:ext cx="6400800" cy="685800"/>
          </a:xfrm>
        </p:spPr>
        <p:txBody>
          <a:bodyPr>
            <a:normAutofit fontScale="77500" lnSpcReduction="20000"/>
          </a:bodyPr>
          <a:lstStyle/>
          <a:p>
            <a:r>
              <a:rPr lang="en-US" dirty="0">
                <a:solidFill>
                  <a:schemeClr val="tx1"/>
                </a:solidFill>
              </a:rPr>
              <a:t>Cryptanalysis of </a:t>
            </a:r>
            <a:r>
              <a:rPr lang="en-US" dirty="0" smtClean="0">
                <a:solidFill>
                  <a:schemeClr val="tx1"/>
                </a:solidFill>
              </a:rPr>
              <a:t>RSA (</a:t>
            </a:r>
            <a:r>
              <a:rPr lang="en-US" dirty="0" err="1" smtClean="0">
                <a:solidFill>
                  <a:schemeClr val="tx1"/>
                </a:solidFill>
              </a:rPr>
              <a:t>Rivest</a:t>
            </a:r>
            <a:r>
              <a:rPr lang="en-US" dirty="0" smtClean="0">
                <a:solidFill>
                  <a:schemeClr val="tx1"/>
                </a:solidFill>
              </a:rPr>
              <a:t>–Shamir–</a:t>
            </a:r>
            <a:r>
              <a:rPr lang="en-US" dirty="0" err="1" smtClean="0">
                <a:solidFill>
                  <a:schemeClr val="tx1"/>
                </a:solidFill>
              </a:rPr>
              <a:t>Adleman</a:t>
            </a:r>
            <a:r>
              <a:rPr lang="en-US" dirty="0" smtClean="0">
                <a:solidFill>
                  <a:schemeClr val="tx1"/>
                </a:solidFill>
              </a:rPr>
              <a:t>)</a:t>
            </a:r>
            <a:endParaRPr lang="en-US" dirty="0">
              <a:solidFill>
                <a:schemeClr val="tx1"/>
              </a:solidFill>
            </a:endParaRPr>
          </a:p>
          <a:p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381000" y="1905000"/>
            <a:ext cx="83820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Definition</a:t>
            </a:r>
          </a:p>
          <a:p>
            <a:r>
              <a:rPr lang="en-US" b="1" dirty="0" smtClean="0"/>
              <a:t>RSA</a:t>
            </a:r>
            <a:r>
              <a:rPr lang="en-US" dirty="0" smtClean="0"/>
              <a:t> is an </a:t>
            </a:r>
            <a:r>
              <a:rPr lang="en-US" b="1" dirty="0" smtClean="0"/>
              <a:t>asymmetric encryption algorithm</a:t>
            </a:r>
            <a:r>
              <a:rPr lang="en-US" dirty="0" smtClean="0"/>
              <a:t> that uses </a:t>
            </a:r>
            <a:r>
              <a:rPr lang="en-US" b="1" dirty="0" smtClean="0"/>
              <a:t>two different keys</a:t>
            </a:r>
            <a:r>
              <a:rPr lang="en-US" dirty="0" smtClean="0"/>
              <a:t>:</a:t>
            </a:r>
          </a:p>
          <a:p>
            <a:r>
              <a:rPr lang="en-US" b="1" dirty="0" smtClean="0"/>
              <a:t>Public Key</a:t>
            </a:r>
            <a:r>
              <a:rPr lang="en-US" dirty="0" smtClean="0"/>
              <a:t> – Used to encrypt data (shared with everyone). </a:t>
            </a:r>
          </a:p>
          <a:p>
            <a:r>
              <a:rPr lang="en-US" b="1" dirty="0" smtClean="0"/>
              <a:t>Private Key</a:t>
            </a:r>
            <a:r>
              <a:rPr lang="en-US" dirty="0" smtClean="0"/>
              <a:t> – Used to decrypt data (kept secret by the owner).</a:t>
            </a:r>
            <a:endParaRPr lang="en-US" dirty="0"/>
          </a:p>
        </p:txBody>
      </p:sp>
      <p:pic>
        <p:nvPicPr>
          <p:cNvPr id="1028" name="Picture 4" descr="RSA Encryption : Beginners guide. What the heck is Encryption anyway? | by Vishwas Adhikari | Medium"/>
          <p:cNvPicPr>
            <a:picLocks noChangeAspect="1" noChangeArrowheads="1"/>
          </p:cNvPicPr>
          <p:nvPr/>
        </p:nvPicPr>
        <p:blipFill>
          <a:blip r:embed="rId2"/>
          <a:srcRect t="25090" b="23764"/>
          <a:stretch>
            <a:fillRect/>
          </a:stretch>
        </p:blipFill>
        <p:spPr bwMode="auto">
          <a:xfrm>
            <a:off x="533400" y="3200400"/>
            <a:ext cx="7543800" cy="34290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Procedure</a:t>
            </a:r>
            <a:endParaRPr lang="en-US" dirty="0"/>
          </a:p>
        </p:txBody>
      </p:sp>
      <p:pic>
        <p:nvPicPr>
          <p:cNvPr id="4098" name="Picture 2" descr="RSA Algorithm With C#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85800" y="1238250"/>
            <a:ext cx="6019800" cy="561975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90600" y="1387475"/>
            <a:ext cx="6781800" cy="4556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04800"/>
            <a:ext cx="8229600" cy="6324600"/>
          </a:xfrm>
        </p:spPr>
        <p:txBody>
          <a:bodyPr>
            <a:normAutofit fontScale="40000" lnSpcReduction="20000"/>
          </a:bodyPr>
          <a:lstStyle/>
          <a:p>
            <a:pPr>
              <a:buNone/>
            </a:pPr>
            <a:r>
              <a:rPr lang="en-US" sz="6000" b="1" dirty="0" smtClean="0"/>
              <a:t>RSA Example (Using the Text "HELLO")</a:t>
            </a:r>
          </a:p>
          <a:p>
            <a:r>
              <a:rPr lang="en-US" sz="4500" b="1" dirty="0" smtClean="0"/>
              <a:t>Step 1: Choose Prime Numbers</a:t>
            </a:r>
          </a:p>
          <a:p>
            <a:pPr>
              <a:buNone/>
            </a:pPr>
            <a:r>
              <a:rPr lang="en-US" sz="4500" dirty="0" smtClean="0"/>
              <a:t>       p=3 </a:t>
            </a:r>
          </a:p>
          <a:p>
            <a:pPr>
              <a:buNone/>
            </a:pPr>
            <a:r>
              <a:rPr lang="en-US" sz="4500" dirty="0" smtClean="0"/>
              <a:t>       q=11</a:t>
            </a:r>
          </a:p>
          <a:p>
            <a:r>
              <a:rPr lang="en-US" sz="4500" b="1" dirty="0" smtClean="0"/>
              <a:t>Step 2: Calculate n</a:t>
            </a:r>
          </a:p>
          <a:p>
            <a:pPr>
              <a:buNone/>
            </a:pPr>
            <a:r>
              <a:rPr lang="en-US" sz="4500" dirty="0" smtClean="0"/>
              <a:t>       n=</a:t>
            </a:r>
            <a:r>
              <a:rPr lang="en-US" sz="4500" dirty="0" err="1" smtClean="0"/>
              <a:t>p×q</a:t>
            </a:r>
            <a:r>
              <a:rPr lang="en-US" sz="4500" dirty="0" smtClean="0"/>
              <a:t>=3×11=33</a:t>
            </a:r>
          </a:p>
          <a:p>
            <a:r>
              <a:rPr lang="en-US" sz="4500" b="1" dirty="0" smtClean="0"/>
              <a:t>Step 3: Calculate Euler's </a:t>
            </a:r>
            <a:r>
              <a:rPr lang="en-US" sz="4500" b="1" dirty="0" err="1" smtClean="0"/>
              <a:t>Totient</a:t>
            </a:r>
            <a:endParaRPr lang="en-US" sz="4500" b="1" dirty="0" smtClean="0"/>
          </a:p>
          <a:p>
            <a:pPr>
              <a:buNone/>
            </a:pPr>
            <a:r>
              <a:rPr lang="en-US" sz="4500" dirty="0" smtClean="0"/>
              <a:t>       </a:t>
            </a:r>
            <a:r>
              <a:rPr lang="el-GR" sz="4500" dirty="0" smtClean="0"/>
              <a:t>ϕ(</a:t>
            </a:r>
            <a:r>
              <a:rPr lang="en-US" sz="4500" dirty="0" smtClean="0"/>
              <a:t>n)=(p−1)(q−1)=(3−1)(11−1)=2×10=20</a:t>
            </a:r>
          </a:p>
          <a:p>
            <a:r>
              <a:rPr lang="en-US" sz="4500" dirty="0" smtClean="0"/>
              <a:t> </a:t>
            </a:r>
            <a:r>
              <a:rPr lang="en-US" sz="4500" b="1" dirty="0" smtClean="0"/>
              <a:t>Step 4: Choose Public Key</a:t>
            </a:r>
          </a:p>
          <a:p>
            <a:pPr>
              <a:buNone/>
            </a:pPr>
            <a:r>
              <a:rPr lang="en-US" sz="4500" dirty="0" smtClean="0"/>
              <a:t>      Choose:</a:t>
            </a:r>
          </a:p>
          <a:p>
            <a:pPr>
              <a:buNone/>
            </a:pPr>
            <a:r>
              <a:rPr lang="en-US" sz="4500" dirty="0" smtClean="0"/>
              <a:t>      e=3 Since </a:t>
            </a:r>
            <a:r>
              <a:rPr lang="en-US" sz="4500" b="1" dirty="0" err="1" smtClean="0"/>
              <a:t>gcd</a:t>
            </a:r>
            <a:r>
              <a:rPr lang="en-US" sz="4500" b="1" dirty="0" smtClean="0"/>
              <a:t>(3, 20) = 1</a:t>
            </a:r>
            <a:r>
              <a:rPr lang="en-US" sz="4500" dirty="0" smtClean="0"/>
              <a:t>, it is valid.(Greatest Common Divisor)</a:t>
            </a:r>
          </a:p>
          <a:p>
            <a:r>
              <a:rPr lang="en-US" sz="4500" b="1" dirty="0" smtClean="0"/>
              <a:t>Step 5: Calculate Private Key</a:t>
            </a:r>
          </a:p>
          <a:p>
            <a:pPr>
              <a:buNone/>
            </a:pPr>
            <a:r>
              <a:rPr lang="en-US" sz="4500" dirty="0" smtClean="0"/>
              <a:t>       Find </a:t>
            </a:r>
            <a:r>
              <a:rPr lang="en-US" sz="4500" b="1" dirty="0" smtClean="0"/>
              <a:t>d</a:t>
            </a:r>
            <a:r>
              <a:rPr lang="en-US" sz="4500" dirty="0" smtClean="0"/>
              <a:t> such that</a:t>
            </a:r>
          </a:p>
          <a:p>
            <a:pPr>
              <a:buNone/>
            </a:pPr>
            <a:r>
              <a:rPr lang="en-US" sz="4500" dirty="0" smtClean="0"/>
              <a:t>      (</a:t>
            </a:r>
            <a:r>
              <a:rPr lang="en-US" sz="4500" dirty="0" err="1" smtClean="0"/>
              <a:t>d×e</a:t>
            </a:r>
            <a:r>
              <a:rPr lang="en-US" sz="4500" dirty="0" smtClean="0"/>
              <a:t>)mod 20 ≡1</a:t>
            </a:r>
          </a:p>
          <a:p>
            <a:pPr>
              <a:buNone/>
            </a:pPr>
            <a:r>
              <a:rPr lang="en-US" sz="4500" dirty="0" smtClean="0"/>
              <a:t>      7*3=21</a:t>
            </a:r>
          </a:p>
          <a:p>
            <a:pPr>
              <a:buNone/>
            </a:pPr>
            <a:r>
              <a:rPr lang="en-US" sz="4500" dirty="0"/>
              <a:t> </a:t>
            </a:r>
            <a:r>
              <a:rPr lang="en-US" sz="4500" dirty="0" smtClean="0"/>
              <a:t>     21 mod 20=1</a:t>
            </a:r>
          </a:p>
          <a:p>
            <a:pPr>
              <a:buNone/>
            </a:pPr>
            <a:r>
              <a:rPr lang="en-US" sz="4500" dirty="0" smtClean="0"/>
              <a:t>      Therefore,</a:t>
            </a:r>
          </a:p>
          <a:p>
            <a:pPr>
              <a:buNone/>
            </a:pPr>
            <a:r>
              <a:rPr lang="en-US" sz="4500" dirty="0" smtClean="0"/>
              <a:t>      d=7 </a:t>
            </a:r>
          </a:p>
          <a:p>
            <a:r>
              <a:rPr lang="en-US" sz="4500" b="1" dirty="0" smtClean="0"/>
              <a:t>Keys</a:t>
            </a:r>
          </a:p>
          <a:p>
            <a:pPr>
              <a:buNone/>
            </a:pPr>
            <a:r>
              <a:rPr lang="en-US" sz="4500" b="1" dirty="0" smtClean="0"/>
              <a:t>     Public Key:</a:t>
            </a:r>
            <a:r>
              <a:rPr lang="en-US" sz="4500" dirty="0" smtClean="0"/>
              <a:t> (</a:t>
            </a:r>
            <a:r>
              <a:rPr lang="en-US" sz="4500" dirty="0" err="1" smtClean="0"/>
              <a:t>e,n</a:t>
            </a:r>
            <a:r>
              <a:rPr lang="en-US" sz="4500" dirty="0" smtClean="0"/>
              <a:t>)=(3,33)</a:t>
            </a:r>
          </a:p>
          <a:p>
            <a:pPr>
              <a:buNone/>
            </a:pPr>
            <a:r>
              <a:rPr lang="en-US" sz="4500" b="1" dirty="0" smtClean="0"/>
              <a:t>     Private Key:</a:t>
            </a:r>
            <a:r>
              <a:rPr lang="en-US" sz="4500" dirty="0" smtClean="0"/>
              <a:t> (</a:t>
            </a:r>
            <a:r>
              <a:rPr lang="en-US" sz="4500" dirty="0" err="1" smtClean="0"/>
              <a:t>d,n</a:t>
            </a:r>
            <a:r>
              <a:rPr lang="en-US" sz="4500" dirty="0" smtClean="0"/>
              <a:t>)=(7,33)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057400" y="152400"/>
            <a:ext cx="5257800" cy="6553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866900" y="152400"/>
            <a:ext cx="5600700" cy="6553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/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52400" y="914401"/>
            <a:ext cx="8839200" cy="518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TextBox 6"/>
          <p:cNvSpPr txBox="1"/>
          <p:nvPr/>
        </p:nvSpPr>
        <p:spPr>
          <a:xfrm>
            <a:off x="381000" y="152400"/>
            <a:ext cx="42672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/>
              <a:t>Download Files From github.com/</a:t>
            </a:r>
            <a:r>
              <a:rPr lang="en-US" sz="2000" b="1" dirty="0" err="1" smtClean="0"/>
              <a:t>rampriyakilari</a:t>
            </a:r>
            <a:r>
              <a:rPr lang="en-US" sz="2000" b="1" dirty="0" smtClean="0"/>
              <a:t>/ICS-Needs</a:t>
            </a:r>
            <a:endParaRPr lang="en-US" sz="2000" b="1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541463" y="963613"/>
            <a:ext cx="6059487" cy="4933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TextBox 4"/>
          <p:cNvSpPr txBox="1"/>
          <p:nvPr/>
        </p:nvSpPr>
        <p:spPr>
          <a:xfrm>
            <a:off x="609600" y="228600"/>
            <a:ext cx="43434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/>
              <a:t>Downloaded enc.txt and pubkey.pem</a:t>
            </a:r>
            <a:endParaRPr lang="en-US" sz="2000" b="1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28600" y="990600"/>
            <a:ext cx="8772525" cy="5467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TextBox 4"/>
          <p:cNvSpPr txBox="1"/>
          <p:nvPr/>
        </p:nvSpPr>
        <p:spPr>
          <a:xfrm>
            <a:off x="533400" y="304800"/>
            <a:ext cx="7924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Check using cat command. Here pubkey.pem(privacy enhanced mail) convert hexadecimal to decimal</a:t>
            </a:r>
            <a:endParaRPr 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8229600" cy="2286000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Here pubkey.pem(privacy enhanced mail) hexadecimal </a:t>
            </a:r>
            <a:br>
              <a:rPr lang="en-US" dirty="0" smtClean="0"/>
            </a:br>
            <a:r>
              <a:rPr lang="en-US" b="1" dirty="0" err="1" smtClean="0"/>
              <a:t>openssl</a:t>
            </a:r>
            <a:r>
              <a:rPr lang="en-US" b="1" dirty="0" smtClean="0"/>
              <a:t> </a:t>
            </a:r>
            <a:r>
              <a:rPr lang="en-US" b="1" dirty="0" err="1" smtClean="0"/>
              <a:t>rsa</a:t>
            </a:r>
            <a:r>
              <a:rPr lang="en-US" b="1" dirty="0" smtClean="0"/>
              <a:t> -</a:t>
            </a:r>
            <a:r>
              <a:rPr lang="en-US" b="1" dirty="0" err="1" smtClean="0"/>
              <a:t>pubin</a:t>
            </a:r>
            <a:r>
              <a:rPr lang="en-US" b="1" dirty="0" smtClean="0"/>
              <a:t> -inform PEM -text -</a:t>
            </a:r>
            <a:r>
              <a:rPr lang="en-US" b="1" dirty="0" err="1" smtClean="0"/>
              <a:t>noout</a:t>
            </a:r>
            <a:r>
              <a:rPr lang="en-US" b="1" dirty="0" smtClean="0"/>
              <a:t> &lt; pubkey.pem</a:t>
            </a:r>
            <a:endParaRPr lang="en-US" b="1" dirty="0"/>
          </a:p>
        </p:txBody>
      </p:sp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57200" y="3429000"/>
            <a:ext cx="8459787" cy="2571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convert hexadecimal to decimal</a:t>
            </a:r>
            <a:endParaRPr lang="en-US" dirty="0"/>
          </a:p>
        </p:txBody>
      </p:sp>
      <p:pic>
        <p:nvPicPr>
          <p:cNvPr id="1331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85799" y="1600200"/>
            <a:ext cx="8077201" cy="4827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Use factordb.com to take p and q value</a:t>
            </a:r>
            <a:endParaRPr lang="en-US" dirty="0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66800" y="1676400"/>
            <a:ext cx="6858000" cy="4803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err="1"/>
              <a:t>n</a:t>
            </a:r>
            <a:r>
              <a:rPr lang="en-US" dirty="0" err="1" smtClean="0"/>
              <a:t>ano</a:t>
            </a:r>
            <a:r>
              <a:rPr lang="en-US" dirty="0" smtClean="0"/>
              <a:t> exploit.py</a:t>
            </a:r>
            <a:br>
              <a:rPr lang="en-US" dirty="0" smtClean="0"/>
            </a:br>
            <a:r>
              <a:rPr lang="en-US" dirty="0" smtClean="0"/>
              <a:t>(</a:t>
            </a:r>
            <a:r>
              <a:rPr lang="en-US" dirty="0" err="1" smtClean="0"/>
              <a:t>Ctrl+X,Y,Enter</a:t>
            </a:r>
            <a:r>
              <a:rPr lang="en-US" dirty="0" smtClean="0"/>
              <a:t>)Exit Purpose.</a:t>
            </a:r>
            <a:endParaRPr lang="en-US" dirty="0"/>
          </a:p>
        </p:txBody>
      </p:sp>
      <p:pic>
        <p:nvPicPr>
          <p:cNvPr id="1638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04800" y="1676400"/>
            <a:ext cx="8610600" cy="4760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3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28600" y="762000"/>
            <a:ext cx="8915400" cy="5943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TextBox 4"/>
          <p:cNvSpPr txBox="1"/>
          <p:nvPr/>
        </p:nvSpPr>
        <p:spPr>
          <a:xfrm>
            <a:off x="457200" y="228600"/>
            <a:ext cx="7239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/>
              <a:t>Exploit.py code using to Generated private.pem</a:t>
            </a:r>
            <a:endParaRPr lang="en-US" sz="2400" b="1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944562"/>
          </a:xfrm>
        </p:spPr>
        <p:txBody>
          <a:bodyPr>
            <a:noAutofit/>
          </a:bodyPr>
          <a:lstStyle/>
          <a:p>
            <a:r>
              <a:rPr lang="en-US" sz="2000" dirty="0" smtClean="0"/>
              <a:t>Use following Command to Decrypt</a:t>
            </a:r>
            <a:br>
              <a:rPr lang="en-US" sz="2000" dirty="0" smtClean="0"/>
            </a:br>
            <a:r>
              <a:rPr lang="en-US" sz="2000" b="1" dirty="0" err="1" smtClean="0"/>
              <a:t>openssl</a:t>
            </a:r>
            <a:r>
              <a:rPr lang="en-US" sz="2000" b="1" dirty="0" smtClean="0"/>
              <a:t> </a:t>
            </a:r>
            <a:r>
              <a:rPr lang="en-US" sz="2000" b="1" dirty="0" err="1" smtClean="0"/>
              <a:t>pkeyutl</a:t>
            </a:r>
            <a:r>
              <a:rPr lang="en-US" sz="2000" b="1" dirty="0" smtClean="0"/>
              <a:t> -decrypt -in enc.txt -out dec.txt -</a:t>
            </a:r>
            <a:r>
              <a:rPr lang="en-US" sz="2000" b="1" dirty="0" err="1" smtClean="0"/>
              <a:t>inkey</a:t>
            </a:r>
            <a:r>
              <a:rPr lang="en-US" sz="2000" b="1" dirty="0" smtClean="0"/>
              <a:t> private.pem</a:t>
            </a:r>
            <a:endParaRPr lang="en-US" sz="2000" b="1" dirty="0"/>
          </a:p>
        </p:txBody>
      </p:sp>
      <p:pic>
        <p:nvPicPr>
          <p:cNvPr id="15363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52400" y="1447800"/>
            <a:ext cx="8758238" cy="4705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 rot="20011849">
            <a:off x="2883737" y="2622543"/>
            <a:ext cx="4565945" cy="1362535"/>
          </a:xfrm>
          <a:effectLst>
            <a:glow rad="63500">
              <a:schemeClr val="accent2">
                <a:satMod val="175000"/>
                <a:alpha val="40000"/>
              </a:schemeClr>
            </a:glow>
          </a:effectLst>
        </p:spPr>
        <p:txBody>
          <a:bodyPr>
            <a:normAutofit/>
          </a:bodyPr>
          <a:lstStyle/>
          <a:p>
            <a:pPr>
              <a:buNone/>
            </a:pPr>
            <a:r>
              <a:rPr lang="en-US" sz="54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noFill/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THANK YOU</a:t>
            </a:r>
            <a:endParaRPr lang="en-US" sz="5400" b="1" dirty="0">
              <a:ln w="18000">
                <a:solidFill>
                  <a:schemeClr val="accent2">
                    <a:satMod val="140000"/>
                  </a:schemeClr>
                </a:solidFill>
                <a:prstDash val="solid"/>
                <a:miter lim="800000"/>
              </a:ln>
              <a:noFill/>
              <a:effectLst>
                <a:outerShdw blurRad="25500" dist="23000" dir="7020000" algn="tl">
                  <a:srgbClr val="000000">
                    <a:alpha val="50000"/>
                  </a:srgbClr>
                </a:outerShdw>
              </a:effectLst>
            </a:endParaRPr>
          </a:p>
        </p:txBody>
      </p:sp>
    </p:spTree>
  </p:cSld>
  <p:clrMapOvr>
    <a:masterClrMapping/>
  </p:clrMapOvr>
  <p:transition/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195</TotalTime>
  <Words>231</Words>
  <Application>Microsoft Office PowerPoint</Application>
  <PresentationFormat>On-screen Show (4:3)</PresentationFormat>
  <Paragraphs>38</Paragraphs>
  <Slides>16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7" baseType="lpstr">
      <vt:lpstr>Office Theme</vt:lpstr>
      <vt:lpstr>Week 2</vt:lpstr>
      <vt:lpstr>Procedure</vt:lpstr>
      <vt:lpstr>Slide 3</vt:lpstr>
      <vt:lpstr>Slide 4</vt:lpstr>
      <vt:lpstr>Slide 5</vt:lpstr>
      <vt:lpstr>Slide 6</vt:lpstr>
      <vt:lpstr>Slide 7</vt:lpstr>
      <vt:lpstr>Slide 8</vt:lpstr>
      <vt:lpstr>Slide 9</vt:lpstr>
      <vt:lpstr>Here pubkey.pem(privacy enhanced mail) hexadecimal  openssl rsa -pubin -inform PEM -text -noout &lt; pubkey.pem</vt:lpstr>
      <vt:lpstr>convert hexadecimal to decimal</vt:lpstr>
      <vt:lpstr>Use factordb.com to take p and q value</vt:lpstr>
      <vt:lpstr>nano exploit.py (Ctrl+X,Y,Enter)Exit Purpose.</vt:lpstr>
      <vt:lpstr>Slide 14</vt:lpstr>
      <vt:lpstr>Use following Command to Decrypt openssl pkeyutl -decrypt -in enc.txt -out dec.txt -inkey private.pem</vt:lpstr>
      <vt:lpstr>Slide 16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Week 2</dc:title>
  <dc:creator>student</dc:creator>
  <cp:lastModifiedBy>student</cp:lastModifiedBy>
  <cp:revision>16</cp:revision>
  <dcterms:created xsi:type="dcterms:W3CDTF">2026-07-15T04:04:09Z</dcterms:created>
  <dcterms:modified xsi:type="dcterms:W3CDTF">2026-07-21T06:30:45Z</dcterms:modified>
</cp:coreProperties>
</file>