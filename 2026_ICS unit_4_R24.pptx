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441" r:id="rId2"/>
    <p:sldId id="447" r:id="rId3"/>
    <p:sldId id="282" r:id="rId4"/>
    <p:sldId id="283" r:id="rId5"/>
    <p:sldId id="284" r:id="rId6"/>
    <p:sldId id="285" r:id="rId7"/>
    <p:sldId id="286" r:id="rId8"/>
    <p:sldId id="261" r:id="rId9"/>
    <p:sldId id="437" r:id="rId10"/>
    <p:sldId id="262" r:id="rId11"/>
    <p:sldId id="263" r:id="rId12"/>
    <p:sldId id="444" r:id="rId13"/>
    <p:sldId id="443" r:id="rId14"/>
    <p:sldId id="264" r:id="rId15"/>
    <p:sldId id="281" r:id="rId16"/>
    <p:sldId id="445" r:id="rId17"/>
    <p:sldId id="270" r:id="rId18"/>
    <p:sldId id="271" r:id="rId19"/>
    <p:sldId id="448" r:id="rId20"/>
    <p:sldId id="449" r:id="rId21"/>
    <p:sldId id="450" r:id="rId22"/>
    <p:sldId id="451" r:id="rId23"/>
    <p:sldId id="266" r:id="rId24"/>
    <p:sldId id="452" r:id="rId25"/>
    <p:sldId id="453" r:id="rId26"/>
    <p:sldId id="454" r:id="rId27"/>
    <p:sldId id="466" r:id="rId28"/>
    <p:sldId id="455" r:id="rId29"/>
    <p:sldId id="456" r:id="rId30"/>
    <p:sldId id="457" r:id="rId31"/>
    <p:sldId id="458" r:id="rId32"/>
    <p:sldId id="459" r:id="rId33"/>
    <p:sldId id="460" r:id="rId34"/>
    <p:sldId id="461" r:id="rId35"/>
    <p:sldId id="462" r:id="rId36"/>
    <p:sldId id="464" r:id="rId37"/>
    <p:sldId id="465" r:id="rId38"/>
    <p:sldId id="467" r:id="rId39"/>
    <p:sldId id="275" r:id="rId40"/>
    <p:sldId id="276" r:id="rId41"/>
    <p:sldId id="277" r:id="rId42"/>
    <p:sldId id="439" r:id="rId43"/>
    <p:sldId id="267" r:id="rId44"/>
    <p:sldId id="287" r:id="rId45"/>
    <p:sldId id="288" r:id="rId46"/>
    <p:sldId id="268" r:id="rId47"/>
    <p:sldId id="278" r:id="rId48"/>
    <p:sldId id="279" r:id="rId49"/>
    <p:sldId id="280" r:id="rId50"/>
    <p:sldId id="269" r:id="rId51"/>
    <p:sldId id="272" r:id="rId52"/>
    <p:sldId id="273" r:id="rId53"/>
    <p:sldId id="274" r:id="rId54"/>
    <p:sldId id="440" r:id="rId55"/>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p:restoredTop sz="86405"/>
  </p:normalViewPr>
  <p:slideViewPr>
    <p:cSldViewPr showGuides="1">
      <p:cViewPr varScale="1">
        <p:scale>
          <a:sx n="99" d="100"/>
          <a:sy n="99" d="100"/>
        </p:scale>
        <p:origin x="156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42C82F3-9DB3-4160-B70B-6F85D7026863}" type="datetimeFigureOut">
              <a:rPr kumimoji="0" lang="en-US" sz="1200" b="0" i="0" u="none" strike="noStrike" kern="1200" cap="none" spc="0" normalizeH="0" baseline="0" noProof="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p>
            <a:pPr lvl="0" algn="r" eaLnBrk="1" hangingPunct="1"/>
            <a:fld id="{9A0DB2DC-4C9A-4742-B13C-FB6460FD3503}" type="slidenum">
              <a:rPr lang="en-US" altLang="en-US" sz="1200" dirty="0">
                <a:latin typeface="Calibri" panose="020F0502020204030204" pitchFamily="34" charset="0"/>
              </a:rPr>
              <a:pPr lvl="0" algn="r" eaLnBrk="1" hangingPunct="1"/>
              <a:t>‹#›</a:t>
            </a:fld>
            <a:endParaRPr lang="en-US" alt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Google Shape;51;p:notes"/>
          <p:cNvSpPr>
            <a:spLocks noGrp="1" noRot="1" noChangeAspect="1" noTextEdit="1"/>
          </p:cNvSpPr>
          <p:nvPr>
            <p:ph type="sldImg" idx="2"/>
          </p:nvPr>
        </p:nvSpPr>
        <p:spPr>
          <a:custGeom>
            <a:avLst/>
            <a:gdLst>
              <a:gd name="txL" fmla="*/ 0 w 120000"/>
              <a:gd name="txT" fmla="*/ 0 h 120000"/>
              <a:gd name="txR" fmla="*/ 120000 w 120000"/>
              <a:gd name="txB" fmla="*/ 120000 h 120000"/>
            </a:gdLst>
            <a:ahLst/>
            <a:cxnLst>
              <a:cxn ang="0">
                <a:pos x="0" y="0"/>
              </a:cxn>
              <a:cxn ang="0">
                <a:pos x="2147483647" y="0"/>
              </a:cxn>
              <a:cxn ang="0">
                <a:pos x="2147483647" y="2147483647"/>
              </a:cxn>
              <a:cxn ang="0">
                <a:pos x="0" y="2147483647"/>
              </a:cxn>
              <a:cxn ang="0">
                <a:pos x="0" y="0"/>
              </a:cxn>
            </a:cxnLst>
            <a:rect l="txL" t="txT" r="txR" b="txB"/>
            <a:pathLst>
              <a:path w="120000" h="120000">
                <a:moveTo>
                  <a:pt x="0" y="0"/>
                </a:moveTo>
                <a:lnTo>
                  <a:pt x="120000" y="0"/>
                </a:lnTo>
                <a:lnTo>
                  <a:pt x="120000" y="120000"/>
                </a:lnTo>
                <a:lnTo>
                  <a:pt x="0" y="120000"/>
                </a:lnTo>
                <a:lnTo>
                  <a:pt x="0" y="0"/>
                </a:lnTo>
                <a:close/>
              </a:path>
            </a:pathLst>
          </a:custGeom>
          <a:ln>
            <a:solidFill>
              <a:srgbClr val="000000">
                <a:alpha val="100000"/>
              </a:srgbClr>
            </a:solidFill>
          </a:ln>
        </p:spPr>
        <p:txBody>
          <a:bodyPr/>
          <a:lstStyle/>
          <a:p>
            <a:endParaRPr lang="en-IN"/>
          </a:p>
        </p:txBody>
      </p:sp>
      <p:sp>
        <p:nvSpPr>
          <p:cNvPr id="48131" name="Google Shape;52;p:notes"/>
          <p:cNvSpPr>
            <a:spLocks noGrp="1"/>
          </p:cNvSpPr>
          <p:nvPr>
            <p:ph type="body" idx="1"/>
          </p:nvPr>
        </p:nvSpPr>
        <p:spPr>
          <a:noFill/>
          <a:ln>
            <a:noFill/>
          </a:ln>
        </p:spPr>
        <p:txBody>
          <a:bodyPr wrap="square" lIns="91425" tIns="91425" rIns="91425" bIns="91425" anchor="t" anchorCtr="0"/>
          <a:lstStyle/>
          <a:p>
            <a:pPr lvl="0">
              <a:spcBef>
                <a:spcPct val="0"/>
              </a:spcBef>
            </a:pPr>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a:solidFill>
              <a:srgbClr val="000000">
                <a:alpha val="100000"/>
              </a:srgbClr>
            </a:solidFill>
            <a:miter lim="800000"/>
          </a:ln>
        </p:spPr>
        <p:txBody>
          <a:bodyPr/>
          <a:lstStyle/>
          <a:p>
            <a:endParaRPr lang="en-IN"/>
          </a:p>
        </p:txBody>
      </p:sp>
      <p:sp>
        <p:nvSpPr>
          <p:cNvPr id="51203" name="Notes Placeholder 2"/>
          <p:cNvSpPr>
            <a:spLocks noGrp="1"/>
          </p:cNvSpPr>
          <p:nvPr>
            <p:ph type="body" idx="1"/>
          </p:nvPr>
        </p:nvSpPr>
        <p:spPr>
          <a:noFill/>
          <a:ln>
            <a:noFill/>
          </a:ln>
        </p:spPr>
        <p:txBody>
          <a:bodyPr wrap="square" lIns="91440" tIns="45720" rIns="91440" bIns="45720" anchor="t" anchorCtr="0"/>
          <a:lstStyle/>
          <a:p>
            <a:pPr lvl="0"/>
            <a:endParaRPr lang="en-IN" altLang="en-US" dirty="0"/>
          </a:p>
        </p:txBody>
      </p:sp>
      <p:sp>
        <p:nvSpPr>
          <p:cNvPr id="5120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latin typeface="Calibri" panose="020F0502020204030204" pitchFamily="34" charset="0"/>
              </a:rPr>
              <a:pPr lvl="0" algn="r" eaLnBrk="1" hangingPunct="1"/>
              <a:t>23</a:t>
            </a:fld>
            <a:endParaRPr lang="en-US" altLang="en-US" sz="1200" dirty="0">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95960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12322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215C8264-9E18-493C-89EF-8765E96103F0}"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9/21/2026</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defRPr>
            </a:lvl1pPr>
          </a:lstStyle>
          <a:p>
            <a:pPr lvl="0" eaLnBrk="1" hangingPunct="1"/>
            <a:fld id="{9A0DB2DC-4C9A-4742-B13C-FB6460FD3503}" type="slidenum">
              <a:rPr lang="en-US" altLang="en-US" dirty="0"/>
              <a:pPr lvl="0" eaLnBrk="1" hangingPunct="1"/>
              <a:t>‹#›</a:t>
            </a:fld>
            <a:endParaRPr lang="en-US"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Google Shape;54;p13"/>
          <p:cNvSpPr>
            <a:spLocks noGrp="1"/>
          </p:cNvSpPr>
          <p:nvPr>
            <p:ph type="ctrTitle"/>
          </p:nvPr>
        </p:nvSpPr>
        <p:spPr>
          <a:xfrm>
            <a:off x="311150" y="1601788"/>
            <a:ext cx="8521700" cy="2052637"/>
          </a:xfrm>
          <a:ln/>
        </p:spPr>
        <p:txBody>
          <a:bodyPr vert="horz" wrap="square" lIns="91425" tIns="91425" rIns="91425" bIns="91425" anchor="b" anchorCtr="0"/>
          <a:lstStyle/>
          <a:p>
            <a:pPr>
              <a:buClrTx/>
              <a:buSzTx/>
              <a:buFontTx/>
            </a:pPr>
            <a:r>
              <a:rPr lang="en-US" altLang="en-US" dirty="0"/>
              <a:t>UNIT-IV</a:t>
            </a:r>
            <a:br>
              <a:rPr lang="en-US" altLang="en-US" dirty="0"/>
            </a:br>
            <a:r>
              <a:rPr lang="en-US" altLang="en-US" sz="3200" dirty="0">
                <a:solidFill>
                  <a:srgbClr val="000000"/>
                </a:solidFill>
                <a:latin typeface="Times New Roman" panose="02020603050405020304" pitchFamily="18" charset="0"/>
                <a:cs typeface="Times New Roman" panose="02020603050405020304" pitchFamily="18" charset="0"/>
              </a:rPr>
              <a:t>Cyber Security Audit &amp; Standards</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76655CB-9373-6D7A-CE8E-D92A7B22964A}"/>
              </a:ext>
            </a:extLst>
          </p:cNvPr>
          <p:cNvGraphicFramePr>
            <a:graphicFrameLocks noGrp="1"/>
          </p:cNvGraphicFramePr>
          <p:nvPr>
            <p:ph idx="1"/>
            <p:extLst>
              <p:ext uri="{D42A27DB-BD31-4B8C-83A1-F6EECF244321}">
                <p14:modId xmlns:p14="http://schemas.microsoft.com/office/powerpoint/2010/main" val="3841359462"/>
              </p:ext>
            </p:extLst>
          </p:nvPr>
        </p:nvGraphicFramePr>
        <p:xfrm>
          <a:off x="762000" y="2438400"/>
          <a:ext cx="7543800" cy="2895600"/>
        </p:xfrm>
        <a:graphic>
          <a:graphicData uri="http://schemas.openxmlformats.org/drawingml/2006/table">
            <a:tbl>
              <a:tblPr firstRow="1" firstCol="1" bandRow="1">
                <a:tableStyleId>{5C22544A-7EE6-4342-B048-85BDC9FD1C3A}</a:tableStyleId>
              </a:tblPr>
              <a:tblGrid>
                <a:gridCol w="169310">
                  <a:extLst>
                    <a:ext uri="{9D8B030D-6E8A-4147-A177-3AD203B41FA5}">
                      <a16:colId xmlns:a16="http://schemas.microsoft.com/office/drawing/2014/main" val="2529508843"/>
                    </a:ext>
                  </a:extLst>
                </a:gridCol>
                <a:gridCol w="6412600">
                  <a:extLst>
                    <a:ext uri="{9D8B030D-6E8A-4147-A177-3AD203B41FA5}">
                      <a16:colId xmlns:a16="http://schemas.microsoft.com/office/drawing/2014/main" val="3826153340"/>
                    </a:ext>
                  </a:extLst>
                </a:gridCol>
                <a:gridCol w="961890">
                  <a:extLst>
                    <a:ext uri="{9D8B030D-6E8A-4147-A177-3AD203B41FA5}">
                      <a16:colId xmlns:a16="http://schemas.microsoft.com/office/drawing/2014/main" val="932631470"/>
                    </a:ext>
                  </a:extLst>
                </a:gridCol>
              </a:tblGrid>
              <a:tr h="723900">
                <a:tc>
                  <a:txBody>
                    <a:bodyPr/>
                    <a:lstStyle/>
                    <a:p>
                      <a:pPr marL="0" marR="0" algn="ctr">
                        <a:spcBef>
                          <a:spcPts val="15"/>
                        </a:spcBef>
                        <a:buNone/>
                      </a:pPr>
                      <a:r>
                        <a:rPr lang="en-US" sz="1100">
                          <a:effectLst/>
                        </a:rPr>
                        <a:t>IV</a:t>
                      </a:r>
                      <a:endParaRPr lang="en-IN" sz="1000">
                        <a:effectLst/>
                        <a:latin typeface="Arial" panose="020B0604020202020204" pitchFamily="34" charset="0"/>
                        <a:ea typeface="Arial" panose="020B0604020202020204" pitchFamily="34" charset="0"/>
                        <a:cs typeface="Mangal" panose="02040503050203030202" pitchFamily="18" charset="0"/>
                      </a:endParaRPr>
                    </a:p>
                  </a:txBody>
                  <a:tcPr marL="68580" marR="68580" marT="0" marB="0"/>
                </a:tc>
                <a:tc>
                  <a:txBody>
                    <a:bodyPr/>
                    <a:lstStyle/>
                    <a:p>
                      <a:pPr marL="0" marR="0" algn="just">
                        <a:spcBef>
                          <a:spcPts val="15"/>
                        </a:spcBef>
                        <a:buNone/>
                      </a:pPr>
                      <a:r>
                        <a:rPr lang="en-US" sz="1100" dirty="0">
                          <a:effectLst/>
                        </a:rPr>
                        <a:t>Cyber Security Audit &amp; Standards</a:t>
                      </a:r>
                      <a:endParaRPr lang="en-IN" sz="1000" dirty="0">
                        <a:effectLst/>
                        <a:latin typeface="Arial" panose="020B0604020202020204" pitchFamily="34" charset="0"/>
                        <a:ea typeface="Arial" panose="020B0604020202020204" pitchFamily="34" charset="0"/>
                        <a:cs typeface="Mangal" panose="02040503050203030202" pitchFamily="18" charset="0"/>
                      </a:endParaRPr>
                    </a:p>
                  </a:txBody>
                  <a:tcPr marL="68580" marR="68580" marT="0" marB="0"/>
                </a:tc>
                <a:tc>
                  <a:txBody>
                    <a:bodyPr/>
                    <a:lstStyle/>
                    <a:p>
                      <a:pPr marL="0" marR="0" algn="ctr">
                        <a:spcBef>
                          <a:spcPts val="15"/>
                        </a:spcBef>
                        <a:buNone/>
                      </a:pPr>
                      <a:r>
                        <a:rPr lang="en-US" sz="1100">
                          <a:effectLst/>
                        </a:rPr>
                        <a:t>9</a:t>
                      </a:r>
                      <a:endParaRPr lang="en-IN" sz="1000">
                        <a:effectLst/>
                        <a:latin typeface="Arial" panose="020B0604020202020204" pitchFamily="34" charset="0"/>
                        <a:ea typeface="Arial" panose="020B06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3141719098"/>
                  </a:ext>
                </a:extLst>
              </a:tr>
              <a:tr h="2171700">
                <a:tc gridSpan="3">
                  <a:txBody>
                    <a:bodyPr/>
                    <a:lstStyle/>
                    <a:p>
                      <a:pPr marL="0" marR="0" algn="just">
                        <a:spcBef>
                          <a:spcPts val="15"/>
                        </a:spcBef>
                        <a:buNone/>
                      </a:pPr>
                      <a:r>
                        <a:rPr lang="en-US" sz="1100" dirty="0">
                          <a:effectLst/>
                        </a:rPr>
                        <a:t>Risk assessment and management, asset classification, crisis management plan, penetration testing, vulnerability testing, security testing, international standards, analysis and logging, security certification.</a:t>
                      </a:r>
                      <a:endParaRPr lang="en-IN" sz="1000" dirty="0">
                        <a:effectLst/>
                        <a:latin typeface="Arial" panose="020B0604020202020204" pitchFamily="34" charset="0"/>
                        <a:ea typeface="Arial" panose="020B0604020202020204" pitchFamily="34" charset="0"/>
                        <a:cs typeface="Mangal" panose="02040503050203030202" pitchFamily="18" charset="0"/>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461887182"/>
                  </a:ext>
                </a:extLst>
              </a:tr>
            </a:tbl>
          </a:graphicData>
        </a:graphic>
      </p:graphicFrame>
    </p:spTree>
    <p:extLst>
      <p:ext uri="{BB962C8B-B14F-4D97-AF65-F5344CB8AC3E}">
        <p14:creationId xmlns:p14="http://schemas.microsoft.com/office/powerpoint/2010/main" val="4083860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76200"/>
            <a:ext cx="8229600" cy="304800"/>
          </a:xfrm>
          <a:ln/>
        </p:spPr>
        <p:txBody>
          <a:bodyPr vert="horz" wrap="square" lIns="91440" tIns="45720" rIns="91440" bIns="45720" anchor="ctr" anchorCtr="0"/>
          <a:lstStyle/>
          <a:p>
            <a:pPr eaLnBrk="1" hangingPunct="1"/>
            <a:r>
              <a:rPr lang="en-US" altLang="en-US" sz="2800" dirty="0">
                <a:latin typeface="Times New Roman" panose="02020603050405020304" pitchFamily="18" charset="0"/>
                <a:cs typeface="Times New Roman" panose="02020603050405020304" pitchFamily="18" charset="0"/>
              </a:rPr>
              <a:t>Risk Assessment and Management</a:t>
            </a:r>
            <a:endParaRPr lang="en-US" altLang="en-US" sz="28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52400" y="457200"/>
            <a:ext cx="8839200" cy="6324600"/>
          </a:xfrm>
        </p:spPr>
        <p:txBody>
          <a:bodyPr vert="horz" wrap="square" lIns="91440" tIns="45720" rIns="91440" bIns="45720" numCol="1" rtlCol="0" anchor="t" anchorCtr="0" compatLnSpc="1">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Cyber security risk assessment is the process of </a:t>
            </a:r>
            <a:r>
              <a:rPr kumimoji="0" 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identifying</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analyzing</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and </a:t>
            </a:r>
            <a:r>
              <a:rPr kumimoji="0" 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evaluating</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risk. It helps to ensure that the cyber security controls you choose are appropriate to the risks your organization faces.</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Example cyber risks : Data leaks, phishing, malware, </a:t>
            </a:r>
            <a:r>
              <a:rPr kumimoji="0" lang="en-US" sz="20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Ransomware</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insider threats, cyber attacks</a:t>
            </a: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How to perform a cyber security risk assessment:</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It can be split into many parts, but the 5 main steps are: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scoping</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risk identification</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risk analysis</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risk evaluation</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and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documentation.</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Step-1: Determine the scope of the risk assessment:</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 risk assessment starts by deciding what is in scope of the assessment. It could be the entire organization, but this is usually too big an undertaking, so it is more likely to be a business unit, location or a specific aspect of the business, such as payment processing or a web application.</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Step 2: How to identify cyber security risks:</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mn-lt"/>
                <a:ea typeface="+mn-ea"/>
                <a:cs typeface="+mn-cs"/>
              </a:rPr>
              <a:t>2.1 Identify assets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You can't protect what you don't know, so the next task is to identify and create an inventory of all physical and logical assets that are within the scope of the risk assessment.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2.2 Identify threats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Threats are the tactics, techniques, and methods used by threat actors that have the potential to cause harm to an organization's assets.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76200"/>
            <a:ext cx="8229600" cy="304800"/>
          </a:xfrm>
          <a:ln/>
        </p:spPr>
        <p:txBody>
          <a:bodyPr vert="horz" wrap="square" lIns="91440" tIns="45720" rIns="91440" bIns="45720" anchor="ctr" anchorCtr="0"/>
          <a:lstStyle/>
          <a:p>
            <a:pPr eaLnBrk="1" hangingPunct="1"/>
            <a:r>
              <a:rPr lang="en-US" altLang="en-US" sz="2800" dirty="0">
                <a:latin typeface="Times New Roman" panose="02020603050405020304" pitchFamily="18" charset="0"/>
                <a:cs typeface="Times New Roman" panose="02020603050405020304" pitchFamily="18" charset="0"/>
              </a:rPr>
              <a:t>Risk Assessment and Management</a:t>
            </a:r>
            <a:endParaRPr lang="en-US" altLang="en-US" sz="28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52400" y="457200"/>
            <a:ext cx="8839200" cy="6324600"/>
          </a:xfrm>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none" strike="noStrike" kern="1200" cap="none" spc="0" normalizeH="0" baseline="0" noProof="0" dirty="0">
                <a:ln>
                  <a:noFill/>
                </a:ln>
                <a:solidFill>
                  <a:schemeClr val="tx1"/>
                </a:solidFill>
                <a:effectLst/>
                <a:uLnTx/>
                <a:uFillTx/>
                <a:latin typeface="+mn-lt"/>
                <a:ea typeface="+mn-ea"/>
                <a:cs typeface="+mn-cs"/>
              </a:rPr>
              <a:t>2.3 Identify what could go wrong</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This task involves specifying the consequences of an identified threat exploiting a vulnerability to attack an in-scope asset. For example:</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Threat: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An attacker performs an SQL injection on an</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Vulnerability: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unpatched</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Asset: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web server</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Consequence: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to steal customers' private data.</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Step 3: Analyze risks and determine potential impact</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Now it is time to determine the likelihood of the risk scenarios documented in Step 2 actually occurring, and the impact on the organization if it did happen.</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In a cyber security risk assessment, risk likelihood</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the probability that a given threat is capable of exploiting a given vulnerability -- should be determined based on the discoverability, exploitability and reproducibility of threats and vulnerabilities rather than historical occurrences.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Step 4: Determine and prioritize risks</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Using a risk matrix where the risk level is "Likelihood times Impact," each risk scenario can be classified.</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If the risk of a SQL injection attack were considered "Likely" or "Highly Likely”</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76200"/>
            <a:ext cx="8229600" cy="304800"/>
          </a:xfrm>
          <a:ln/>
        </p:spPr>
        <p:txBody>
          <a:bodyPr vert="horz" wrap="square" lIns="91440" tIns="45720" rIns="91440" bIns="45720" anchor="ctr" anchorCtr="0"/>
          <a:lstStyle/>
          <a:p>
            <a:pPr eaLnBrk="1" hangingPunct="1"/>
            <a:r>
              <a:rPr lang="en-US" altLang="en-US" sz="2800" dirty="0">
                <a:latin typeface="Times New Roman" panose="02020603050405020304" pitchFamily="18" charset="0"/>
                <a:cs typeface="Times New Roman" panose="02020603050405020304" pitchFamily="18" charset="0"/>
              </a:rPr>
              <a:t>Risk Assessment and Management</a:t>
            </a:r>
            <a:endParaRPr lang="en-US" altLang="en-US" sz="28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52400" y="457200"/>
            <a:ext cx="8991600" cy="6324600"/>
          </a:xfrm>
        </p:spPr>
        <p:txBody>
          <a:bodyPr vert="horz" wrap="square" lIns="91440" tIns="45720" rIns="91440" bIns="45720" numCol="1" rtlCol="0" anchor="t" anchorCtr="0" compatLnSpc="1">
            <a:normAutofit fontScale="92500" lnSpcReduction="10000"/>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Any scenario that is above the agreed-upon tolerance level should be prioritized for treatment to bring it within the organization's risk tolerance level. There are three ways of doing this:</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Avoid.</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If the risk outweigh the benefits, discontinuing an activity may be the best course of action if it means no longer being exposed to it.</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Transfer.</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Share a portion of the risk with other parties through cyber insurance or outsourcing certain operations to third parties.</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Mitigate.</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Deploy security controls and other measures to reduce the Likelihood and/or Impact and therefore the risk level.</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Step 5: Document all risks</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It's important to document all identified risk scenarios in a </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risk register</a:t>
            </a: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This should be regularly reviewed and updated to ensure that management always has an up-to-date account of its cyber security risks. It should include:</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Risk scenario , Identification date, Existing security </a:t>
            </a:r>
            <a:r>
              <a:rPr kumimoji="0" lang="en-US" sz="22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controls,Current</a:t>
            </a: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risk level </a:t>
            </a:r>
            <a:r>
              <a:rPr lang="en-US" sz="2200" dirty="0">
                <a:latin typeface="Times New Roman" panose="02020603050405020304" pitchFamily="18" charset="0"/>
                <a:cs typeface="Times New Roman" panose="02020603050405020304" pitchFamily="18" charset="0"/>
              </a:rPr>
              <a:t>…</a:t>
            </a: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Treatment plan -- the planned activities and timeline to bring the risk within an acceptable risk tolerance level</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Progress status -- the status of implementing the treatment plan</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Residual risk -- the risk level after the treatment plan is implemented</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Risk owner -- the individual or group responsible for ensuring that the residual risks remain within the tolerance level</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76200"/>
            <a:ext cx="8229600" cy="304800"/>
          </a:xfrm>
          <a:ln/>
        </p:spPr>
        <p:txBody>
          <a:bodyPr vert="horz" wrap="square" lIns="91440" tIns="45720" rIns="91440" bIns="45720" anchor="ctr" anchorCtr="0"/>
          <a:lstStyle/>
          <a:p>
            <a:pPr eaLnBrk="1" hangingPunct="1"/>
            <a:r>
              <a:rPr lang="en-US" altLang="en-US" sz="2800" dirty="0">
                <a:latin typeface="Times New Roman" panose="02020603050405020304" pitchFamily="18" charset="0"/>
                <a:cs typeface="Times New Roman" panose="02020603050405020304" pitchFamily="18" charset="0"/>
              </a:rPr>
              <a:t>Risk Assessment and Management</a:t>
            </a:r>
            <a:endParaRPr lang="en-US" altLang="en-US" sz="28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52400" y="457200"/>
            <a:ext cx="8839200" cy="6324600"/>
          </a:xfrm>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ISO 27001 and Cyber risks: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International standard ISO/IEC 27001:2013 provides the specification for a best practice ISMS(IS management system) a risk based approach to IS risk management that address people, process, and technology</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Clause 6.1.2 the standard sets out the requirements of the IS risk assessment process. Organizations must:</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Establish and maintain specific IS risk criteria</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Ensure that repeated risk assessments produce constant, valid and comparable results.</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Identify risk associated with the loss of confidentiality, integrity, and availability for information within the scope of the ISMS and identify the owner of the risk.</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Analyze and evaluate IS risks, according to the criteria established earlier</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It is essential that organizations retain documented information about the IS risk assessment process, so that they can demonstrate that they comply with these requirements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200" y="76200"/>
            <a:ext cx="8229600" cy="304800"/>
          </a:xfrm>
          <a:ln/>
        </p:spPr>
        <p:txBody>
          <a:bodyPr vert="horz" wrap="square" lIns="91440" tIns="45720" rIns="91440" bIns="45720" anchor="ctr" anchorCtr="0"/>
          <a:lstStyle/>
          <a:p>
            <a:pPr eaLnBrk="1" hangingPunct="1"/>
            <a:r>
              <a:rPr lang="en-US" altLang="en-US" sz="2800" dirty="0">
                <a:latin typeface="Times New Roman" panose="02020603050405020304" pitchFamily="18" charset="0"/>
                <a:cs typeface="Times New Roman" panose="02020603050405020304" pitchFamily="18" charset="0"/>
              </a:rPr>
              <a:t>Risk Assessment and Management</a:t>
            </a:r>
            <a:endParaRPr lang="en-US" altLang="en-US" sz="28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52400" y="457200"/>
            <a:ext cx="8839200" cy="6324600"/>
          </a:xfrm>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IT Governance cyber risk assessment service:</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Our team of qualified cyber security advisers will provide business-driven consultation on the overall process of assessing information risk. They will offer support, guidance, and advice in the following areas:</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Identifying the assets that require protection.</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Identifying relevant threats &amp; weaknesses.</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Identifying exploitable vulnerabilities.</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Assessing level of threat posed by threat agents.</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Determining the business impact of risk being realized.</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Producing a security risk assessment.</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Advising on a risk acceptance threshold or level of acceptance</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Advising on a suitable control implementation</a:t>
            </a: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563563"/>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a:ln>
                  <a:noFill/>
                </a:ln>
                <a:solidFill>
                  <a:schemeClr val="tx1"/>
                </a:solidFill>
                <a:effectLst/>
                <a:uLnTx/>
                <a:uFillTx/>
                <a:latin typeface="+mj-lt"/>
                <a:ea typeface="+mj-ea"/>
                <a:cs typeface="+mj-cs"/>
              </a:rPr>
              <a:t>Asset Classification</a:t>
            </a:r>
          </a:p>
        </p:txBody>
      </p:sp>
      <p:sp>
        <p:nvSpPr>
          <p:cNvPr id="3" name="Content Placeholder 2"/>
          <p:cNvSpPr>
            <a:spLocks noGrp="1"/>
          </p:cNvSpPr>
          <p:nvPr>
            <p:ph idx="1"/>
          </p:nvPr>
        </p:nvSpPr>
        <p:spPr>
          <a:xfrm>
            <a:off x="228600" y="639763"/>
            <a:ext cx="8686800" cy="5867400"/>
          </a:xfrm>
        </p:spPr>
        <p:txBody>
          <a:bodyPr vert="horz" wrap="square" lIns="91440" tIns="45720" rIns="91440" bIns="45720" numCol="1" rtlCol="0" anchor="t" anchorCtr="0" compatLnSpc="1">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What’s Asset Classification? :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Do you know what and where critical assets in your organization are?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Do you know their value?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What about the impact of their disclosure, corruption or loss?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Organizations depend on critical assets to operate and therefore require having a distinct view of assets throughout its lifecycle.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Asset classification is the process for determining the critical assets and the required control to protect it according to its sensitivity.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process can be applied to any asset that has value, including business processes and environments.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Since not all assets have the same value or importance, different classification level may apply to different assets.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 classification schema should be established and applied throughout the organization based on the confidentiality of each asset.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400" b="1"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Why Asset Classification?:</a:t>
            </a:r>
            <a:endParaRPr kumimoji="0" lang="en-IN"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6387" name="Content Placeholder 2"/>
          <p:cNvSpPr>
            <a:spLocks noGrp="1"/>
          </p:cNvSpPr>
          <p:nvPr>
            <p:ph idx="1"/>
          </p:nvPr>
        </p:nvSpPr>
        <p:spPr>
          <a:ln/>
        </p:spPr>
        <p:txBody>
          <a:bodyPr vert="horz" wrap="square" lIns="91440" tIns="45720" rIns="91440" bIns="45720" anchor="t" anchorCtr="0"/>
          <a:lstStyle/>
          <a:p>
            <a:pPr algn="just" eaLnBrk="1" hangingPunct="1"/>
            <a:r>
              <a:rPr lang="en-US" altLang="en-US" sz="2400" dirty="0">
                <a:solidFill>
                  <a:srgbClr val="000000"/>
                </a:solidFill>
                <a:latin typeface="Times New Roman" panose="02020603050405020304" pitchFamily="18" charset="0"/>
                <a:cs typeface="Times New Roman" panose="02020603050405020304" pitchFamily="18" charset="0"/>
              </a:rPr>
              <a:t>Business and financial tasks are not exposed to unacceptable risk.</a:t>
            </a:r>
          </a:p>
          <a:p>
            <a:pPr algn="just" eaLnBrk="1" hangingPunct="1"/>
            <a:r>
              <a:rPr lang="en-US" altLang="en-US" sz="2400" dirty="0">
                <a:solidFill>
                  <a:srgbClr val="000000"/>
                </a:solidFill>
                <a:latin typeface="Times New Roman" panose="02020603050405020304" pitchFamily="18" charset="0"/>
                <a:cs typeface="Times New Roman" panose="02020603050405020304" pitchFamily="18" charset="0"/>
              </a:rPr>
              <a:t> why Should IT be?</a:t>
            </a:r>
          </a:p>
          <a:p>
            <a:pPr algn="just" eaLnBrk="1" hangingPunct="1"/>
            <a:r>
              <a:rPr lang="en-US" altLang="en-US" sz="2400" dirty="0">
                <a:solidFill>
                  <a:srgbClr val="000000"/>
                </a:solidFill>
                <a:latin typeface="Times New Roman" panose="02020603050405020304" pitchFamily="18" charset="0"/>
                <a:cs typeface="Times New Roman" panose="02020603050405020304" pitchFamily="18" charset="0"/>
              </a:rPr>
              <a:t> Organizations are strong on assessing risks when it comes to financial and or strategic task in order to maximize gain, enhance market share and reduce risk.</a:t>
            </a:r>
          </a:p>
          <a:p>
            <a:pPr algn="just" eaLnBrk="1" hangingPunct="1"/>
            <a:r>
              <a:rPr lang="en-US" altLang="en-US" sz="2400" dirty="0">
                <a:solidFill>
                  <a:srgbClr val="000000"/>
                </a:solidFill>
                <a:latin typeface="Times New Roman" panose="02020603050405020304" pitchFamily="18" charset="0"/>
                <a:cs typeface="Times New Roman" panose="02020603050405020304" pitchFamily="18" charset="0"/>
              </a:rPr>
              <a:t> Despite these tasks are highly dependent on technology, yet IT risks are commonly ignored, jeopardizing accuracy, integrity, confidentiality and availability. </a:t>
            </a:r>
          </a:p>
          <a:p>
            <a:endParaRPr lang="en-I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563563"/>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a:ln>
                  <a:noFill/>
                </a:ln>
                <a:solidFill>
                  <a:schemeClr val="tx1"/>
                </a:solidFill>
                <a:effectLst/>
                <a:uLnTx/>
                <a:uFillTx/>
                <a:latin typeface="+mj-lt"/>
                <a:ea typeface="+mj-ea"/>
                <a:cs typeface="+mj-cs"/>
              </a:rPr>
              <a:t>Asset Classification</a:t>
            </a:r>
          </a:p>
        </p:txBody>
      </p:sp>
      <p:sp>
        <p:nvSpPr>
          <p:cNvPr id="17411" name="Content Placeholder 2"/>
          <p:cNvSpPr>
            <a:spLocks noGrp="1"/>
          </p:cNvSpPr>
          <p:nvPr>
            <p:ph idx="1"/>
          </p:nvPr>
        </p:nvSpPr>
        <p:spPr>
          <a:xfrm>
            <a:off x="228600" y="838200"/>
            <a:ext cx="8686800" cy="5638800"/>
          </a:xfrm>
          <a:ln/>
        </p:spPr>
        <p:txBody>
          <a:bodyPr vert="horz" wrap="square" lIns="91440" tIns="45720" rIns="91440" bIns="45720" anchor="t" anchorCtr="0"/>
          <a:lstStyle/>
          <a:p>
            <a:pPr algn="just" eaLnBrk="1" hangingPunct="1"/>
            <a:r>
              <a:rPr lang="en-US" altLang="en-US" sz="2400" dirty="0">
                <a:latin typeface="Times New Roman" panose="02020603050405020304" pitchFamily="18" charset="0"/>
                <a:cs typeface="Times New Roman" panose="02020603050405020304" pitchFamily="18" charset="0"/>
              </a:rPr>
              <a:t>Asset classification is a first step in the process of risk assessment. </a:t>
            </a:r>
          </a:p>
          <a:p>
            <a:pPr algn="just" eaLnBrk="1" hangingPunct="1"/>
            <a:r>
              <a:rPr lang="en-US" altLang="en-US" sz="2400" dirty="0">
                <a:latin typeface="Times New Roman" panose="02020603050405020304" pitchFamily="18" charset="0"/>
                <a:cs typeface="Times New Roman" panose="02020603050405020304" pitchFamily="18" charset="0"/>
              </a:rPr>
              <a:t>However, we understand the challenges of successfully preforming this task; business owners commonly believe that their assets are the most important.</a:t>
            </a:r>
          </a:p>
          <a:p>
            <a:pPr algn="just" eaLnBrk="1" hangingPunct="1"/>
            <a:r>
              <a:rPr lang="en-US" altLang="en-US" sz="2400" dirty="0">
                <a:latin typeface="Times New Roman" panose="02020603050405020304" pitchFamily="18" charset="0"/>
                <a:cs typeface="Times New Roman" panose="02020603050405020304" pitchFamily="18" charset="0"/>
              </a:rPr>
              <a:t>Creating the right balance between the different assets across the organization is a key for effective protection. </a:t>
            </a:r>
          </a:p>
          <a:p>
            <a:pPr algn="just" eaLnBrk="1" hangingPunct="1"/>
            <a:r>
              <a:rPr lang="en-US" altLang="en-US" sz="2400" dirty="0">
                <a:latin typeface="Times New Roman" panose="02020603050405020304" pitchFamily="18" charset="0"/>
                <a:cs typeface="Times New Roman" panose="02020603050405020304" pitchFamily="18" charset="0"/>
              </a:rPr>
              <a:t>This will require a good understanding of business goals and objectives </a:t>
            </a:r>
          </a:p>
          <a:p>
            <a:pPr algn="just" eaLnBrk="1" hangingPunct="1"/>
            <a:r>
              <a:rPr lang="en-US" altLang="en-US" sz="2400" dirty="0">
                <a:latin typeface="Times New Roman" panose="02020603050405020304" pitchFamily="18" charset="0"/>
                <a:cs typeface="Times New Roman" panose="02020603050405020304" pitchFamily="18" charset="0"/>
              </a:rPr>
              <a:t>Designing the link between assets and crucial business activities. </a:t>
            </a:r>
          </a:p>
          <a:p>
            <a:pPr algn="just" eaLnBrk="1" hangingPunct="1"/>
            <a:r>
              <a:rPr lang="en-US" altLang="en-US" sz="2400" dirty="0">
                <a:latin typeface="Times New Roman" panose="02020603050405020304" pitchFamily="18" charset="0"/>
                <a:cs typeface="Times New Roman" panose="02020603050405020304" pitchFamily="18" charset="0"/>
              </a:rPr>
              <a:t>Asset classification is a process for systematically segregating the assets into various groups, based on the nature of the assets.</a:t>
            </a:r>
          </a:p>
          <a:p>
            <a:pPr algn="just" eaLnBrk="1" hangingPunct="1"/>
            <a:r>
              <a:rPr lang="en-US" altLang="en-US" sz="2400" dirty="0">
                <a:latin typeface="Times New Roman" panose="02020603050405020304" pitchFamily="18" charset="0"/>
                <a:cs typeface="Times New Roman" panose="02020603050405020304" pitchFamily="18" charset="0"/>
              </a:rPr>
              <a:t>Applying the accounting rules to make proper accounting under each group. The groups are later consolidated at the financial statement level to report.</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endParaRPr lang="en-US"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533400"/>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a:ln>
                  <a:noFill/>
                </a:ln>
                <a:solidFill>
                  <a:schemeClr val="tx1"/>
                </a:solidFill>
                <a:effectLst/>
                <a:uLnTx/>
                <a:uFillTx/>
                <a:latin typeface="+mj-lt"/>
                <a:ea typeface="+mj-ea"/>
                <a:cs typeface="+mj-cs"/>
              </a:rPr>
              <a:t>Asset Classification</a:t>
            </a:r>
          </a:p>
        </p:txBody>
      </p:sp>
      <p:sp>
        <p:nvSpPr>
          <p:cNvPr id="3" name="Content Placeholder 2"/>
          <p:cNvSpPr>
            <a:spLocks noGrp="1"/>
          </p:cNvSpPr>
          <p:nvPr>
            <p:ph idx="1"/>
          </p:nvPr>
        </p:nvSpPr>
        <p:spPr>
          <a:xfrm>
            <a:off x="152400" y="685800"/>
            <a:ext cx="8839200" cy="6019800"/>
          </a:xfrm>
        </p:spPr>
        <p:txBody>
          <a:bodyPr vert="horz" wrap="square" lIns="91440" tIns="45720" rIns="91440" bIns="45720" numCol="1" rtlCol="0" anchor="t" anchorCtr="0" compatLnSpc="1"/>
          <a:lstStyle/>
          <a:p>
            <a:pPr marL="0" indent="0" eaLnBrk="1" hangingPunct="1">
              <a:lnSpc>
                <a:spcPct val="80000"/>
              </a:lnSpc>
              <a:spcBef>
                <a:spcPct val="0"/>
              </a:spcBef>
              <a:buNone/>
            </a:pPr>
            <a:endParaRPr lang="en-US" sz="2400" dirty="0">
              <a:latin typeface="Times New Roman" panose="02020603050405020304" pitchFamily="18" charset="0"/>
              <a:cs typeface="Times New Roman" panose="02020603050405020304" pitchFamily="18" charset="0"/>
              <a:sym typeface="Times New Roman" panose="02020603050405020304" pitchFamily="18" charset="0"/>
            </a:endParaRPr>
          </a:p>
          <a:p>
            <a:pPr marL="0" indent="0" algn="just" eaLnBrk="1" hangingPunct="1">
              <a:lnSpc>
                <a:spcPct val="80000"/>
              </a:lnSpc>
              <a:spcBef>
                <a:spcPct val="0"/>
              </a:spcBef>
              <a:buNone/>
            </a:pPr>
            <a:r>
              <a:rPr sz="2400">
                <a:latin typeface="Times New Roman" panose="02020603050405020304" pitchFamily="18" charset="0"/>
                <a:cs typeface="Times New Roman" panose="02020603050405020304" pitchFamily="18" charset="0"/>
                <a:sym typeface="Times New Roman" panose="02020603050405020304" pitchFamily="18" charset="0"/>
              </a:rPr>
              <a:t>All </a:t>
            </a:r>
            <a:r>
              <a:rPr sz="2400" dirty="0">
                <a:latin typeface="Times New Roman" panose="02020603050405020304" pitchFamily="18" charset="0"/>
                <a:cs typeface="Times New Roman" panose="02020603050405020304" pitchFamily="18" charset="0"/>
                <a:sym typeface="Times New Roman" panose="02020603050405020304" pitchFamily="18" charset="0"/>
              </a:rPr>
              <a:t>the Company's information, data and communication must be classified strictly according to its level of confidentiality, sensitivity, value and criticality</a:t>
            </a:r>
            <a:r>
              <a:rPr sz="2400">
                <a:latin typeface="Times New Roman" panose="02020603050405020304" pitchFamily="18" charset="0"/>
                <a:cs typeface="Times New Roman" panose="02020603050405020304" pitchFamily="18" charset="0"/>
                <a:sym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sym typeface="Times New Roman" panose="02020603050405020304" pitchFamily="18" charset="0"/>
            </a:endParaRPr>
          </a:p>
          <a:p>
            <a:pPr marL="0" indent="0" algn="just" eaLnBrk="1" hangingPunct="1">
              <a:lnSpc>
                <a:spcPct val="80000"/>
              </a:lnSpc>
              <a:spcBef>
                <a:spcPct val="0"/>
              </a:spcBef>
              <a:buNone/>
            </a:pPr>
            <a:endParaRPr lang="en-US" sz="2400" dirty="0">
              <a:latin typeface="Times New Roman" panose="02020603050405020304" pitchFamily="18" charset="0"/>
              <a:cs typeface="Times New Roman" panose="02020603050405020304" pitchFamily="18" charset="0"/>
              <a:sym typeface="Times New Roman" panose="02020603050405020304" pitchFamily="18" charset="0"/>
            </a:endParaRPr>
          </a:p>
          <a:p>
            <a:pPr marL="0" indent="0" algn="just" eaLnBrk="1" hangingPunct="1">
              <a:lnSpc>
                <a:spcPct val="80000"/>
              </a:lnSpc>
              <a:spcBef>
                <a:spcPct val="0"/>
              </a:spcBef>
              <a:buNone/>
            </a:pPr>
            <a:r>
              <a:rPr sz="2400">
                <a:latin typeface="Times New Roman" panose="02020603050405020304" pitchFamily="18" charset="0"/>
                <a:cs typeface="Times New Roman" panose="02020603050405020304" pitchFamily="18" charset="0"/>
                <a:sym typeface="Times New Roman" panose="02020603050405020304" pitchFamily="18" charset="0"/>
              </a:rPr>
              <a:t>Information </a:t>
            </a:r>
            <a:r>
              <a:rPr sz="2400" dirty="0">
                <a:latin typeface="Times New Roman" panose="02020603050405020304" pitchFamily="18" charset="0"/>
                <a:cs typeface="Times New Roman" panose="02020603050405020304" pitchFamily="18" charset="0"/>
                <a:sym typeface="Times New Roman" panose="02020603050405020304" pitchFamily="18" charset="0"/>
              </a:rPr>
              <a:t>may be classified </a:t>
            </a:r>
            <a:r>
              <a:rPr sz="2400">
                <a:latin typeface="Times New Roman" panose="02020603050405020304" pitchFamily="18" charset="0"/>
                <a:cs typeface="Times New Roman" panose="02020603050405020304" pitchFamily="18" charset="0"/>
                <a:sym typeface="Times New Roman" panose="02020603050405020304" pitchFamily="18" charset="0"/>
              </a:rPr>
              <a:t>as </a:t>
            </a:r>
            <a:endParaRPr lang="en-US" sz="2400" dirty="0">
              <a:latin typeface="Times New Roman" panose="02020603050405020304" pitchFamily="18" charset="0"/>
              <a:cs typeface="Times New Roman" panose="02020603050405020304" pitchFamily="18" charset="0"/>
              <a:sym typeface="Times New Roman" panose="02020603050405020304" pitchFamily="18" charset="0"/>
            </a:endParaRPr>
          </a:p>
          <a:p>
            <a:pPr marL="0" indent="0" algn="just" eaLnBrk="1" hangingPunct="1">
              <a:lnSpc>
                <a:spcPct val="80000"/>
              </a:lnSpc>
              <a:spcBef>
                <a:spcPct val="0"/>
              </a:spcBef>
              <a:buNone/>
            </a:pPr>
            <a:endParaRPr lang="en-US" sz="2400" dirty="0">
              <a:latin typeface="Times New Roman" panose="02020603050405020304" pitchFamily="18" charset="0"/>
              <a:cs typeface="Times New Roman" panose="02020603050405020304" pitchFamily="18" charset="0"/>
              <a:sym typeface="Times New Roman" panose="02020603050405020304" pitchFamily="18" charset="0"/>
            </a:endParaRPr>
          </a:p>
          <a:p>
            <a:pPr marL="0" indent="0" algn="just" eaLnBrk="1" hangingPunct="1">
              <a:lnSpc>
                <a:spcPct val="150000"/>
              </a:lnSpc>
              <a:spcBef>
                <a:spcPts val="0"/>
              </a:spcBef>
            </a:pPr>
            <a:r>
              <a:rPr sz="2400">
                <a:latin typeface="Times New Roman" panose="02020603050405020304" pitchFamily="18" charset="0"/>
                <a:cs typeface="Times New Roman" panose="02020603050405020304" pitchFamily="18" charset="0"/>
                <a:sym typeface="Times New Roman" panose="02020603050405020304" pitchFamily="18" charset="0"/>
              </a:rPr>
              <a:t>HIGHLY </a:t>
            </a:r>
            <a:r>
              <a:rPr sz="2400" dirty="0">
                <a:latin typeface="Times New Roman" panose="02020603050405020304" pitchFamily="18" charset="0"/>
                <a:cs typeface="Times New Roman" panose="02020603050405020304" pitchFamily="18" charset="0"/>
                <a:sym typeface="Times New Roman" panose="02020603050405020304" pitchFamily="18" charset="0"/>
              </a:rPr>
              <a:t>RESTRICTED</a:t>
            </a:r>
            <a:r>
              <a:rPr sz="2400">
                <a:latin typeface="Times New Roman" panose="02020603050405020304" pitchFamily="18" charset="0"/>
                <a:cs typeface="Times New Roman" panose="02020603050405020304" pitchFamily="18" charset="0"/>
                <a:sym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sym typeface="Times New Roman" panose="02020603050405020304" pitchFamily="18" charset="0"/>
            </a:endParaRPr>
          </a:p>
          <a:p>
            <a:pPr marL="0" indent="0" algn="just" eaLnBrk="1" hangingPunct="1">
              <a:lnSpc>
                <a:spcPct val="150000"/>
              </a:lnSpc>
              <a:spcBef>
                <a:spcPts val="0"/>
              </a:spcBef>
            </a:pPr>
            <a:r>
              <a:rPr sz="2400">
                <a:latin typeface="Times New Roman" panose="02020603050405020304" pitchFamily="18" charset="0"/>
                <a:cs typeface="Times New Roman" panose="02020603050405020304" pitchFamily="18" charset="0"/>
                <a:sym typeface="Times New Roman" panose="02020603050405020304" pitchFamily="18" charset="0"/>
              </a:rPr>
              <a:t>CONFIDENTIAL, </a:t>
            </a:r>
            <a:endParaRPr lang="en-US" sz="2400" dirty="0">
              <a:latin typeface="Times New Roman" panose="02020603050405020304" pitchFamily="18" charset="0"/>
              <a:cs typeface="Times New Roman" panose="02020603050405020304" pitchFamily="18" charset="0"/>
              <a:sym typeface="Times New Roman" panose="02020603050405020304" pitchFamily="18" charset="0"/>
            </a:endParaRPr>
          </a:p>
          <a:p>
            <a:pPr marL="0" indent="0" algn="just" eaLnBrk="1" hangingPunct="1">
              <a:lnSpc>
                <a:spcPct val="150000"/>
              </a:lnSpc>
              <a:spcBef>
                <a:spcPts val="0"/>
              </a:spcBef>
            </a:pPr>
            <a:r>
              <a:rPr sz="2400">
                <a:latin typeface="Times New Roman" panose="02020603050405020304" pitchFamily="18" charset="0"/>
                <a:cs typeface="Times New Roman" panose="02020603050405020304" pitchFamily="18" charset="0"/>
                <a:sym typeface="Times New Roman" panose="02020603050405020304" pitchFamily="18" charset="0"/>
              </a:rPr>
              <a:t>INTERNAL USE ONLY</a:t>
            </a:r>
            <a:endParaRPr lang="en-US" sz="2400" dirty="0">
              <a:latin typeface="Times New Roman" panose="02020603050405020304" pitchFamily="18" charset="0"/>
              <a:cs typeface="Times New Roman" panose="02020603050405020304" pitchFamily="18" charset="0"/>
              <a:sym typeface="Times New Roman" panose="02020603050405020304" pitchFamily="18" charset="0"/>
            </a:endParaRPr>
          </a:p>
          <a:p>
            <a:pPr marL="0" indent="0" algn="just" eaLnBrk="1" hangingPunct="1">
              <a:lnSpc>
                <a:spcPct val="150000"/>
              </a:lnSpc>
              <a:spcBef>
                <a:spcPts val="0"/>
              </a:spcBef>
            </a:pPr>
            <a:r>
              <a:rPr sz="2400">
                <a:latin typeface="Times New Roman" panose="02020603050405020304" pitchFamily="18" charset="0"/>
                <a:cs typeface="Times New Roman" panose="02020603050405020304" pitchFamily="18" charset="0"/>
                <a:sym typeface="Times New Roman" panose="02020603050405020304" pitchFamily="18" charset="0"/>
              </a:rPr>
              <a:t>PUBLIC</a:t>
            </a:r>
            <a:r>
              <a:rPr sz="2400" dirty="0">
                <a:latin typeface="Times New Roman" panose="02020603050405020304" pitchFamily="18" charset="0"/>
                <a:cs typeface="Times New Roman" panose="02020603050405020304" pitchFamily="18" charset="0"/>
                <a:sym typeface="Times New Roman" panose="02020603050405020304" pitchFamily="18" charset="0"/>
              </a:rPr>
              <a:t>.</a:t>
            </a:r>
          </a:p>
          <a:p>
            <a:pPr marL="0" indent="0" eaLnBrk="1" hangingPunct="1">
              <a:lnSpc>
                <a:spcPct val="80000"/>
              </a:lnSpc>
            </a:pPr>
            <a:endParaRPr sz="16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172200"/>
          </a:xfrm>
        </p:spPr>
        <p:txBody>
          <a:bodyPr/>
          <a:lstStyle/>
          <a:p>
            <a:pPr marL="0" indent="0" eaLnBrk="1" hangingPunct="1">
              <a:lnSpc>
                <a:spcPct val="80000"/>
              </a:lnSpc>
              <a:spcBef>
                <a:spcPts val="1200"/>
              </a:spcBef>
              <a:buNone/>
            </a:pPr>
            <a:r>
              <a:rPr lang="en-US" sz="2400" b="1" u="sng" dirty="0">
                <a:latin typeface="Times New Roman" panose="02020603050405020304" pitchFamily="18" charset="0"/>
                <a:cs typeface="Times New Roman" panose="02020603050405020304" pitchFamily="18" charset="0"/>
                <a:sym typeface="Times New Roman" panose="02020603050405020304" pitchFamily="18" charset="0"/>
              </a:rPr>
              <a:t>HIGHLY RESTRICTED</a:t>
            </a:r>
            <a:r>
              <a:rPr lang="en-US" sz="2400" b="1" dirty="0">
                <a:latin typeface="Times New Roman" panose="02020603050405020304" pitchFamily="18" charset="0"/>
                <a:cs typeface="Times New Roman" panose="02020603050405020304" pitchFamily="18" charset="0"/>
                <a:sym typeface="Times New Roman" panose="02020603050405020304" pitchFamily="18" charset="0"/>
              </a:rPr>
              <a:t>:</a:t>
            </a:r>
            <a:r>
              <a:rPr lang="en-US" sz="2400" dirty="0">
                <a:latin typeface="Times New Roman" panose="02020603050405020304" pitchFamily="18" charset="0"/>
                <a:cs typeface="Times New Roman" panose="02020603050405020304" pitchFamily="18" charset="0"/>
                <a:sym typeface="Times New Roman" panose="02020603050405020304" pitchFamily="18" charset="0"/>
              </a:rPr>
              <a:t>  </a:t>
            </a:r>
          </a:p>
          <a:p>
            <a:pPr marL="0" indent="0" algn="just" eaLnBrk="1" hangingPunct="1">
              <a:lnSpc>
                <a:spcPct val="80000"/>
              </a:lnSpc>
              <a:spcBef>
                <a:spcPts val="1200"/>
              </a:spcBef>
              <a:buNone/>
            </a:pPr>
            <a:r>
              <a:rPr lang="en-US" sz="2400" dirty="0">
                <a:latin typeface="Times New Roman" panose="02020603050405020304" pitchFamily="18" charset="0"/>
                <a:cs typeface="Times New Roman" panose="02020603050405020304" pitchFamily="18" charset="0"/>
                <a:sym typeface="Times New Roman" panose="02020603050405020304" pitchFamily="18" charset="0"/>
              </a:rPr>
              <a:t>This classification label applies to the most private or otherwise sensitive information of the Company. </a:t>
            </a:r>
          </a:p>
          <a:p>
            <a:pPr marL="0" indent="0" algn="just" eaLnBrk="1" hangingPunct="1">
              <a:lnSpc>
                <a:spcPct val="80000"/>
              </a:lnSpc>
              <a:spcBef>
                <a:spcPts val="1200"/>
              </a:spcBef>
              <a:buNone/>
            </a:pPr>
            <a:r>
              <a:rPr lang="en-US" sz="2400" dirty="0">
                <a:latin typeface="Times New Roman" panose="02020603050405020304" pitchFamily="18" charset="0"/>
                <a:cs typeface="Times New Roman" panose="02020603050405020304" pitchFamily="18" charset="0"/>
                <a:sym typeface="Times New Roman" panose="02020603050405020304" pitchFamily="18" charset="0"/>
              </a:rPr>
              <a:t>Information under this classification shall be strictly monitored and controlled at all times. </a:t>
            </a:r>
          </a:p>
          <a:p>
            <a:pPr marL="0" indent="0" algn="just" eaLnBrk="1" hangingPunct="1">
              <a:lnSpc>
                <a:spcPct val="80000"/>
              </a:lnSpc>
              <a:spcBef>
                <a:spcPts val="1200"/>
              </a:spcBef>
              <a:buNone/>
            </a:pPr>
            <a:r>
              <a:rPr lang="en-US" sz="2400" dirty="0">
                <a:latin typeface="Times New Roman" panose="02020603050405020304" pitchFamily="18" charset="0"/>
                <a:cs typeface="Times New Roman" panose="02020603050405020304" pitchFamily="18" charset="0"/>
                <a:sym typeface="Times New Roman" panose="02020603050405020304" pitchFamily="18" charset="0"/>
              </a:rPr>
              <a:t>e.g. merger and acquisition documents, corporate level strategic plans, litigation strategy memos, reports on breakthrough new product research, and Trade Secrets such as certain computer programs</a:t>
            </a:r>
          </a:p>
          <a:p>
            <a:pPr marL="0" indent="0" algn="just" eaLnBrk="1" hangingPunct="1">
              <a:lnSpc>
                <a:spcPct val="80000"/>
              </a:lnSpc>
              <a:spcBef>
                <a:spcPts val="1200"/>
              </a:spcBef>
              <a:buNone/>
            </a:pPr>
            <a:r>
              <a:rPr lang="en-US" sz="2400" b="1" u="sng" dirty="0">
                <a:latin typeface="Times New Roman" panose="02020603050405020304" pitchFamily="18" charset="0"/>
                <a:cs typeface="Times New Roman" panose="02020603050405020304" pitchFamily="18" charset="0"/>
                <a:sym typeface="Times New Roman" panose="02020603050405020304" pitchFamily="18" charset="0"/>
              </a:rPr>
              <a:t>CONFIDENTIAL:</a:t>
            </a:r>
            <a:r>
              <a:rPr lang="en-US" sz="2400" dirty="0">
                <a:latin typeface="Times New Roman" panose="02020603050405020304" pitchFamily="18" charset="0"/>
                <a:cs typeface="Times New Roman" panose="02020603050405020304" pitchFamily="18" charset="0"/>
                <a:sym typeface="Times New Roman" panose="02020603050405020304" pitchFamily="18" charset="0"/>
              </a:rPr>
              <a:t>  </a:t>
            </a:r>
          </a:p>
          <a:p>
            <a:pPr marL="0" indent="0" algn="just" eaLnBrk="1" hangingPunct="1">
              <a:lnSpc>
                <a:spcPct val="80000"/>
              </a:lnSpc>
              <a:spcBef>
                <a:spcPts val="1200"/>
              </a:spcBef>
              <a:buNone/>
            </a:pPr>
            <a:r>
              <a:rPr lang="en-US" sz="2400" dirty="0">
                <a:latin typeface="Times New Roman" panose="02020603050405020304" pitchFamily="18" charset="0"/>
                <a:cs typeface="Times New Roman" panose="02020603050405020304" pitchFamily="18" charset="0"/>
                <a:sym typeface="Times New Roman" panose="02020603050405020304" pitchFamily="18" charset="0"/>
              </a:rPr>
              <a:t>This classification label applies to Company information, which is private or otherwise sensitive in nature and shall be restricted to those with a legitimate business need for access.</a:t>
            </a:r>
          </a:p>
          <a:p>
            <a:pPr marL="0" indent="0" algn="just" eaLnBrk="1" hangingPunct="1">
              <a:lnSpc>
                <a:spcPct val="80000"/>
              </a:lnSpc>
              <a:spcBef>
                <a:spcPts val="1200"/>
              </a:spcBef>
              <a:buNone/>
            </a:pPr>
            <a:r>
              <a:rPr lang="en-US" sz="2400" dirty="0">
                <a:latin typeface="Times New Roman" panose="02020603050405020304" pitchFamily="18" charset="0"/>
                <a:cs typeface="Times New Roman" panose="02020603050405020304" pitchFamily="18" charset="0"/>
                <a:sym typeface="Times New Roman" panose="02020603050405020304" pitchFamily="18" charset="0"/>
              </a:rPr>
              <a:t> e.g. employee performance evaluations, customer transaction data, strategic alliance agreements, unpublished internally generated market research, computer passwords, identity token personal identification numbers (PINs), and internal audit reports.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324600"/>
          </a:xfrm>
        </p:spPr>
        <p:txBody>
          <a:bodyPr/>
          <a:lstStyle/>
          <a:p>
            <a:pPr marL="0" indent="0" algn="just" eaLnBrk="1" hangingPunct="1">
              <a:lnSpc>
                <a:spcPct val="80000"/>
              </a:lnSpc>
              <a:spcBef>
                <a:spcPts val="1200"/>
              </a:spcBef>
              <a:buNone/>
            </a:pPr>
            <a:r>
              <a:rPr lang="en-US" sz="2400" b="1" u="sng" dirty="0">
                <a:latin typeface="Times New Roman" panose="02020603050405020304" pitchFamily="18" charset="0"/>
                <a:cs typeface="Times New Roman" panose="02020603050405020304" pitchFamily="18" charset="0"/>
                <a:sym typeface="Times New Roman" panose="02020603050405020304" pitchFamily="18" charset="0"/>
              </a:rPr>
              <a:t>INTERNAL USE ONLY</a:t>
            </a:r>
            <a:r>
              <a:rPr lang="en-US" sz="2400" b="1" dirty="0">
                <a:latin typeface="Times New Roman" panose="02020603050405020304" pitchFamily="18" charset="0"/>
                <a:cs typeface="Times New Roman" panose="02020603050405020304" pitchFamily="18" charset="0"/>
                <a:sym typeface="Times New Roman" panose="02020603050405020304" pitchFamily="18" charset="0"/>
              </a:rPr>
              <a:t>: </a:t>
            </a:r>
          </a:p>
          <a:p>
            <a:pPr marL="0" indent="0" algn="just" eaLnBrk="1" hangingPunct="1">
              <a:lnSpc>
                <a:spcPct val="80000"/>
              </a:lnSpc>
              <a:spcBef>
                <a:spcPts val="1200"/>
              </a:spcBef>
            </a:pPr>
            <a:r>
              <a:rPr lang="en-US" sz="2400" dirty="0">
                <a:latin typeface="Times New Roman" panose="02020603050405020304" pitchFamily="18" charset="0"/>
                <a:cs typeface="Times New Roman" panose="02020603050405020304" pitchFamily="18" charset="0"/>
                <a:sym typeface="Times New Roman" panose="02020603050405020304" pitchFamily="18" charset="0"/>
              </a:rPr>
              <a:t>This classification label applies to information intended for use within the Company, and in some cases within affiliated organizations, such as business partners of the Company. </a:t>
            </a:r>
          </a:p>
          <a:p>
            <a:pPr marL="0" indent="0" algn="just" eaLnBrk="1" hangingPunct="1">
              <a:lnSpc>
                <a:spcPct val="80000"/>
              </a:lnSpc>
              <a:spcBef>
                <a:spcPts val="1200"/>
              </a:spcBef>
            </a:pPr>
            <a:r>
              <a:rPr lang="en-US" sz="2400" dirty="0">
                <a:latin typeface="Times New Roman" panose="02020603050405020304" pitchFamily="18" charset="0"/>
                <a:cs typeface="Times New Roman" panose="02020603050405020304" pitchFamily="18" charset="0"/>
                <a:sym typeface="Times New Roman" panose="02020603050405020304" pitchFamily="18" charset="0"/>
              </a:rPr>
              <a:t>Assets of this type are widely-distributed within the Company and may be distributed within Company without permission from the information asset owner. </a:t>
            </a:r>
          </a:p>
          <a:p>
            <a:pPr marL="0" indent="0" algn="just" eaLnBrk="1" hangingPunct="1">
              <a:lnSpc>
                <a:spcPct val="80000"/>
              </a:lnSpc>
              <a:spcBef>
                <a:spcPts val="1200"/>
              </a:spcBef>
            </a:pPr>
            <a:r>
              <a:rPr lang="en-US" sz="2400" dirty="0">
                <a:latin typeface="Times New Roman" panose="02020603050405020304" pitchFamily="18" charset="0"/>
                <a:cs typeface="Times New Roman" panose="02020603050405020304" pitchFamily="18" charset="0"/>
                <a:sym typeface="Times New Roman" panose="02020603050405020304" pitchFamily="18" charset="0"/>
              </a:rPr>
              <a:t>e.g. telephone directory, dial-up computer access numbers, new employee training materials, and internal policy manuals.</a:t>
            </a:r>
          </a:p>
          <a:p>
            <a:pPr marL="0" indent="0" algn="just" eaLnBrk="1" hangingPunct="1">
              <a:lnSpc>
                <a:spcPct val="80000"/>
              </a:lnSpc>
              <a:spcBef>
                <a:spcPts val="1200"/>
              </a:spcBef>
              <a:spcAft>
                <a:spcPts val="1200"/>
              </a:spcAft>
              <a:buNone/>
            </a:pPr>
            <a:r>
              <a:rPr lang="en-US" sz="2400" b="1" u="sng" dirty="0">
                <a:latin typeface="Times New Roman" panose="02020603050405020304" pitchFamily="18" charset="0"/>
                <a:cs typeface="Times New Roman" panose="02020603050405020304" pitchFamily="18" charset="0"/>
                <a:sym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sym typeface="Times New Roman" panose="02020603050405020304" pitchFamily="18" charset="0"/>
              </a:rPr>
              <a:t> </a:t>
            </a:r>
          </a:p>
          <a:p>
            <a:pPr marL="0" indent="0" algn="just" eaLnBrk="1" hangingPunct="1">
              <a:lnSpc>
                <a:spcPct val="80000"/>
              </a:lnSpc>
              <a:spcBef>
                <a:spcPts val="1200"/>
              </a:spcBef>
              <a:spcAft>
                <a:spcPts val="1200"/>
              </a:spcAft>
            </a:pPr>
            <a:r>
              <a:rPr lang="en-US" sz="2400" dirty="0">
                <a:latin typeface="Times New Roman" panose="02020603050405020304" pitchFamily="18" charset="0"/>
                <a:cs typeface="Times New Roman" panose="02020603050405020304" pitchFamily="18" charset="0"/>
                <a:sym typeface="Times New Roman" panose="02020603050405020304" pitchFamily="18" charset="0"/>
              </a:rPr>
              <a:t> This classification applies to information that has been explicitly approved by the Company’s management for release to the public. </a:t>
            </a:r>
          </a:p>
          <a:p>
            <a:pPr marL="0" indent="0" algn="just" eaLnBrk="1" hangingPunct="1">
              <a:lnSpc>
                <a:spcPct val="80000"/>
              </a:lnSpc>
              <a:spcBef>
                <a:spcPts val="1200"/>
              </a:spcBef>
              <a:spcAft>
                <a:spcPts val="1200"/>
              </a:spcAft>
            </a:pPr>
            <a:r>
              <a:rPr lang="en-US" sz="2400" dirty="0">
                <a:latin typeface="Times New Roman" panose="02020603050405020304" pitchFamily="18" charset="0"/>
                <a:cs typeface="Times New Roman" panose="02020603050405020304" pitchFamily="18" charset="0"/>
                <a:sym typeface="Times New Roman" panose="02020603050405020304" pitchFamily="18" charset="0"/>
              </a:rPr>
              <a:t>Assets of this type may be circulated without potential harm.</a:t>
            </a:r>
          </a:p>
          <a:p>
            <a:pPr marL="0" indent="0" algn="just" eaLnBrk="1" hangingPunct="1">
              <a:lnSpc>
                <a:spcPct val="80000"/>
              </a:lnSpc>
              <a:spcBef>
                <a:spcPts val="1200"/>
              </a:spcBef>
              <a:spcAft>
                <a:spcPts val="1200"/>
              </a:spcAft>
            </a:pPr>
            <a:r>
              <a:rPr lang="en-US" sz="2400" dirty="0">
                <a:latin typeface="Times New Roman" panose="02020603050405020304" pitchFamily="18" charset="0"/>
                <a:cs typeface="Times New Roman" panose="02020603050405020304" pitchFamily="18" charset="0"/>
                <a:sym typeface="Times New Roman" panose="02020603050405020304" pitchFamily="18" charset="0"/>
              </a:rPr>
              <a:t> e.g. product and service brochures, advertisements, job opening announcements, and press releases.)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Crisis Management Plan</a:t>
            </a:r>
            <a:endParaRPr lang="en-US" altLang="en-US" sz="32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bwMode="auto">
          <a:xfrm>
            <a:off x="152400" y="533400"/>
            <a:ext cx="8839200" cy="6019800"/>
          </a:xfrm>
          <a:ln>
            <a:miter lim="800000"/>
          </a:ln>
          <a:effectLst/>
          <a:scene3d>
            <a:camera prst="orthographicFront"/>
            <a:lightRig rig="balanced" dir="t"/>
          </a:scene3d>
          <a:sp3d prstMaterial="plastic"/>
        </p:spPr>
        <p:txBody>
          <a:bodyPr vert="horz" wrap="square" lIns="91440" tIns="45720" rIns="91440" bIns="45720" numCol="1" rtlCol="0" anchor="t" anchorCtr="0" compatLnSpc="1">
            <a:normAutofit/>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4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The word crisis comes from two Chinese words: </a:t>
            </a:r>
            <a:r>
              <a:rPr kumimoji="0" lang="en-US" sz="24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Danger</a:t>
            </a:r>
            <a:r>
              <a:rPr kumimoji="0" lang="en-US" sz="24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and </a:t>
            </a:r>
            <a:r>
              <a:rPr kumimoji="0" lang="en-US" sz="24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Opportunity</a:t>
            </a:r>
            <a:r>
              <a:rPr kumimoji="0" lang="en-US" sz="24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 crisis management plan outlines how your business will respond if a crisis occurs.</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400" b="0" i="0" u="none" strike="noStrike" kern="1200" cap="none" spc="0" normalizeH="0" baseline="0" noProof="0" dirty="0">
                <a:ln>
                  <a:noFill/>
                </a:ln>
                <a:solidFill>
                  <a:srgbClr val="2A2B2C"/>
                </a:solidFill>
                <a:effectLst/>
                <a:uLnTx/>
                <a:uFillTx/>
                <a:latin typeface="Times New Roman" panose="02020603050405020304" pitchFamily="18" charset="0"/>
                <a:ea typeface="+mn-ea"/>
                <a:cs typeface="Times New Roman" panose="02020603050405020304" pitchFamily="18" charset="0"/>
              </a:rPr>
              <a:t>The plan should identify who will take action and what their roles will be. The goal of a crisis management plan is to </a:t>
            </a:r>
            <a:r>
              <a:rPr kumimoji="0" lang="en-US" sz="2400" b="1" i="0" u="none" strike="noStrike" kern="1200" cap="none" spc="0" normalizeH="0" baseline="0" noProof="0" dirty="0">
                <a:ln>
                  <a:noFill/>
                </a:ln>
                <a:solidFill>
                  <a:srgbClr val="2A2B2C"/>
                </a:solidFill>
                <a:effectLst/>
                <a:uLnTx/>
                <a:uFillTx/>
                <a:latin typeface="Times New Roman" panose="02020603050405020304" pitchFamily="18" charset="0"/>
                <a:ea typeface="+mn-ea"/>
                <a:cs typeface="Times New Roman" panose="02020603050405020304" pitchFamily="18" charset="0"/>
              </a:rPr>
              <a:t>minimize damage</a:t>
            </a:r>
            <a:r>
              <a:rPr kumimoji="0" lang="en-US" sz="2400" b="0" i="0" u="none" strike="noStrike" kern="1200" cap="none" spc="0" normalizeH="0" baseline="0" noProof="0" dirty="0">
                <a:ln>
                  <a:noFill/>
                </a:ln>
                <a:solidFill>
                  <a:srgbClr val="2A2B2C"/>
                </a:solidFill>
                <a:effectLst/>
                <a:uLnTx/>
                <a:uFillTx/>
                <a:latin typeface="Times New Roman" panose="02020603050405020304" pitchFamily="18" charset="0"/>
                <a:ea typeface="+mn-ea"/>
                <a:cs typeface="Times New Roman" panose="02020603050405020304" pitchFamily="18" charset="0"/>
              </a:rPr>
              <a:t> and </a:t>
            </a:r>
            <a:r>
              <a:rPr kumimoji="0" lang="en-US" sz="2400" b="1" i="0" u="none" strike="noStrike" kern="1200" cap="none" spc="0" normalizeH="0" baseline="0" noProof="0" dirty="0">
                <a:ln>
                  <a:noFill/>
                </a:ln>
                <a:solidFill>
                  <a:srgbClr val="2A2B2C"/>
                </a:solidFill>
                <a:effectLst/>
                <a:uLnTx/>
                <a:uFillTx/>
                <a:latin typeface="Times New Roman" panose="02020603050405020304" pitchFamily="18" charset="0"/>
                <a:ea typeface="+mn-ea"/>
                <a:cs typeface="Times New Roman" panose="02020603050405020304" pitchFamily="18" charset="0"/>
              </a:rPr>
              <a:t>restore business operations </a:t>
            </a:r>
            <a:r>
              <a:rPr kumimoji="0" lang="en-US" sz="2400" b="0" i="0" u="none" strike="noStrike" kern="1200" cap="none" spc="0" normalizeH="0" baseline="0" noProof="0" dirty="0">
                <a:ln>
                  <a:noFill/>
                </a:ln>
                <a:solidFill>
                  <a:srgbClr val="2A2B2C"/>
                </a:solidFill>
                <a:effectLst/>
                <a:uLnTx/>
                <a:uFillTx/>
                <a:latin typeface="Times New Roman" panose="02020603050405020304" pitchFamily="18" charset="0"/>
                <a:ea typeface="+mn-ea"/>
                <a:cs typeface="Times New Roman" panose="02020603050405020304" pitchFamily="18" charset="0"/>
              </a:rPr>
              <a:t>as quickly as possible.</a:t>
            </a:r>
            <a:endParaRPr kumimoji="0" lang="en-US" sz="24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1200"/>
              </a:spcBef>
              <a:spcAft>
                <a:spcPts val="0"/>
              </a:spcAft>
              <a:buClrTx/>
              <a:buSzTx/>
              <a:buFont typeface="Arial" panose="020B0604020202020204" pitchFamily="34" charset="0"/>
              <a:buNone/>
              <a:defRPr/>
            </a:pPr>
            <a:r>
              <a:rPr kumimoji="0" lang="en-US" sz="24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Crisis:</a:t>
            </a:r>
            <a:r>
              <a:rPr kumimoji="0" lang="en-US" sz="24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is any event that is expected to lead to, an unstable and dangerous situation affecting an individual, group, or whole organization.</a:t>
            </a:r>
          </a:p>
          <a:p>
            <a:pPr marL="0" marR="0" lvl="0" indent="0" algn="just" defTabSz="914400" rtl="0" eaLnBrk="1" fontAlgn="auto" latinLnBrk="0" hangingPunct="1">
              <a:lnSpc>
                <a:spcPct val="100000"/>
              </a:lnSpc>
              <a:spcBef>
                <a:spcPts val="1200"/>
              </a:spcBef>
              <a:spcAft>
                <a:spcPts val="0"/>
              </a:spcAft>
              <a:buClrTx/>
              <a:buSzTx/>
              <a:buFont typeface="Arial" panose="020B0604020202020204" pitchFamily="34" charset="0"/>
              <a:buNone/>
              <a:defRPr/>
            </a:pPr>
            <a:r>
              <a:rPr kumimoji="0" lang="en-US" sz="24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Crisis Management: </a:t>
            </a:r>
            <a:r>
              <a:rPr kumimoji="0" lang="en-US" sz="24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is the process by which an organization deals with a major event that threatens to harm the organization, its stakeholders, or the general public.</a:t>
            </a:r>
          </a:p>
          <a:p>
            <a:pPr marL="0" marR="0" lvl="0" indent="0" algn="l" defTabSz="914400" rtl="0" eaLnBrk="1" fontAlgn="auto" latinLnBrk="0" hangingPunct="1">
              <a:lnSpc>
                <a:spcPct val="100000"/>
              </a:lnSpc>
              <a:spcBef>
                <a:spcPts val="1200"/>
              </a:spcBef>
              <a:spcAft>
                <a:spcPts val="1200"/>
              </a:spcAft>
              <a:buClrTx/>
              <a:buSzTx/>
              <a:buFont typeface="Arial" panose="020B0604020202020204" pitchFamily="34" charset="0"/>
              <a:buNone/>
              <a:defRPr/>
            </a:pPr>
            <a:endParaRPr kumimoji="0" lang="en-US" sz="2000" b="0" i="0" u="none" strike="noStrike" kern="1200" cap="none" spc="0" normalizeH="0" baseline="0" noProof="0" dirty="0">
              <a:ln>
                <a:noFill/>
              </a:ln>
              <a:solidFill>
                <a:srgbClr val="3B3835"/>
              </a:solidFill>
              <a:effectLst/>
              <a:highlight>
                <a:srgbClr val="FFFFFF"/>
              </a:highligh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Crisis Management Plan</a:t>
            </a:r>
            <a:endParaRPr lang="en-US" altLang="en-US" sz="32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bwMode="auto">
          <a:xfrm>
            <a:off x="152400" y="685800"/>
            <a:ext cx="8839200" cy="6019800"/>
          </a:xfrm>
          <a:ln>
            <a:miter lim="800000"/>
          </a:ln>
          <a:effectLst/>
          <a:scene3d>
            <a:camera prst="orthographicFront"/>
            <a:lightRig rig="balanced" dir="t"/>
          </a:scene3d>
          <a:sp3d prstMaterial="plastic"/>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none" strike="noStrike" kern="1200" cap="none" spc="0" normalizeH="0" baseline="0" noProof="0" dirty="0">
                <a:ln>
                  <a:noFill/>
                </a:ln>
                <a:solidFill>
                  <a:srgbClr val="151B26"/>
                </a:solidFill>
                <a:effectLst/>
                <a:uLnTx/>
                <a:uFillTx/>
                <a:latin typeface="Times New Roman" panose="02020603050405020304" pitchFamily="18" charset="0"/>
                <a:ea typeface="+mn-ea"/>
                <a:cs typeface="Times New Roman" panose="02020603050405020304" pitchFamily="18" charset="0"/>
              </a:rPr>
              <a:t>Why do you need a crisis management plan?</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solidFill>
                  <a:srgbClr val="2A2B2C"/>
                </a:solidFill>
                <a:effectLst/>
                <a:uLnTx/>
                <a:uFillTx/>
                <a:latin typeface="Times New Roman" panose="02020603050405020304" pitchFamily="18" charset="0"/>
                <a:ea typeface="+mn-ea"/>
                <a:cs typeface="Times New Roman" panose="02020603050405020304" pitchFamily="18" charset="0"/>
              </a:rPr>
              <a:t>A crisis management plan  prepares your organization for a disaster or unforeseen event. With a plan in place, you can minimize the impact of the crisis on your employees and your business operations.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solidFill>
                  <a:srgbClr val="2A2B2C"/>
                </a:solidFill>
                <a:effectLst/>
                <a:uLnTx/>
                <a:uFillTx/>
                <a:latin typeface="Times New Roman" panose="02020603050405020304" pitchFamily="18" charset="0"/>
                <a:ea typeface="+mn-ea"/>
                <a:cs typeface="Times New Roman" panose="02020603050405020304" pitchFamily="18" charset="0"/>
              </a:rPr>
              <a:t>When the team is properly trained for the unexpected, there’s less chance of long-term damage.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solidFill>
                  <a:srgbClr val="2A2B2C"/>
                </a:solidFill>
                <a:effectLst/>
                <a:uLnTx/>
                <a:uFillTx/>
                <a:latin typeface="Times New Roman" panose="02020603050405020304" pitchFamily="18" charset="0"/>
                <a:ea typeface="+mn-ea"/>
                <a:cs typeface="Times New Roman" panose="02020603050405020304" pitchFamily="18" charset="0"/>
              </a:rPr>
              <a:t>If you’re the leader of an organization, it’s up to you to work with other members of senior management and come up with the emergency management strategy that works for you.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solidFill>
                  <a:srgbClr val="2A2B2C"/>
                </a:solidFill>
                <a:effectLst/>
                <a:uLnTx/>
                <a:uFillTx/>
                <a:latin typeface="Times New Roman" panose="02020603050405020304" pitchFamily="18" charset="0"/>
                <a:ea typeface="+mn-ea"/>
                <a:cs typeface="Times New Roman" panose="02020603050405020304" pitchFamily="18" charset="0"/>
              </a:rPr>
              <a:t>You may not know where to start at first, but </a:t>
            </a:r>
            <a:r>
              <a:rPr kumimoji="0" lang="en-US" sz="2400" b="0"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project planning software</a:t>
            </a:r>
            <a:r>
              <a:rPr kumimoji="0" lang="en-US" sz="2400" b="0" i="0" u="none" strike="noStrike" kern="1200" cap="none" spc="0" normalizeH="0" baseline="0" noProof="0" dirty="0">
                <a:ln>
                  <a:noFill/>
                </a:ln>
                <a:solidFill>
                  <a:srgbClr val="2A2B2C"/>
                </a:solidFill>
                <a:effectLst/>
                <a:uLnTx/>
                <a:uFillTx/>
                <a:latin typeface="Times New Roman" panose="02020603050405020304" pitchFamily="18" charset="0"/>
                <a:ea typeface="+mn-ea"/>
                <a:cs typeface="Times New Roman" panose="02020603050405020304" pitchFamily="18" charset="0"/>
              </a:rPr>
              <a:t> can help you navigate this uncharted territory.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solidFill>
                  <a:srgbClr val="2A2B2C"/>
                </a:solidFill>
                <a:effectLst/>
                <a:uLnTx/>
                <a:uFillTx/>
                <a:latin typeface="Times New Roman" panose="02020603050405020304" pitchFamily="18" charset="0"/>
                <a:ea typeface="+mn-ea"/>
                <a:cs typeface="Times New Roman" panose="02020603050405020304" pitchFamily="18" charset="0"/>
              </a:rPr>
              <a:t>A well-organized crisis management plan could help your company recover after a disaster occurs. </a:t>
            </a:r>
          </a:p>
          <a:p>
            <a:pPr marL="0" marR="0" lvl="0" indent="0" algn="l" defTabSz="914400" rtl="0" eaLnBrk="1" fontAlgn="auto" latinLnBrk="0" hangingPunct="1">
              <a:lnSpc>
                <a:spcPct val="100000"/>
              </a:lnSpc>
              <a:spcBef>
                <a:spcPts val="1200"/>
              </a:spcBef>
              <a:spcAft>
                <a:spcPts val="1200"/>
              </a:spcAft>
              <a:buClrTx/>
              <a:buSzTx/>
              <a:buFont typeface="Arial" panose="020B0604020202020204" pitchFamily="34" charset="0"/>
              <a:buNone/>
              <a:defRPr/>
            </a:pPr>
            <a:endParaRPr kumimoji="0" lang="en-US" sz="2000" b="0" i="0" u="none" strike="noStrike" kern="1200" cap="none" spc="0" normalizeH="0" baseline="0" noProof="0" dirty="0">
              <a:ln>
                <a:noFill/>
              </a:ln>
              <a:solidFill>
                <a:srgbClr val="3B3835"/>
              </a:solidFill>
              <a:effectLst/>
              <a:highlight>
                <a:srgbClr val="FFFFFF"/>
              </a:highligh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highlight>
                  <a:srgbClr val="FFFFFF"/>
                </a:highlight>
                <a:latin typeface="Times New Roman" panose="02020603050405020304" pitchFamily="18" charset="0"/>
                <a:cs typeface="Times New Roman" panose="02020603050405020304" pitchFamily="18" charset="0"/>
              </a:rPr>
              <a:t>Crisis Management Cycle:</a:t>
            </a:r>
            <a:br>
              <a:rPr lang="en-US" dirty="0">
                <a:highlight>
                  <a:srgbClr val="FFFFFF"/>
                </a:highlight>
                <a:latin typeface="Times New Roman" panose="02020603050405020304" pitchFamily="18" charset="0"/>
                <a:cs typeface="Times New Roman" panose="02020603050405020304" pitchFamily="18" charset="0"/>
              </a:rPr>
            </a:br>
            <a:endParaRPr lang="en-US" dirty="0"/>
          </a:p>
        </p:txBody>
      </p:sp>
      <p:pic>
        <p:nvPicPr>
          <p:cNvPr id="4" name="Google Shape;139;p29"/>
          <p:cNvPicPr preferRelativeResize="0">
            <a:picLocks noGrp="1" noChangeAspect="1"/>
          </p:cNvPicPr>
          <p:nvPr>
            <p:ph idx="1"/>
          </p:nvPr>
        </p:nvPicPr>
        <p:blipFill>
          <a:blip r:embed="rId2"/>
          <a:stretch>
            <a:fillRect/>
          </a:stretch>
        </p:blipFill>
        <p:spPr>
          <a:xfrm>
            <a:off x="2010759" y="1600200"/>
            <a:ext cx="5122481" cy="4525963"/>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52400" y="76200"/>
            <a:ext cx="8839200" cy="3048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Crisis Management Plan</a:t>
            </a:r>
            <a:endParaRPr lang="en-US" altLang="en-US" sz="32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bwMode="auto">
          <a:xfrm>
            <a:off x="152400" y="533400"/>
            <a:ext cx="8839200" cy="6172200"/>
          </a:xfrm>
          <a:ln>
            <a:miter lim="800000"/>
          </a:ln>
          <a:effectLst/>
          <a:scene3d>
            <a:camera prst="orthographicFront"/>
            <a:lightRig rig="balanced" dir="t"/>
          </a:scene3d>
          <a:sp3d prstMaterial="plastic"/>
        </p:spPr>
        <p:txBody>
          <a:bodyPr vert="horz" wrap="square" lIns="91440" tIns="45720" rIns="91440" bIns="45720" numCol="1" rtlCol="0" anchor="t" anchorCtr="0" compatLnSpc="1">
            <a:normAutofit lnSpcReduction="10000"/>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First Stage of crisis management is </a:t>
            </a:r>
            <a:r>
              <a:rPr kumimoji="0" lang="en-US" sz="2000" b="1" i="0" u="sng" strike="noStrike" kern="1200" cap="none" spc="0" normalizeH="0" baseline="0" noProof="0" dirty="0">
                <a:ln>
                  <a:noFill/>
                </a:ln>
                <a:solidFill>
                  <a:srgbClr val="FF0000"/>
                </a:solidFill>
                <a:effectLst/>
                <a:highlight>
                  <a:srgbClr val="FFFFFF"/>
                </a:highlight>
                <a:uLnTx/>
                <a:uFillTx/>
                <a:latin typeface="Times New Roman" panose="02020603050405020304" pitchFamily="18" charset="0"/>
                <a:ea typeface="+mn-ea"/>
                <a:cs typeface="Times New Roman" panose="02020603050405020304" pitchFamily="18" charset="0"/>
              </a:rPr>
              <a:t>IDENTIFYING</a:t>
            </a:r>
            <a:r>
              <a:rPr kumimoji="0" lang="en-US" sz="20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the crisis’ nature</a:t>
            </a:r>
            <a:r>
              <a:rPr kumimoji="0" lang="en-US" sz="2000" b="0"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 Crisis can be clustered into:</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 </a:t>
            </a:r>
            <a:r>
              <a:rPr kumimoji="0" lang="en-US" sz="20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Natural crisis</a:t>
            </a: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occur due to natural disasters.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Organizational Misdeed crisis: </a:t>
            </a: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occur when management take actions that harm stakeholders without suitable precautions.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Deception crisis: </a:t>
            </a: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occur due to lack of transparency from the management about certain information.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Workplace violence crisis</a:t>
            </a:r>
            <a:r>
              <a:rPr kumimoji="0" lang="en-US" sz="20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a:t>
            </a: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occur when member commit violence to other members.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Skewed values crisis: </a:t>
            </a: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occur when short- term gain is favored and values are neglected.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Rumors crisis: </a:t>
            </a: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occur when false information about an organization and its product hurt the organization’s reputation.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Second Stage is </a:t>
            </a:r>
            <a:r>
              <a:rPr kumimoji="0" lang="en-US" sz="2000" b="1" i="0" u="sng" strike="noStrike" kern="1200" cap="none" spc="0" normalizeH="0" baseline="0" noProof="0" dirty="0">
                <a:ln>
                  <a:noFill/>
                </a:ln>
                <a:solidFill>
                  <a:srgbClr val="FF0000"/>
                </a:solidFill>
                <a:effectLst/>
                <a:highlight>
                  <a:srgbClr val="FFFFFF"/>
                </a:highlight>
                <a:uLnTx/>
                <a:uFillTx/>
                <a:latin typeface="Times New Roman" panose="02020603050405020304" pitchFamily="18" charset="0"/>
                <a:ea typeface="+mn-ea"/>
                <a:cs typeface="Times New Roman" panose="02020603050405020304" pitchFamily="18" charset="0"/>
              </a:rPr>
              <a:t>PREPARING</a:t>
            </a:r>
            <a:r>
              <a:rPr kumimoji="0" lang="en-US" sz="20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for the crisis.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Crisis preparation is done by: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 </a:t>
            </a:r>
            <a:r>
              <a:rPr kumimoji="0" lang="en-US" sz="20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Vulnerability Assessment</a:t>
            </a: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determine current and potential areas of operational and communications weakness.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Crisis Planning: </a:t>
            </a: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are two types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a:t>
            </a:r>
            <a:r>
              <a:rPr kumimoji="0" lang="en-US" sz="20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Operational : </a:t>
            </a: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What we do, who does it, and when it is done.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 </a:t>
            </a:r>
            <a:r>
              <a:rPr kumimoji="0" lang="en-US" sz="2000" b="1"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Communications:</a:t>
            </a:r>
            <a:r>
              <a:rPr kumimoji="0" lang="en-US" sz="20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what do we say, who says it, how do we get the messages out. </a:t>
            </a:r>
          </a:p>
          <a:p>
            <a:pPr marL="0" marR="0" lvl="0" indent="0" algn="l" defTabSz="914400" rtl="0" eaLnBrk="1" fontAlgn="auto" latinLnBrk="0" hangingPunct="1">
              <a:lnSpc>
                <a:spcPct val="100000"/>
              </a:lnSpc>
              <a:spcBef>
                <a:spcPts val="1200"/>
              </a:spcBef>
              <a:spcAft>
                <a:spcPts val="1200"/>
              </a:spcAft>
              <a:buClrTx/>
              <a:buSzTx/>
              <a:buFont typeface="Arial" panose="020B0604020202020204" pitchFamily="34" charset="0"/>
              <a:buNone/>
              <a:defRPr/>
            </a:pPr>
            <a:endParaRPr kumimoji="0" lang="en-US" sz="2000" b="0" i="0" u="none" strike="noStrike" kern="1200" cap="none" spc="0" normalizeH="0" baseline="0" noProof="0" dirty="0">
              <a:ln>
                <a:noFill/>
              </a:ln>
              <a:solidFill>
                <a:srgbClr val="3B3835"/>
              </a:solidFill>
              <a:effectLst/>
              <a:highlight>
                <a:srgbClr val="FFFFFF"/>
              </a:highligh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52400" y="76200"/>
            <a:ext cx="8839200" cy="3048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Crisis Management Plan</a:t>
            </a:r>
            <a:endParaRPr lang="en-US" altLang="en-US" sz="32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bwMode="auto">
          <a:xfrm>
            <a:off x="152400" y="533400"/>
            <a:ext cx="8839200" cy="6172200"/>
          </a:xfrm>
          <a:ln>
            <a:miter lim="800000"/>
          </a:ln>
          <a:effectLst/>
          <a:scene3d>
            <a:camera prst="orthographicFront"/>
            <a:lightRig rig="balanced" dir="t"/>
          </a:scene3d>
          <a:sp3d prstMaterial="plastic"/>
        </p:spPr>
        <p:txBody>
          <a:bodyPr vert="horz" wrap="square" lIns="91440" tIns="45720" rIns="91440" bIns="45720" numCol="1" rtlCol="0" anchor="t" anchorCtr="0" compatLnSpc="1">
            <a:normAutofit fontScale="92500" lnSpcReduction="20000"/>
          </a:bodyPr>
          <a:lstStyle/>
          <a:p>
            <a:pPr marL="0" marR="0" lvl="0" indent="0" algn="l" defTabSz="914400" rtl="0" eaLnBrk="1" fontAlgn="auto" latinLnBrk="0" hangingPunct="1">
              <a:lnSpc>
                <a:spcPct val="160000"/>
              </a:lnSpc>
              <a:spcBef>
                <a:spcPts val="0"/>
              </a:spcBef>
              <a:spcAft>
                <a:spcPts val="0"/>
              </a:spcAft>
              <a:buClrTx/>
              <a:buSzTx/>
              <a:buFont typeface="Arial" panose="020B0604020202020204" pitchFamily="34" charset="0"/>
              <a:buNone/>
              <a:defRPr/>
            </a:pPr>
            <a:r>
              <a:rPr kumimoji="0" lang="en-US" sz="22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Third stage is </a:t>
            </a:r>
            <a:r>
              <a:rPr kumimoji="0" lang="en-US" sz="2200" b="1" i="0" u="sng" strike="noStrike" kern="1200" cap="none" spc="0" normalizeH="0" baseline="0" noProof="0" dirty="0">
                <a:ln>
                  <a:noFill/>
                </a:ln>
                <a:solidFill>
                  <a:srgbClr val="FF0000"/>
                </a:solidFill>
                <a:effectLst/>
                <a:highlight>
                  <a:srgbClr val="FFFFFF"/>
                </a:highlight>
                <a:uLnTx/>
                <a:uFillTx/>
                <a:latin typeface="Times New Roman" panose="02020603050405020304" pitchFamily="18" charset="0"/>
                <a:ea typeface="+mn-ea"/>
                <a:cs typeface="Times New Roman" panose="02020603050405020304" pitchFamily="18" charset="0"/>
              </a:rPr>
              <a:t>PREVENTING</a:t>
            </a:r>
            <a:r>
              <a:rPr kumimoji="0" lang="en-US" sz="22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the crisis from happening.</a:t>
            </a:r>
          </a:p>
          <a:p>
            <a:pPr marL="0" marR="0" lvl="0" indent="0" algn="l" defTabSz="914400" rtl="0" eaLnBrk="1" fontAlgn="auto" latinLnBrk="0" hangingPunct="1">
              <a:lnSpc>
                <a:spcPct val="160000"/>
              </a:lnSpc>
              <a:spcBef>
                <a:spcPts val="0"/>
              </a:spcBef>
              <a:spcAft>
                <a:spcPts val="0"/>
              </a:spcAft>
              <a:buClrTx/>
              <a:buSzTx/>
              <a:buFont typeface="Arial" panose="020B0604020202020204" pitchFamily="34" charset="0"/>
              <a:buNone/>
              <a:defRPr/>
            </a:pPr>
            <a:r>
              <a:rPr kumimoji="0" lang="en-US" sz="22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 Crisis Prevention is occurred by: </a:t>
            </a:r>
          </a:p>
          <a:p>
            <a:pPr marL="0" marR="0" lvl="0" indent="0" algn="l" defTabSz="914400" rtl="0" eaLnBrk="1" fontAlgn="auto" latinLnBrk="0" hangingPunct="1">
              <a:lnSpc>
                <a:spcPct val="160000"/>
              </a:lnSpc>
              <a:spcBef>
                <a:spcPts val="0"/>
              </a:spcBef>
              <a:spcAft>
                <a:spcPts val="0"/>
              </a:spcAft>
              <a:buClrTx/>
              <a:buSzTx/>
              <a:buFont typeface="Arial" panose="020B0604020202020204" pitchFamily="34" charset="0"/>
              <a:buNone/>
              <a:defRPr/>
            </a:pPr>
            <a:r>
              <a:rPr kumimoji="0" lang="en-US" sz="22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Anticipate and Have a plan. </a:t>
            </a:r>
          </a:p>
          <a:p>
            <a:pPr marL="0" marR="0" lvl="0" indent="0" algn="l" defTabSz="914400" rtl="0" eaLnBrk="1" fontAlgn="auto" latinLnBrk="0" hangingPunct="1">
              <a:lnSpc>
                <a:spcPct val="160000"/>
              </a:lnSpc>
              <a:spcBef>
                <a:spcPts val="0"/>
              </a:spcBef>
              <a:spcAft>
                <a:spcPts val="0"/>
              </a:spcAft>
              <a:buClrTx/>
              <a:buSzTx/>
              <a:buFont typeface="Arial" panose="020B0604020202020204" pitchFamily="34" charset="0"/>
              <a:buNone/>
              <a:defRPr/>
            </a:pPr>
            <a:r>
              <a:rPr kumimoji="0" lang="en-US" sz="22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Respond immediately. </a:t>
            </a:r>
          </a:p>
          <a:p>
            <a:pPr marL="0" marR="0" lvl="0" indent="0" algn="l" defTabSz="914400" rtl="0" eaLnBrk="1" fontAlgn="auto" latinLnBrk="0" hangingPunct="1">
              <a:lnSpc>
                <a:spcPct val="160000"/>
              </a:lnSpc>
              <a:spcBef>
                <a:spcPts val="0"/>
              </a:spcBef>
              <a:spcAft>
                <a:spcPts val="0"/>
              </a:spcAft>
              <a:buClrTx/>
              <a:buSzTx/>
              <a:buFont typeface="Arial" panose="020B0604020202020204" pitchFamily="34" charset="0"/>
              <a:buNone/>
              <a:defRPr/>
            </a:pPr>
            <a:r>
              <a:rPr kumimoji="0" lang="en-US" sz="22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Do not over talk.</a:t>
            </a:r>
          </a:p>
          <a:p>
            <a:pPr marL="0" marR="0" lvl="0" indent="0" algn="l" defTabSz="914400" rtl="0" eaLnBrk="1" fontAlgn="auto" latinLnBrk="0" hangingPunct="1">
              <a:lnSpc>
                <a:spcPct val="160000"/>
              </a:lnSpc>
              <a:spcBef>
                <a:spcPts val="0"/>
              </a:spcBef>
              <a:spcAft>
                <a:spcPts val="0"/>
              </a:spcAft>
              <a:buClrTx/>
              <a:buSzTx/>
              <a:buFont typeface="Arial" panose="020B0604020202020204" pitchFamily="34" charset="0"/>
              <a:buNone/>
              <a:defRPr/>
            </a:pPr>
            <a:r>
              <a:rPr kumimoji="0" lang="en-US" sz="22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 Always tell the truth. </a:t>
            </a:r>
          </a:p>
          <a:p>
            <a:pPr marL="0" marR="0" lvl="0" indent="0" algn="l" defTabSz="914400" rtl="0" eaLnBrk="1" fontAlgn="auto" latinLnBrk="0" hangingPunct="1">
              <a:lnSpc>
                <a:spcPct val="160000"/>
              </a:lnSpc>
              <a:spcBef>
                <a:spcPts val="0"/>
              </a:spcBef>
              <a:spcAft>
                <a:spcPts val="0"/>
              </a:spcAft>
              <a:buClrTx/>
              <a:buSzTx/>
              <a:buFont typeface="Arial" panose="020B0604020202020204" pitchFamily="34" charset="0"/>
              <a:buNone/>
              <a:defRPr/>
            </a:pPr>
            <a:r>
              <a:rPr kumimoji="0" lang="en-US" sz="22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Accept responsibility. </a:t>
            </a:r>
          </a:p>
          <a:p>
            <a:pPr marL="0" marR="0" lvl="0" indent="0" algn="l" defTabSz="914400" rtl="0" eaLnBrk="1" fontAlgn="auto" latinLnBrk="0" hangingPunct="1">
              <a:lnSpc>
                <a:spcPct val="160000"/>
              </a:lnSpc>
              <a:spcBef>
                <a:spcPts val="0"/>
              </a:spcBef>
              <a:spcAft>
                <a:spcPts val="0"/>
              </a:spcAft>
              <a:buClrTx/>
              <a:buSzTx/>
              <a:buFont typeface="Arial" panose="020B0604020202020204" pitchFamily="34" charset="0"/>
              <a:buNone/>
              <a:defRPr/>
            </a:pPr>
            <a:r>
              <a:rPr kumimoji="0" lang="en-US" sz="22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Fourth stage is </a:t>
            </a:r>
            <a:r>
              <a:rPr kumimoji="0" lang="en-US" sz="2200" b="1" i="0" u="sng" strike="noStrike" kern="1200" cap="none" spc="0" normalizeH="0" baseline="0" noProof="0" dirty="0">
                <a:ln>
                  <a:noFill/>
                </a:ln>
                <a:solidFill>
                  <a:srgbClr val="FF0000"/>
                </a:solidFill>
                <a:effectLst/>
                <a:highlight>
                  <a:srgbClr val="FFFFFF"/>
                </a:highlight>
                <a:uLnTx/>
                <a:uFillTx/>
                <a:latin typeface="Times New Roman" panose="02020603050405020304" pitchFamily="18" charset="0"/>
                <a:ea typeface="+mn-ea"/>
                <a:cs typeface="Times New Roman" panose="02020603050405020304" pitchFamily="18" charset="0"/>
              </a:rPr>
              <a:t>RESPONDING</a:t>
            </a:r>
            <a:r>
              <a:rPr kumimoji="0" lang="en-US" sz="22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to the crisis</a:t>
            </a:r>
            <a:r>
              <a:rPr kumimoji="0" lang="en-US" sz="2200" b="0"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a:t>
            </a:r>
            <a:r>
              <a:rPr kumimoji="0" lang="en-US" sz="22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Effective crisis response includes: – Set of planning scenarios. – Set of response modules. – Preset activation protocols. – Clear communication channels. </a:t>
            </a:r>
          </a:p>
          <a:p>
            <a:pPr marL="0" marR="0" lvl="0" indent="0" algn="l" defTabSz="914400" rtl="0" eaLnBrk="1" fontAlgn="auto" latinLnBrk="0" hangingPunct="1">
              <a:lnSpc>
                <a:spcPct val="160000"/>
              </a:lnSpc>
              <a:spcBef>
                <a:spcPts val="0"/>
              </a:spcBef>
              <a:spcAft>
                <a:spcPts val="0"/>
              </a:spcAft>
              <a:buClrTx/>
              <a:buSzTx/>
              <a:buFont typeface="Arial" panose="020B0604020202020204" pitchFamily="34" charset="0"/>
              <a:buNone/>
              <a:defRPr/>
            </a:pPr>
            <a:r>
              <a:rPr kumimoji="0" lang="en-US" sz="22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Fifth stage is </a:t>
            </a:r>
            <a:r>
              <a:rPr kumimoji="0" lang="en-US" sz="2200" b="1" i="0" u="sng" strike="noStrike" kern="1200" cap="none" spc="0" normalizeH="0" baseline="0" noProof="0" dirty="0">
                <a:ln>
                  <a:noFill/>
                </a:ln>
                <a:solidFill>
                  <a:srgbClr val="FF0000"/>
                </a:solidFill>
                <a:effectLst/>
                <a:highlight>
                  <a:srgbClr val="FFFFFF"/>
                </a:highlight>
                <a:uLnTx/>
                <a:uFillTx/>
                <a:latin typeface="Times New Roman" panose="02020603050405020304" pitchFamily="18" charset="0"/>
                <a:ea typeface="+mn-ea"/>
                <a:cs typeface="Times New Roman" panose="02020603050405020304" pitchFamily="18" charset="0"/>
              </a:rPr>
              <a:t>RECOVERING</a:t>
            </a:r>
            <a:r>
              <a:rPr kumimoji="0" lang="en-US" sz="2200" b="1" i="0" u="sng"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from the crisis</a:t>
            </a:r>
            <a:r>
              <a:rPr kumimoji="0" lang="en-US" sz="2200" b="0" i="0" u="none" strike="noStrike" kern="1200" cap="none" spc="0" normalizeH="0" baseline="0" noProof="0" dirty="0">
                <a:ln>
                  <a:noFill/>
                </a:ln>
                <a:solidFill>
                  <a:schemeClr val="tx1"/>
                </a:solidFill>
                <a:effectLst/>
                <a:highlight>
                  <a:srgbClr val="FFFFFF"/>
                </a:highlight>
                <a:uLnTx/>
                <a:uFillTx/>
                <a:latin typeface="Times New Roman" panose="02020603050405020304" pitchFamily="18" charset="0"/>
                <a:ea typeface="+mn-ea"/>
                <a:cs typeface="Times New Roman" panose="02020603050405020304" pitchFamily="18" charset="0"/>
              </a:rPr>
              <a:t>. • Organizations must be able to carry on with their business in the middle of the crisis. • while simultaneously planning for how they will recover from the damage the crisis caused. • Crisis handlers must engage in the recovery plan while perusing the goal. </a:t>
            </a:r>
          </a:p>
          <a:p>
            <a:pPr marL="0" marR="0" lvl="0" indent="0" algn="l" defTabSz="914400" rtl="0" eaLnBrk="1" fontAlgn="auto" latinLnBrk="0" hangingPunct="1">
              <a:lnSpc>
                <a:spcPct val="100000"/>
              </a:lnSpc>
              <a:spcBef>
                <a:spcPts val="1200"/>
              </a:spcBef>
              <a:spcAft>
                <a:spcPts val="1200"/>
              </a:spcAft>
              <a:buClrTx/>
              <a:buSzTx/>
              <a:buFont typeface="Arial" panose="020B0604020202020204" pitchFamily="34" charset="0"/>
              <a:buNone/>
              <a:defRPr/>
            </a:pPr>
            <a:endParaRPr kumimoji="0" lang="en-US" sz="2000" b="0" i="0" u="none" strike="noStrike" kern="1200" cap="none" spc="0" normalizeH="0" baseline="0" noProof="0" dirty="0">
              <a:ln>
                <a:noFill/>
              </a:ln>
              <a:solidFill>
                <a:srgbClr val="3B3835"/>
              </a:solidFill>
              <a:effectLst/>
              <a:highlight>
                <a:srgbClr val="FFFFFF"/>
              </a:highligh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177D6-B064-E1B3-CF22-816BAA51162D}"/>
              </a:ext>
            </a:extLst>
          </p:cNvPr>
          <p:cNvSpPr>
            <a:spLocks noGrp="1"/>
          </p:cNvSpPr>
          <p:nvPr>
            <p:ph type="title"/>
          </p:nvPr>
        </p:nvSpPr>
        <p:spPr/>
        <p:txBody>
          <a:bodyPr/>
          <a:lstStyle/>
          <a:p>
            <a:r>
              <a:rPr lang="en-IN" b="1" dirty="0"/>
              <a:t>Penetration Testing </a:t>
            </a:r>
            <a:endParaRPr lang="en-IN" dirty="0"/>
          </a:p>
        </p:txBody>
      </p:sp>
      <p:sp>
        <p:nvSpPr>
          <p:cNvPr id="3" name="Content Placeholder 2">
            <a:extLst>
              <a:ext uri="{FF2B5EF4-FFF2-40B4-BE49-F238E27FC236}">
                <a16:creationId xmlns:a16="http://schemas.microsoft.com/office/drawing/2014/main" id="{137C448A-67A9-FDC9-4DD5-4CFBBA27AE08}"/>
              </a:ext>
            </a:extLst>
          </p:cNvPr>
          <p:cNvSpPr>
            <a:spLocks noGrp="1"/>
          </p:cNvSpPr>
          <p:nvPr>
            <p:ph idx="1"/>
          </p:nvPr>
        </p:nvSpPr>
        <p:spPr/>
        <p:txBody>
          <a:bodyPr/>
          <a:lstStyle/>
          <a:p>
            <a:pPr algn="just"/>
            <a:r>
              <a:rPr lang="en-IN" dirty="0"/>
              <a:t>Penetration testing is the process of </a:t>
            </a:r>
            <a:r>
              <a:rPr lang="en-IN" b="1" dirty="0"/>
              <a:t>actively testing the security of an information system by attempting to exploit vulnerabilities</a:t>
            </a:r>
            <a:r>
              <a:rPr lang="en-IN" dirty="0"/>
              <a:t> under authorized conditions to evaluate the effectiveness of security controls</a:t>
            </a:r>
          </a:p>
        </p:txBody>
      </p:sp>
    </p:spTree>
    <p:extLst>
      <p:ext uri="{BB962C8B-B14F-4D97-AF65-F5344CB8AC3E}">
        <p14:creationId xmlns:p14="http://schemas.microsoft.com/office/powerpoint/2010/main" val="3056256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0A47F-110D-CDF0-135C-30E7E1BB4EEC}"/>
              </a:ext>
            </a:extLst>
          </p:cNvPr>
          <p:cNvSpPr>
            <a:spLocks noGrp="1"/>
          </p:cNvSpPr>
          <p:nvPr>
            <p:ph type="title"/>
          </p:nvPr>
        </p:nvSpPr>
        <p:spPr>
          <a:xfrm>
            <a:off x="457200" y="274638"/>
            <a:ext cx="8229600" cy="944562"/>
          </a:xfrm>
        </p:spPr>
        <p:txBody>
          <a:bodyPr/>
          <a:lstStyle/>
          <a:p>
            <a:r>
              <a:rPr lang="en-IN" b="1" dirty="0"/>
              <a:t>Objectives of Penetration Testing</a:t>
            </a:r>
            <a:r>
              <a:rPr lang="en-IN" dirty="0"/>
              <a:t/>
            </a:r>
            <a:br>
              <a:rPr lang="en-IN" dirty="0"/>
            </a:br>
            <a:endParaRPr lang="en-IN" dirty="0"/>
          </a:p>
        </p:txBody>
      </p:sp>
      <p:sp>
        <p:nvSpPr>
          <p:cNvPr id="3" name="Content Placeholder 2">
            <a:extLst>
              <a:ext uri="{FF2B5EF4-FFF2-40B4-BE49-F238E27FC236}">
                <a16:creationId xmlns:a16="http://schemas.microsoft.com/office/drawing/2014/main" id="{293EA8B0-17DB-92B2-927D-7824E5EDA642}"/>
              </a:ext>
            </a:extLst>
          </p:cNvPr>
          <p:cNvSpPr>
            <a:spLocks noGrp="1"/>
          </p:cNvSpPr>
          <p:nvPr>
            <p:ph idx="1"/>
          </p:nvPr>
        </p:nvSpPr>
        <p:spPr>
          <a:xfrm>
            <a:off x="457200" y="990600"/>
            <a:ext cx="8229600" cy="5410200"/>
          </a:xfrm>
        </p:spPr>
        <p:txBody>
          <a:bodyPr/>
          <a:lstStyle/>
          <a:p>
            <a:pPr lvl="0" algn="just"/>
            <a:r>
              <a:rPr lang="en-IN" dirty="0"/>
              <a:t>Identify security vulnerabilities in systems and networks.</a:t>
            </a:r>
          </a:p>
          <a:p>
            <a:pPr lvl="0" algn="just"/>
            <a:r>
              <a:rPr lang="en-IN" dirty="0"/>
              <a:t>Assess the effectiveness of existing security controls.</a:t>
            </a:r>
          </a:p>
          <a:p>
            <a:pPr lvl="0" algn="just"/>
            <a:r>
              <a:rPr lang="en-IN" dirty="0"/>
              <a:t>Evaluate the impact of successful cyberattacks.</a:t>
            </a:r>
          </a:p>
          <a:p>
            <a:pPr lvl="0" algn="just"/>
            <a:r>
              <a:rPr lang="en-IN" dirty="0"/>
              <a:t>Ensure compliance with security standards and regulations.</a:t>
            </a:r>
          </a:p>
          <a:p>
            <a:pPr lvl="0" algn="just"/>
            <a:r>
              <a:rPr lang="en-IN" dirty="0"/>
              <a:t>Provide recommendations to improve the organization's security posture.</a:t>
            </a:r>
          </a:p>
          <a:p>
            <a:endParaRPr lang="en-IN" dirty="0"/>
          </a:p>
        </p:txBody>
      </p:sp>
    </p:spTree>
    <p:extLst>
      <p:ext uri="{BB962C8B-B14F-4D97-AF65-F5344CB8AC3E}">
        <p14:creationId xmlns:p14="http://schemas.microsoft.com/office/powerpoint/2010/main" val="4177177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390B1-3AA3-221E-FD65-2FC2F594565F}"/>
              </a:ext>
            </a:extLst>
          </p:cNvPr>
          <p:cNvSpPr>
            <a:spLocks noGrp="1"/>
          </p:cNvSpPr>
          <p:nvPr>
            <p:ph type="title"/>
          </p:nvPr>
        </p:nvSpPr>
        <p:spPr/>
        <p:txBody>
          <a:bodyPr/>
          <a:lstStyle/>
          <a:p>
            <a:r>
              <a:rPr lang="en-IN" b="1" dirty="0"/>
              <a:t>Types of Penetration Testing</a:t>
            </a:r>
            <a:r>
              <a:rPr lang="en-IN" sz="3600" dirty="0"/>
              <a:t/>
            </a:r>
            <a:br>
              <a:rPr lang="en-IN" sz="3600" dirty="0"/>
            </a:br>
            <a:endParaRPr lang="en-IN" dirty="0"/>
          </a:p>
        </p:txBody>
      </p:sp>
      <p:sp>
        <p:nvSpPr>
          <p:cNvPr id="3" name="Content Placeholder 2">
            <a:extLst>
              <a:ext uri="{FF2B5EF4-FFF2-40B4-BE49-F238E27FC236}">
                <a16:creationId xmlns:a16="http://schemas.microsoft.com/office/drawing/2014/main" id="{C90C1504-6B7E-500C-F954-DAE0762D1B27}"/>
              </a:ext>
            </a:extLst>
          </p:cNvPr>
          <p:cNvSpPr>
            <a:spLocks noGrp="1"/>
          </p:cNvSpPr>
          <p:nvPr>
            <p:ph idx="1"/>
          </p:nvPr>
        </p:nvSpPr>
        <p:spPr>
          <a:xfrm>
            <a:off x="304800" y="990600"/>
            <a:ext cx="8229600" cy="5791200"/>
          </a:xfrm>
        </p:spPr>
        <p:txBody>
          <a:bodyPr/>
          <a:lstStyle/>
          <a:p>
            <a:pPr lvl="0" algn="just"/>
            <a:r>
              <a:rPr lang="en-IN" sz="2400" b="1" dirty="0"/>
              <a:t>Black Box Testing</a:t>
            </a:r>
            <a:endParaRPr lang="en-IN" sz="2400" dirty="0"/>
          </a:p>
          <a:p>
            <a:pPr lvl="1" algn="just"/>
            <a:r>
              <a:rPr lang="en-IN" sz="2400" dirty="0"/>
              <a:t>The tester has no prior knowledge of the target system.</a:t>
            </a:r>
          </a:p>
          <a:p>
            <a:pPr lvl="1" algn="just"/>
            <a:r>
              <a:rPr lang="en-IN" sz="2400" dirty="0"/>
              <a:t>Simulates an external hacker's perspective.</a:t>
            </a:r>
          </a:p>
          <a:p>
            <a:pPr lvl="0" algn="just"/>
            <a:r>
              <a:rPr lang="en-IN" sz="2400" b="1" dirty="0"/>
              <a:t>White Box Testing</a:t>
            </a:r>
            <a:endParaRPr lang="en-IN" sz="2400" dirty="0"/>
          </a:p>
          <a:p>
            <a:pPr lvl="1" algn="just"/>
            <a:r>
              <a:rPr lang="en-IN" sz="2400" dirty="0"/>
              <a:t>The tester has complete knowledge of the system, including source code, network architecture, and credentials.</a:t>
            </a:r>
          </a:p>
          <a:p>
            <a:pPr lvl="1" algn="just"/>
            <a:r>
              <a:rPr lang="en-IN" sz="2400" dirty="0"/>
              <a:t>Provides comprehensive security assessment.</a:t>
            </a:r>
          </a:p>
          <a:p>
            <a:pPr lvl="0" algn="just"/>
            <a:r>
              <a:rPr lang="en-IN" sz="2400" b="1" dirty="0"/>
              <a:t>Gray Box Testing</a:t>
            </a:r>
            <a:endParaRPr lang="en-IN" sz="2400" dirty="0"/>
          </a:p>
          <a:p>
            <a:pPr lvl="1" algn="just"/>
            <a:r>
              <a:rPr lang="en-IN" sz="2400" dirty="0"/>
              <a:t>The tester has partial knowledge of the target system.</a:t>
            </a:r>
          </a:p>
          <a:p>
            <a:pPr lvl="1" algn="just"/>
            <a:r>
              <a:rPr lang="en-IN" sz="2400" dirty="0"/>
              <a:t>Represents an insider or authenticated user with limited access.</a:t>
            </a:r>
          </a:p>
          <a:p>
            <a:endParaRPr lang="en-IN" dirty="0"/>
          </a:p>
        </p:txBody>
      </p:sp>
    </p:spTree>
    <p:extLst>
      <p:ext uri="{BB962C8B-B14F-4D97-AF65-F5344CB8AC3E}">
        <p14:creationId xmlns:p14="http://schemas.microsoft.com/office/powerpoint/2010/main" val="3074093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FE257-C3D8-1022-26DA-826746ACB437}"/>
              </a:ext>
            </a:extLst>
          </p:cNvPr>
          <p:cNvSpPr>
            <a:spLocks noGrp="1"/>
          </p:cNvSpPr>
          <p:nvPr>
            <p:ph type="title"/>
          </p:nvPr>
        </p:nvSpPr>
        <p:spPr>
          <a:xfrm>
            <a:off x="457200" y="274638"/>
            <a:ext cx="8229600" cy="563562"/>
          </a:xfrm>
        </p:spPr>
        <p:txBody>
          <a:bodyPr/>
          <a:lstStyle/>
          <a:p>
            <a:r>
              <a:rPr lang="en-IN" b="1" dirty="0"/>
              <a:t/>
            </a:r>
            <a:br>
              <a:rPr lang="en-IN" b="1" dirty="0"/>
            </a:br>
            <a:r>
              <a:rPr lang="en-IN" b="1" dirty="0"/>
              <a:t>Phases of Penetration Testing</a:t>
            </a:r>
            <a:r>
              <a:rPr lang="en-IN" sz="3600" dirty="0"/>
              <a:t/>
            </a:r>
            <a:br>
              <a:rPr lang="en-IN" sz="3600" dirty="0"/>
            </a:br>
            <a:endParaRPr lang="en-IN" dirty="0"/>
          </a:p>
        </p:txBody>
      </p:sp>
      <p:sp>
        <p:nvSpPr>
          <p:cNvPr id="3" name="Content Placeholder 2">
            <a:extLst>
              <a:ext uri="{FF2B5EF4-FFF2-40B4-BE49-F238E27FC236}">
                <a16:creationId xmlns:a16="http://schemas.microsoft.com/office/drawing/2014/main" id="{D078ABE3-1335-6B8E-679E-279E32E515D0}"/>
              </a:ext>
            </a:extLst>
          </p:cNvPr>
          <p:cNvSpPr>
            <a:spLocks noGrp="1"/>
          </p:cNvSpPr>
          <p:nvPr>
            <p:ph idx="1"/>
          </p:nvPr>
        </p:nvSpPr>
        <p:spPr>
          <a:xfrm>
            <a:off x="457200" y="1036638"/>
            <a:ext cx="8229600" cy="4525963"/>
          </a:xfrm>
        </p:spPr>
        <p:txBody>
          <a:bodyPr/>
          <a:lstStyle/>
          <a:p>
            <a:pPr lvl="0" algn="just"/>
            <a:r>
              <a:rPr lang="en-IN" sz="2000" b="1" dirty="0"/>
              <a:t>Planning and Reconnaissance</a:t>
            </a:r>
            <a:endParaRPr lang="en-IN" sz="2000" dirty="0"/>
          </a:p>
          <a:p>
            <a:pPr lvl="1" algn="just"/>
            <a:r>
              <a:rPr lang="en-IN" sz="2000" dirty="0"/>
              <a:t>Define the scope and objectives.</a:t>
            </a:r>
          </a:p>
          <a:p>
            <a:pPr lvl="1" algn="just"/>
            <a:r>
              <a:rPr lang="en-IN" sz="2000" dirty="0"/>
              <a:t>Gather information about the target using passive and active reconnaissance.</a:t>
            </a:r>
          </a:p>
          <a:p>
            <a:pPr lvl="0" algn="just"/>
            <a:r>
              <a:rPr lang="en-IN" sz="2000" b="1" dirty="0"/>
              <a:t>Scanning</a:t>
            </a:r>
            <a:endParaRPr lang="en-IN" sz="2000" dirty="0"/>
          </a:p>
          <a:p>
            <a:pPr lvl="1" algn="just"/>
            <a:r>
              <a:rPr lang="en-IN" sz="2000" dirty="0"/>
              <a:t>Identify live hosts, open ports, services, and operating systems.</a:t>
            </a:r>
          </a:p>
          <a:p>
            <a:pPr lvl="1" algn="just"/>
            <a:r>
              <a:rPr lang="en-IN" sz="2000" dirty="0"/>
              <a:t>Detect known vulnerabilities using automated tools.</a:t>
            </a:r>
          </a:p>
          <a:p>
            <a:pPr lvl="0" algn="just"/>
            <a:r>
              <a:rPr lang="en-IN" sz="2000" b="1" dirty="0"/>
              <a:t>Gaining Access (Exploitation)</a:t>
            </a:r>
            <a:endParaRPr lang="en-IN" sz="2000" dirty="0"/>
          </a:p>
          <a:p>
            <a:pPr lvl="1" algn="just"/>
            <a:r>
              <a:rPr lang="en-IN" sz="2000" dirty="0"/>
              <a:t>Exploit identified vulnerabilities to gain unauthorized access.</a:t>
            </a:r>
          </a:p>
          <a:p>
            <a:pPr lvl="1" algn="just"/>
            <a:r>
              <a:rPr lang="en-IN" sz="2000" dirty="0"/>
              <a:t>Assess the severity of the vulnerabilities.</a:t>
            </a:r>
          </a:p>
          <a:p>
            <a:pPr lvl="0" algn="just"/>
            <a:r>
              <a:rPr lang="en-IN" sz="2000" b="1" dirty="0"/>
              <a:t>Maintaining Access (Post-Exploitation)</a:t>
            </a:r>
            <a:endParaRPr lang="en-IN" sz="2000" dirty="0"/>
          </a:p>
          <a:p>
            <a:pPr lvl="1" algn="just"/>
            <a:r>
              <a:rPr lang="en-IN" sz="2000" dirty="0"/>
              <a:t>Determine whether persistent access is possible.</a:t>
            </a:r>
          </a:p>
          <a:p>
            <a:pPr lvl="1" algn="just"/>
            <a:r>
              <a:rPr lang="en-IN" sz="2000" dirty="0"/>
              <a:t>Evaluate the potential damage an attacker could cause.</a:t>
            </a:r>
          </a:p>
          <a:p>
            <a:pPr lvl="0" algn="just"/>
            <a:r>
              <a:rPr lang="en-IN" sz="2000" b="1" dirty="0"/>
              <a:t>Analysis and Reporting</a:t>
            </a:r>
            <a:endParaRPr lang="en-IN" sz="2000" dirty="0"/>
          </a:p>
          <a:p>
            <a:pPr lvl="1" algn="just"/>
            <a:r>
              <a:rPr lang="en-IN" sz="2000" dirty="0"/>
              <a:t>Document findings, exploited vulnerabilities, risks, and evidence.</a:t>
            </a:r>
          </a:p>
          <a:p>
            <a:pPr lvl="1" algn="just"/>
            <a:r>
              <a:rPr lang="en-IN" sz="2000" dirty="0"/>
              <a:t>Recommend remediation measures and security improvements.</a:t>
            </a:r>
          </a:p>
          <a:p>
            <a:endParaRPr lang="en-IN" dirty="0"/>
          </a:p>
        </p:txBody>
      </p:sp>
    </p:spTree>
    <p:extLst>
      <p:ext uri="{BB962C8B-B14F-4D97-AF65-F5344CB8AC3E}">
        <p14:creationId xmlns:p14="http://schemas.microsoft.com/office/powerpoint/2010/main" val="1769712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Security Testing</a:t>
            </a:r>
            <a:endParaRPr lang="en-US" altLang="en-US" sz="3200" dirty="0">
              <a:latin typeface="Times New Roman" panose="02020603050405020304" pitchFamily="18" charset="0"/>
              <a:ea typeface="Times New Roman" panose="02020603050405020304" pitchFamily="18" charset="0"/>
            </a:endParaRPr>
          </a:p>
        </p:txBody>
      </p:sp>
      <p:sp>
        <p:nvSpPr>
          <p:cNvPr id="27651" name="Content Placeholder 2"/>
          <p:cNvSpPr>
            <a:spLocks noGrp="1"/>
          </p:cNvSpPr>
          <p:nvPr>
            <p:ph idx="1"/>
          </p:nvPr>
        </p:nvSpPr>
        <p:spPr>
          <a:xfrm>
            <a:off x="152400" y="685800"/>
            <a:ext cx="8839200" cy="6019800"/>
          </a:xfrm>
          <a:ln/>
        </p:spPr>
        <p:txBody>
          <a:bodyPr vert="horz" wrap="square" lIns="91440" tIns="45720" rIns="91440" bIns="45720" anchor="t" anchorCtr="0"/>
          <a:lstStyle/>
          <a:p>
            <a:pPr marL="0" indent="0" eaLnBrk="1" hangingPunct="1">
              <a:buNone/>
            </a:pPr>
            <a:endParaRPr lang="en-US" altLang="en-US" sz="2000" b="1" u="sng" dirty="0">
              <a:latin typeface="Times New Roman" panose="02020603050405020304" pitchFamily="18" charset="0"/>
              <a:cs typeface="Times New Roman" panose="02020603050405020304" pitchFamily="18" charset="0"/>
            </a:endParaRPr>
          </a:p>
          <a:p>
            <a:pPr marL="0" indent="0" eaLnBrk="1" hangingPunct="1">
              <a:buNone/>
            </a:pPr>
            <a:r>
              <a:rPr lang="en-US" altLang="en-US" sz="2000" b="1" u="sng" dirty="0">
                <a:latin typeface="Times New Roman" panose="02020603050405020304" pitchFamily="18" charset="0"/>
                <a:cs typeface="Times New Roman" panose="02020603050405020304" pitchFamily="18" charset="0"/>
              </a:rPr>
              <a:t>What is Security Testing?</a:t>
            </a:r>
          </a:p>
          <a:p>
            <a:pPr marL="0" indent="0" eaLnBrk="1" hangingPunct="1">
              <a:buNone/>
            </a:pPr>
            <a:r>
              <a:rPr lang="en-US" altLang="en-US" sz="2000" dirty="0">
                <a:latin typeface="Times New Roman" panose="02020603050405020304" pitchFamily="18" charset="0"/>
                <a:cs typeface="Times New Roman" panose="02020603050405020304" pitchFamily="18" charset="0"/>
              </a:rPr>
              <a:t>	Security Testing is a type of Software Testing that uncovers vulnerabilities, threats, risks in a software application and prevents malicious attacks from intruders</a:t>
            </a:r>
          </a:p>
          <a:p>
            <a:pPr marL="0" indent="0" eaLnBrk="1" hangingPunct="1">
              <a:buNone/>
            </a:pPr>
            <a:r>
              <a:rPr lang="en-US" altLang="en-US" sz="2000" dirty="0">
                <a:latin typeface="Times New Roman" panose="02020603050405020304" pitchFamily="18" charset="0"/>
                <a:cs typeface="Times New Roman" panose="02020603050405020304" pitchFamily="18" charset="0"/>
              </a:rPr>
              <a:t>. The purpose of Security Tests is to identify all possible </a:t>
            </a:r>
            <a:r>
              <a:rPr lang="en-US" altLang="en-US" sz="2000" dirty="0">
                <a:solidFill>
                  <a:srgbClr val="FF0000"/>
                </a:solidFill>
                <a:latin typeface="Times New Roman" panose="02020603050405020304" pitchFamily="18" charset="0"/>
                <a:cs typeface="Times New Roman" panose="02020603050405020304" pitchFamily="18" charset="0"/>
              </a:rPr>
              <a:t>loopholes</a:t>
            </a:r>
            <a:r>
              <a:rPr lang="en-US" altLang="en-US" sz="2000" dirty="0">
                <a:latin typeface="Times New Roman" panose="02020603050405020304" pitchFamily="18" charset="0"/>
                <a:cs typeface="Times New Roman" panose="02020603050405020304" pitchFamily="18" charset="0"/>
              </a:rPr>
              <a:t> and </a:t>
            </a:r>
            <a:r>
              <a:rPr lang="en-US" altLang="en-US" sz="2000" dirty="0">
                <a:solidFill>
                  <a:srgbClr val="FF0000"/>
                </a:solidFill>
                <a:latin typeface="Times New Roman" panose="02020603050405020304" pitchFamily="18" charset="0"/>
                <a:cs typeface="Times New Roman" panose="02020603050405020304" pitchFamily="18" charset="0"/>
              </a:rPr>
              <a:t>weaknesses</a:t>
            </a:r>
            <a:r>
              <a:rPr lang="en-US" altLang="en-US" sz="2000" dirty="0">
                <a:latin typeface="Times New Roman" panose="02020603050405020304" pitchFamily="18" charset="0"/>
                <a:cs typeface="Times New Roman" panose="02020603050405020304" pitchFamily="18" charset="0"/>
              </a:rPr>
              <a:t> of the software system which might result in a loss of information, revenue, repute at the hands of the employees or outsiders of the Organization.</a:t>
            </a:r>
          </a:p>
          <a:p>
            <a:pPr marL="0" indent="0" eaLnBrk="1" hangingPunct="1">
              <a:buNone/>
            </a:pPr>
            <a:endParaRPr lang="en-US" altLang="en-US" sz="2000" b="1" u="sng" dirty="0">
              <a:latin typeface="Times New Roman" panose="02020603050405020304" pitchFamily="18" charset="0"/>
              <a:cs typeface="Times New Roman" panose="02020603050405020304" pitchFamily="18" charset="0"/>
            </a:endParaRPr>
          </a:p>
          <a:p>
            <a:pPr marL="0" indent="0" eaLnBrk="1" hangingPunct="1">
              <a:buNone/>
            </a:pPr>
            <a:r>
              <a:rPr lang="en-US" altLang="en-US" sz="2000" b="1" u="sng" dirty="0">
                <a:latin typeface="Times New Roman" panose="02020603050405020304" pitchFamily="18" charset="0"/>
                <a:cs typeface="Times New Roman" panose="02020603050405020304" pitchFamily="18" charset="0"/>
              </a:rPr>
              <a:t>Why Security Testing is Important? </a:t>
            </a:r>
          </a:p>
          <a:p>
            <a:pPr marL="0" indent="0" eaLnBrk="1" hangingPunct="1">
              <a:buNone/>
            </a:pPr>
            <a:endParaRPr lang="en-US" altLang="en-US" sz="2000" b="1" u="sng" dirty="0">
              <a:latin typeface="Times New Roman" panose="02020603050405020304" pitchFamily="18" charset="0"/>
              <a:cs typeface="Times New Roman" panose="02020603050405020304" pitchFamily="18" charset="0"/>
            </a:endParaRPr>
          </a:p>
          <a:p>
            <a:pPr marL="0" indent="0" algn="just" eaLnBrk="1" hangingPunct="1">
              <a:buNone/>
            </a:pPr>
            <a:r>
              <a:rPr lang="en-US" altLang="en-US" sz="2000" dirty="0">
                <a:latin typeface="Times New Roman" panose="02020603050405020304" pitchFamily="18" charset="0"/>
                <a:cs typeface="Times New Roman" panose="02020603050405020304" pitchFamily="18" charset="0"/>
              </a:rPr>
              <a:t>	The main goal of Security Testing is to identify the threats in the system and measure its potential vulnerabilities.</a:t>
            </a:r>
          </a:p>
          <a:p>
            <a:pPr marL="0" indent="0" algn="just" eaLnBrk="1" hangingPunct="1">
              <a:buNone/>
            </a:pPr>
            <a:r>
              <a:rPr lang="en-US" altLang="en-US" sz="2000" dirty="0">
                <a:latin typeface="Times New Roman" panose="02020603050405020304" pitchFamily="18" charset="0"/>
                <a:cs typeface="Times New Roman" panose="02020603050405020304" pitchFamily="18" charset="0"/>
              </a:rPr>
              <a:t>The threats can be encountered and the system does not stop functioning or  not be exploited. </a:t>
            </a:r>
          </a:p>
          <a:p>
            <a:pPr marL="0" indent="0" algn="just" eaLnBrk="1" hangingPunct="1">
              <a:buNone/>
            </a:pPr>
            <a:r>
              <a:rPr lang="en-US" altLang="en-US" sz="2000" dirty="0">
                <a:latin typeface="Times New Roman" panose="02020603050405020304" pitchFamily="18" charset="0"/>
                <a:cs typeface="Times New Roman" panose="02020603050405020304" pitchFamily="18" charset="0"/>
              </a:rPr>
              <a:t>It also helps in detecting all possible security risks in the system and helps developers to fix the problems through coding. </a:t>
            </a:r>
            <a:endParaRPr lang="en-US"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59CF-37A4-1EB0-123E-03D9ED35F609}"/>
              </a:ext>
            </a:extLst>
          </p:cNvPr>
          <p:cNvSpPr>
            <a:spLocks noGrp="1"/>
          </p:cNvSpPr>
          <p:nvPr>
            <p:ph type="title"/>
          </p:nvPr>
        </p:nvSpPr>
        <p:spPr>
          <a:xfrm>
            <a:off x="457200" y="274638"/>
            <a:ext cx="8229600" cy="563562"/>
          </a:xfrm>
        </p:spPr>
        <p:txBody>
          <a:bodyPr/>
          <a:lstStyle/>
          <a:p>
            <a:r>
              <a:rPr lang="en-IN" b="1" dirty="0"/>
              <a:t>Common Penetration Testing Tools</a:t>
            </a:r>
            <a:r>
              <a:rPr lang="en-IN" dirty="0"/>
              <a:t/>
            </a:r>
            <a:br>
              <a:rPr lang="en-IN" dirty="0"/>
            </a:br>
            <a:endParaRPr lang="en-IN" dirty="0"/>
          </a:p>
        </p:txBody>
      </p:sp>
      <p:sp>
        <p:nvSpPr>
          <p:cNvPr id="3" name="Content Placeholder 2">
            <a:extLst>
              <a:ext uri="{FF2B5EF4-FFF2-40B4-BE49-F238E27FC236}">
                <a16:creationId xmlns:a16="http://schemas.microsoft.com/office/drawing/2014/main" id="{F171E1C4-27E2-8131-9E80-245F064829AD}"/>
              </a:ext>
            </a:extLst>
          </p:cNvPr>
          <p:cNvSpPr>
            <a:spLocks noGrp="1"/>
          </p:cNvSpPr>
          <p:nvPr>
            <p:ph idx="1"/>
          </p:nvPr>
        </p:nvSpPr>
        <p:spPr>
          <a:xfrm>
            <a:off x="381000" y="1371600"/>
            <a:ext cx="8229600" cy="4525963"/>
          </a:xfrm>
        </p:spPr>
        <p:txBody>
          <a:bodyPr/>
          <a:lstStyle/>
          <a:p>
            <a:pPr lvl="0" algn="just"/>
            <a:r>
              <a:rPr lang="en-IN" sz="2400" b="1" dirty="0"/>
              <a:t>Nmap</a:t>
            </a:r>
            <a:r>
              <a:rPr lang="en-IN" sz="2400" dirty="0"/>
              <a:t> – Network discovery and port scanning.</a:t>
            </a:r>
          </a:p>
          <a:p>
            <a:pPr lvl="0" algn="just"/>
            <a:r>
              <a:rPr lang="en-IN" sz="2400" b="1" dirty="0"/>
              <a:t>Wireshark</a:t>
            </a:r>
            <a:r>
              <a:rPr lang="en-IN" sz="2400" dirty="0"/>
              <a:t> – Network traffic analysis.</a:t>
            </a:r>
          </a:p>
          <a:p>
            <a:pPr lvl="0" algn="just"/>
            <a:r>
              <a:rPr lang="en-IN" sz="2400" b="1" dirty="0"/>
              <a:t>Metasploit Framework</a:t>
            </a:r>
            <a:r>
              <a:rPr lang="en-IN" sz="2400" dirty="0"/>
              <a:t> – Exploitation and vulnerability validation.</a:t>
            </a:r>
          </a:p>
          <a:p>
            <a:pPr lvl="0" algn="just"/>
            <a:r>
              <a:rPr lang="en-IN" sz="2400" b="1" dirty="0"/>
              <a:t>Burp Suite</a:t>
            </a:r>
            <a:r>
              <a:rPr lang="en-IN" sz="2400" dirty="0"/>
              <a:t> – Web application security testing.</a:t>
            </a:r>
          </a:p>
          <a:p>
            <a:pPr lvl="0" algn="just"/>
            <a:r>
              <a:rPr lang="en-IN" sz="2400" b="1" dirty="0" err="1"/>
              <a:t>Nikto</a:t>
            </a:r>
            <a:r>
              <a:rPr lang="en-IN" sz="2400" dirty="0"/>
              <a:t> – Web server vulnerability scanner.</a:t>
            </a:r>
          </a:p>
          <a:p>
            <a:pPr lvl="0" algn="just"/>
            <a:r>
              <a:rPr lang="en-IN" sz="2400" b="1" dirty="0" err="1"/>
              <a:t>SQLMap</a:t>
            </a:r>
            <a:r>
              <a:rPr lang="en-IN" sz="2400" dirty="0"/>
              <a:t> – Automated SQL injection testing.</a:t>
            </a:r>
          </a:p>
          <a:p>
            <a:pPr lvl="0" algn="just"/>
            <a:r>
              <a:rPr lang="en-IN" sz="2400" b="1" dirty="0"/>
              <a:t>John the Ripper</a:t>
            </a:r>
            <a:r>
              <a:rPr lang="en-IN" sz="2400" dirty="0"/>
              <a:t> – Password auditing and recovery.</a:t>
            </a:r>
          </a:p>
          <a:p>
            <a:pPr lvl="0" algn="just"/>
            <a:r>
              <a:rPr lang="en-IN" sz="2400" b="1" dirty="0"/>
              <a:t>OWASP ZAP</a:t>
            </a:r>
            <a:r>
              <a:rPr lang="en-IN" sz="2400" dirty="0"/>
              <a:t> – Web application penetration testing.</a:t>
            </a:r>
          </a:p>
          <a:p>
            <a:endParaRPr lang="en-IN" dirty="0"/>
          </a:p>
        </p:txBody>
      </p:sp>
    </p:spTree>
    <p:extLst>
      <p:ext uri="{BB962C8B-B14F-4D97-AF65-F5344CB8AC3E}">
        <p14:creationId xmlns:p14="http://schemas.microsoft.com/office/powerpoint/2010/main" val="3200684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D44BC-C0BF-7C90-BCA5-54F2CB014749}"/>
              </a:ext>
            </a:extLst>
          </p:cNvPr>
          <p:cNvSpPr>
            <a:spLocks noGrp="1"/>
          </p:cNvSpPr>
          <p:nvPr>
            <p:ph type="title"/>
          </p:nvPr>
        </p:nvSpPr>
        <p:spPr>
          <a:xfrm>
            <a:off x="533400" y="503238"/>
            <a:ext cx="8229600" cy="715962"/>
          </a:xfrm>
        </p:spPr>
        <p:txBody>
          <a:bodyPr/>
          <a:lstStyle/>
          <a:p>
            <a:r>
              <a:rPr lang="en-IN" b="1" dirty="0"/>
              <a:t>Benefits of Penetration Testing</a:t>
            </a:r>
            <a:r>
              <a:rPr lang="en-IN" dirty="0"/>
              <a:t/>
            </a:r>
            <a:br>
              <a:rPr lang="en-IN" dirty="0"/>
            </a:br>
            <a:endParaRPr lang="en-IN" dirty="0"/>
          </a:p>
        </p:txBody>
      </p:sp>
      <p:sp>
        <p:nvSpPr>
          <p:cNvPr id="3" name="Content Placeholder 2">
            <a:extLst>
              <a:ext uri="{FF2B5EF4-FFF2-40B4-BE49-F238E27FC236}">
                <a16:creationId xmlns:a16="http://schemas.microsoft.com/office/drawing/2014/main" id="{7C958295-260E-51C7-EB62-C49FC1534764}"/>
              </a:ext>
            </a:extLst>
          </p:cNvPr>
          <p:cNvSpPr>
            <a:spLocks noGrp="1"/>
          </p:cNvSpPr>
          <p:nvPr>
            <p:ph idx="1"/>
          </p:nvPr>
        </p:nvSpPr>
        <p:spPr>
          <a:xfrm>
            <a:off x="456304" y="1219200"/>
            <a:ext cx="8229600" cy="4525963"/>
          </a:xfrm>
        </p:spPr>
        <p:txBody>
          <a:bodyPr/>
          <a:lstStyle/>
          <a:p>
            <a:pPr lvl="0" algn="just"/>
            <a:r>
              <a:rPr lang="en-IN" sz="2400" dirty="0"/>
              <a:t>Detects vulnerabilities before attackers do.</a:t>
            </a:r>
          </a:p>
          <a:p>
            <a:pPr lvl="0" algn="just"/>
            <a:r>
              <a:rPr lang="en-IN" sz="2400" dirty="0"/>
              <a:t>Reduces the risk of cyberattacks and data breaches.</a:t>
            </a:r>
          </a:p>
          <a:p>
            <a:pPr lvl="0" algn="just"/>
            <a:r>
              <a:rPr lang="en-IN" sz="2400" dirty="0"/>
              <a:t>Validates the effectiveness of security controls.</a:t>
            </a:r>
          </a:p>
          <a:p>
            <a:pPr lvl="0" algn="just"/>
            <a:r>
              <a:rPr lang="en-IN" sz="2400" dirty="0"/>
              <a:t>Helps organizations meet regulatory compliance requirements.</a:t>
            </a:r>
          </a:p>
          <a:p>
            <a:pPr lvl="0" algn="just"/>
            <a:r>
              <a:rPr lang="en-IN" sz="2400" dirty="0"/>
              <a:t>Improves incident response and security awareness.</a:t>
            </a:r>
          </a:p>
          <a:p>
            <a:pPr lvl="0" algn="just"/>
            <a:r>
              <a:rPr lang="en-IN" sz="2400" dirty="0"/>
              <a:t>Protects business reputation and customer trust.</a:t>
            </a:r>
          </a:p>
          <a:p>
            <a:endParaRPr lang="en-IN" dirty="0"/>
          </a:p>
        </p:txBody>
      </p:sp>
    </p:spTree>
    <p:extLst>
      <p:ext uri="{BB962C8B-B14F-4D97-AF65-F5344CB8AC3E}">
        <p14:creationId xmlns:p14="http://schemas.microsoft.com/office/powerpoint/2010/main" val="904582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5ADC-69A4-1D1A-9E59-442533471CDD}"/>
              </a:ext>
            </a:extLst>
          </p:cNvPr>
          <p:cNvSpPr>
            <a:spLocks noGrp="1"/>
          </p:cNvSpPr>
          <p:nvPr>
            <p:ph type="title"/>
          </p:nvPr>
        </p:nvSpPr>
        <p:spPr/>
        <p:txBody>
          <a:bodyPr/>
          <a:lstStyle/>
          <a:p>
            <a:r>
              <a:rPr lang="en-IN" b="1" dirty="0"/>
              <a:t>Limitations</a:t>
            </a:r>
            <a:r>
              <a:rPr lang="en-IN" dirty="0"/>
              <a:t/>
            </a:r>
            <a:br>
              <a:rPr lang="en-IN" dirty="0"/>
            </a:br>
            <a:endParaRPr lang="en-IN" dirty="0"/>
          </a:p>
        </p:txBody>
      </p:sp>
      <p:sp>
        <p:nvSpPr>
          <p:cNvPr id="3" name="Content Placeholder 2">
            <a:extLst>
              <a:ext uri="{FF2B5EF4-FFF2-40B4-BE49-F238E27FC236}">
                <a16:creationId xmlns:a16="http://schemas.microsoft.com/office/drawing/2014/main" id="{2C594A3A-3B2D-1761-137B-58A6521B26F5}"/>
              </a:ext>
            </a:extLst>
          </p:cNvPr>
          <p:cNvSpPr>
            <a:spLocks noGrp="1"/>
          </p:cNvSpPr>
          <p:nvPr>
            <p:ph idx="1"/>
          </p:nvPr>
        </p:nvSpPr>
        <p:spPr/>
        <p:txBody>
          <a:bodyPr/>
          <a:lstStyle/>
          <a:p>
            <a:pPr lvl="0" algn="just"/>
            <a:r>
              <a:rPr lang="en-IN" sz="2400" dirty="0"/>
              <a:t>Provides a snapshot of security at a specific point in time.</a:t>
            </a:r>
          </a:p>
          <a:p>
            <a:pPr lvl="0" algn="just"/>
            <a:r>
              <a:rPr lang="en-IN" sz="2400" dirty="0"/>
              <a:t>Cannot identify every possible vulnerability.</a:t>
            </a:r>
          </a:p>
          <a:p>
            <a:pPr lvl="0" algn="just"/>
            <a:r>
              <a:rPr lang="en-IN" sz="2400" dirty="0"/>
              <a:t>Requires skilled professionals to perform effectively.</a:t>
            </a:r>
          </a:p>
          <a:p>
            <a:pPr lvl="0" algn="just"/>
            <a:r>
              <a:rPr lang="en-IN" sz="2400" dirty="0"/>
              <a:t>Can be time-consuming and costly for large environments.</a:t>
            </a:r>
          </a:p>
          <a:p>
            <a:pPr lvl="0" algn="just"/>
            <a:r>
              <a:rPr lang="en-IN" sz="2400" dirty="0"/>
              <a:t>New vulnerabilities may emerge after testing is completed.</a:t>
            </a:r>
          </a:p>
          <a:p>
            <a:endParaRPr lang="en-IN" dirty="0"/>
          </a:p>
        </p:txBody>
      </p:sp>
    </p:spTree>
    <p:extLst>
      <p:ext uri="{BB962C8B-B14F-4D97-AF65-F5344CB8AC3E}">
        <p14:creationId xmlns:p14="http://schemas.microsoft.com/office/powerpoint/2010/main" val="2773354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 y="76200"/>
            <a:ext cx="8610600" cy="6553200"/>
          </a:xfrm>
        </p:spPr>
      </p:pic>
    </p:spTree>
    <p:extLst>
      <p:ext uri="{BB962C8B-B14F-4D97-AF65-F5344CB8AC3E}">
        <p14:creationId xmlns:p14="http://schemas.microsoft.com/office/powerpoint/2010/main" val="36190532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73696-32BA-0240-7649-2286573CA86C}"/>
              </a:ext>
            </a:extLst>
          </p:cNvPr>
          <p:cNvSpPr>
            <a:spLocks noGrp="1"/>
          </p:cNvSpPr>
          <p:nvPr>
            <p:ph type="title"/>
          </p:nvPr>
        </p:nvSpPr>
        <p:spPr>
          <a:xfrm>
            <a:off x="457200" y="274638"/>
            <a:ext cx="8229600" cy="868362"/>
          </a:xfrm>
        </p:spPr>
        <p:txBody>
          <a:bodyPr/>
          <a:lstStyle/>
          <a:p>
            <a:r>
              <a:rPr lang="en-IN" b="1" dirty="0"/>
              <a:t>Vulnerability Testing </a:t>
            </a:r>
            <a:endParaRPr lang="en-IN" dirty="0"/>
          </a:p>
        </p:txBody>
      </p:sp>
      <p:sp>
        <p:nvSpPr>
          <p:cNvPr id="3" name="Content Placeholder 2">
            <a:extLst>
              <a:ext uri="{FF2B5EF4-FFF2-40B4-BE49-F238E27FC236}">
                <a16:creationId xmlns:a16="http://schemas.microsoft.com/office/drawing/2014/main" id="{7FBA750F-B8A4-B0F0-C425-1B4137E809E0}"/>
              </a:ext>
            </a:extLst>
          </p:cNvPr>
          <p:cNvSpPr>
            <a:spLocks noGrp="1"/>
          </p:cNvSpPr>
          <p:nvPr>
            <p:ph idx="1"/>
          </p:nvPr>
        </p:nvSpPr>
        <p:spPr>
          <a:xfrm>
            <a:off x="457200" y="1600200"/>
            <a:ext cx="8229600" cy="4525963"/>
          </a:xfrm>
        </p:spPr>
        <p:txBody>
          <a:bodyPr/>
          <a:lstStyle/>
          <a:p>
            <a:r>
              <a:rPr lang="en-IN" sz="2400" b="1" dirty="0"/>
              <a:t>Vulnerability Testing</a:t>
            </a:r>
            <a:r>
              <a:rPr lang="en-IN" sz="2400" dirty="0"/>
              <a:t> (also called </a:t>
            </a:r>
            <a:r>
              <a:rPr lang="en-IN" sz="2400" b="1" dirty="0"/>
              <a:t>Vulnerability Assessment</a:t>
            </a:r>
            <a:r>
              <a:rPr lang="en-IN" sz="2400" dirty="0"/>
              <a:t>) is the process of </a:t>
            </a:r>
            <a:r>
              <a:rPr lang="en-IN" sz="2400" b="1" dirty="0"/>
              <a:t>identifying, analyzing, and evaluating security weaknesses (vulnerabilities)</a:t>
            </a:r>
            <a:r>
              <a:rPr lang="en-IN" sz="2400" dirty="0"/>
              <a:t> in computer systems, networks, applications, and devices. </a:t>
            </a:r>
          </a:p>
          <a:p>
            <a:r>
              <a:rPr lang="en-IN" sz="2400" dirty="0"/>
              <a:t>It helps organizations discover potential security flaws before attackers can exploit them.</a:t>
            </a:r>
          </a:p>
          <a:p>
            <a:r>
              <a:rPr lang="en-IN" sz="2400" dirty="0"/>
              <a:t>Unlike penetration testing, vulnerability testing </a:t>
            </a:r>
            <a:r>
              <a:rPr lang="en-IN" sz="2400" b="1" dirty="0"/>
              <a:t>identifies and prioritizes vulnerabilities</a:t>
            </a:r>
            <a:r>
              <a:rPr lang="en-IN" sz="2400" dirty="0"/>
              <a:t> but does not typically attempt to exploit them.</a:t>
            </a:r>
          </a:p>
          <a:p>
            <a:endParaRPr lang="en-IN" dirty="0"/>
          </a:p>
        </p:txBody>
      </p:sp>
    </p:spTree>
    <p:extLst>
      <p:ext uri="{BB962C8B-B14F-4D97-AF65-F5344CB8AC3E}">
        <p14:creationId xmlns:p14="http://schemas.microsoft.com/office/powerpoint/2010/main" val="42525128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8CAD-61A3-5B8C-B2A4-7A8D3959CFF2}"/>
              </a:ext>
            </a:extLst>
          </p:cNvPr>
          <p:cNvSpPr>
            <a:spLocks noGrp="1"/>
          </p:cNvSpPr>
          <p:nvPr>
            <p:ph type="title"/>
          </p:nvPr>
        </p:nvSpPr>
        <p:spPr/>
        <p:txBody>
          <a:bodyPr/>
          <a:lstStyle/>
          <a:p>
            <a:r>
              <a:rPr lang="en-IN" b="1" dirty="0"/>
              <a:t>Objectives of Vulnerability Testing</a:t>
            </a:r>
            <a:br>
              <a:rPr lang="en-IN" b="1" dirty="0"/>
            </a:br>
            <a:endParaRPr lang="en-IN" dirty="0"/>
          </a:p>
        </p:txBody>
      </p:sp>
      <p:sp>
        <p:nvSpPr>
          <p:cNvPr id="3" name="Content Placeholder 2">
            <a:extLst>
              <a:ext uri="{FF2B5EF4-FFF2-40B4-BE49-F238E27FC236}">
                <a16:creationId xmlns:a16="http://schemas.microsoft.com/office/drawing/2014/main" id="{3981E470-925D-9995-FE4B-2C7A15E9D60A}"/>
              </a:ext>
            </a:extLst>
          </p:cNvPr>
          <p:cNvSpPr>
            <a:spLocks noGrp="1"/>
          </p:cNvSpPr>
          <p:nvPr>
            <p:ph idx="1"/>
          </p:nvPr>
        </p:nvSpPr>
        <p:spPr>
          <a:xfrm>
            <a:off x="533400" y="1066800"/>
            <a:ext cx="8229600" cy="4525963"/>
          </a:xfrm>
        </p:spPr>
        <p:txBody>
          <a:bodyPr/>
          <a:lstStyle/>
          <a:p>
            <a:pPr algn="just"/>
            <a:r>
              <a:rPr lang="en-IN" sz="2800" dirty="0"/>
              <a:t>Identify security weaknesses in systems and applications. </a:t>
            </a:r>
          </a:p>
          <a:p>
            <a:pPr algn="just"/>
            <a:r>
              <a:rPr lang="en-IN" sz="2800" dirty="0"/>
              <a:t>Assess the severity of vulnerabilities. </a:t>
            </a:r>
          </a:p>
          <a:p>
            <a:pPr algn="just"/>
            <a:r>
              <a:rPr lang="en-IN" sz="2800" dirty="0"/>
              <a:t>Prioritize vulnerabilities based on risk. </a:t>
            </a:r>
          </a:p>
          <a:p>
            <a:pPr algn="just"/>
            <a:r>
              <a:rPr lang="en-IN" sz="2800" dirty="0"/>
              <a:t>Improve the organization's security posture. </a:t>
            </a:r>
          </a:p>
          <a:p>
            <a:pPr algn="just"/>
            <a:r>
              <a:rPr lang="en-IN" sz="2800" dirty="0"/>
              <a:t>Reduce the likelihood of cyberattacks and data breaches. </a:t>
            </a:r>
          </a:p>
          <a:p>
            <a:pPr algn="just"/>
            <a:r>
              <a:rPr lang="en-IN" sz="2800" dirty="0"/>
              <a:t>Ensure compliance with security standards and regulations</a:t>
            </a:r>
            <a:r>
              <a:rPr lang="en-IN" dirty="0"/>
              <a:t>.</a:t>
            </a:r>
          </a:p>
          <a:p>
            <a:endParaRPr lang="en-IN" dirty="0"/>
          </a:p>
        </p:txBody>
      </p:sp>
    </p:spTree>
    <p:extLst>
      <p:ext uri="{BB962C8B-B14F-4D97-AF65-F5344CB8AC3E}">
        <p14:creationId xmlns:p14="http://schemas.microsoft.com/office/powerpoint/2010/main" val="12627202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97538-2545-835E-4711-236F0158CA38}"/>
              </a:ext>
            </a:extLst>
          </p:cNvPr>
          <p:cNvSpPr>
            <a:spLocks noGrp="1"/>
          </p:cNvSpPr>
          <p:nvPr>
            <p:ph type="title"/>
          </p:nvPr>
        </p:nvSpPr>
        <p:spPr>
          <a:xfrm>
            <a:off x="457200" y="274638"/>
            <a:ext cx="8229600" cy="792162"/>
          </a:xfrm>
        </p:spPr>
        <p:txBody>
          <a:bodyPr/>
          <a:lstStyle/>
          <a:p>
            <a:r>
              <a:rPr lang="en-IN" b="1" dirty="0"/>
              <a:t>Types of Vulnerability Testing</a:t>
            </a:r>
            <a:br>
              <a:rPr lang="en-IN" b="1" dirty="0"/>
            </a:br>
            <a:endParaRPr lang="en-IN" dirty="0"/>
          </a:p>
        </p:txBody>
      </p:sp>
      <p:sp>
        <p:nvSpPr>
          <p:cNvPr id="3" name="Content Placeholder 2">
            <a:extLst>
              <a:ext uri="{FF2B5EF4-FFF2-40B4-BE49-F238E27FC236}">
                <a16:creationId xmlns:a16="http://schemas.microsoft.com/office/drawing/2014/main" id="{806E9948-A838-1DA6-4D32-B89C92133D6B}"/>
              </a:ext>
            </a:extLst>
          </p:cNvPr>
          <p:cNvSpPr>
            <a:spLocks noGrp="1"/>
          </p:cNvSpPr>
          <p:nvPr>
            <p:ph idx="1"/>
          </p:nvPr>
        </p:nvSpPr>
        <p:spPr>
          <a:xfrm>
            <a:off x="474233" y="864964"/>
            <a:ext cx="8229600" cy="5718398"/>
          </a:xfrm>
        </p:spPr>
        <p:txBody>
          <a:bodyPr/>
          <a:lstStyle/>
          <a:p>
            <a:pPr marL="0" indent="0">
              <a:buNone/>
            </a:pPr>
            <a:r>
              <a:rPr lang="en-IN" b="1" dirty="0"/>
              <a:t>1</a:t>
            </a:r>
            <a:r>
              <a:rPr lang="en-IN" sz="2400" b="1" dirty="0"/>
              <a:t>. Network Vulnerability Testing</a:t>
            </a:r>
          </a:p>
          <a:p>
            <a:r>
              <a:rPr lang="en-IN" sz="2400" dirty="0"/>
              <a:t>Detects weaknesses in wired and wireless networks. </a:t>
            </a:r>
          </a:p>
          <a:p>
            <a:r>
              <a:rPr lang="en-IN" sz="2400" dirty="0"/>
              <a:t>Examples: Open ports, weak passwords, insecure protocols. </a:t>
            </a:r>
          </a:p>
          <a:p>
            <a:pPr marL="0" indent="0">
              <a:buNone/>
            </a:pPr>
            <a:r>
              <a:rPr lang="en-IN" sz="2400" b="1" dirty="0"/>
              <a:t>2. Host-Based Vulnerability Testing</a:t>
            </a:r>
          </a:p>
          <a:p>
            <a:r>
              <a:rPr lang="en-IN" sz="2400" dirty="0"/>
              <a:t>Examines servers, desktops, and workstations. </a:t>
            </a:r>
          </a:p>
          <a:p>
            <a:r>
              <a:rPr lang="en-IN" sz="2400" dirty="0"/>
              <a:t>Checks for missing patches, outdated software, and insecure configurations. </a:t>
            </a:r>
          </a:p>
          <a:p>
            <a:pPr marL="0" indent="0">
              <a:buNone/>
            </a:pPr>
            <a:r>
              <a:rPr lang="en-IN" sz="2400" b="1" dirty="0"/>
              <a:t>3. Web Application Vulnerability Testing</a:t>
            </a:r>
          </a:p>
          <a:p>
            <a:r>
              <a:rPr lang="en-IN" sz="2400" dirty="0"/>
              <a:t>Identifies vulnerabilities in websites and web applications. </a:t>
            </a:r>
          </a:p>
          <a:p>
            <a:r>
              <a:rPr lang="en-IN" sz="2400" dirty="0"/>
              <a:t>Examples: </a:t>
            </a:r>
          </a:p>
          <a:p>
            <a:pPr lvl="1"/>
            <a:r>
              <a:rPr lang="en-IN" sz="2400" dirty="0"/>
              <a:t>SQL Injection </a:t>
            </a:r>
          </a:p>
          <a:p>
            <a:pPr lvl="1"/>
            <a:r>
              <a:rPr lang="en-IN" sz="2400" dirty="0"/>
              <a:t>Cross-Site Scripting (XSS) </a:t>
            </a:r>
          </a:p>
          <a:p>
            <a:pPr lvl="1"/>
            <a:r>
              <a:rPr lang="en-IN" sz="2400" dirty="0"/>
              <a:t>Cross-Site Request Forgery (CSRF) </a:t>
            </a:r>
          </a:p>
          <a:p>
            <a:endParaRPr lang="en-IN" dirty="0"/>
          </a:p>
        </p:txBody>
      </p:sp>
    </p:spTree>
    <p:extLst>
      <p:ext uri="{BB962C8B-B14F-4D97-AF65-F5344CB8AC3E}">
        <p14:creationId xmlns:p14="http://schemas.microsoft.com/office/powerpoint/2010/main" val="419715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AAF0E0-3526-EDB3-D88C-A53A8FE76AC3}"/>
              </a:ext>
            </a:extLst>
          </p:cNvPr>
          <p:cNvSpPr>
            <a:spLocks noGrp="1"/>
          </p:cNvSpPr>
          <p:nvPr>
            <p:ph idx="1"/>
          </p:nvPr>
        </p:nvSpPr>
        <p:spPr>
          <a:xfrm>
            <a:off x="304800" y="381000"/>
            <a:ext cx="8229600" cy="5562600"/>
          </a:xfrm>
        </p:spPr>
        <p:txBody>
          <a:bodyPr/>
          <a:lstStyle/>
          <a:p>
            <a:pPr marL="0" indent="0" algn="just">
              <a:buNone/>
            </a:pPr>
            <a:r>
              <a:rPr lang="en-IN" sz="2800" b="1" dirty="0"/>
              <a:t>4. Wireless Vulnerability Testing</a:t>
            </a:r>
          </a:p>
          <a:p>
            <a:pPr lvl="1" algn="just"/>
            <a:r>
              <a:rPr lang="en-IN" sz="2400" dirty="0"/>
              <a:t>Evaluates the security of Wi-Fi networks. </a:t>
            </a:r>
          </a:p>
          <a:p>
            <a:pPr lvl="1" algn="just"/>
            <a:r>
              <a:rPr lang="en-IN" sz="2400" dirty="0"/>
              <a:t>Detects weak encryption and unauthorized access points. </a:t>
            </a:r>
          </a:p>
          <a:p>
            <a:pPr marL="0" indent="0" algn="just">
              <a:buNone/>
            </a:pPr>
            <a:r>
              <a:rPr lang="en-IN" sz="2800" b="1" dirty="0"/>
              <a:t>5. Database Vulnerability Testing</a:t>
            </a:r>
          </a:p>
          <a:p>
            <a:pPr lvl="1" algn="just"/>
            <a:r>
              <a:rPr lang="en-IN" sz="2400" dirty="0"/>
              <a:t>Assesses database security. </a:t>
            </a:r>
          </a:p>
          <a:p>
            <a:pPr lvl="1" algn="just"/>
            <a:r>
              <a:rPr lang="en-IN" sz="2400" dirty="0"/>
              <a:t>Identifies weak authentication, excessive privileges, and insecure configurations. </a:t>
            </a:r>
          </a:p>
          <a:p>
            <a:pPr marL="0" indent="0" algn="just">
              <a:buNone/>
            </a:pPr>
            <a:r>
              <a:rPr lang="en-IN" sz="2800" b="1" dirty="0"/>
              <a:t>6. Mobile Application Vulnerability Testing</a:t>
            </a:r>
          </a:p>
          <a:p>
            <a:pPr lvl="1" algn="just"/>
            <a:r>
              <a:rPr lang="en-IN" sz="2400" dirty="0"/>
              <a:t>Tests Android and iOS applications for security flaws. </a:t>
            </a:r>
          </a:p>
          <a:p>
            <a:endParaRPr lang="en-IN" dirty="0"/>
          </a:p>
        </p:txBody>
      </p:sp>
    </p:spTree>
    <p:extLst>
      <p:ext uri="{BB962C8B-B14F-4D97-AF65-F5344CB8AC3E}">
        <p14:creationId xmlns:p14="http://schemas.microsoft.com/office/powerpoint/2010/main" val="9825075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17106-9E37-67E4-A467-EB1768F2C4FB}"/>
              </a:ext>
            </a:extLst>
          </p:cNvPr>
          <p:cNvSpPr>
            <a:spLocks noGrp="1"/>
          </p:cNvSpPr>
          <p:nvPr>
            <p:ph type="title"/>
          </p:nvPr>
        </p:nvSpPr>
        <p:spPr>
          <a:xfrm>
            <a:off x="457200" y="168275"/>
            <a:ext cx="8229600" cy="563562"/>
          </a:xfrm>
        </p:spPr>
        <p:txBody>
          <a:bodyPr/>
          <a:lstStyle/>
          <a:p>
            <a:r>
              <a:rPr lang="en-IN" b="1" dirty="0"/>
              <a:t/>
            </a:r>
            <a:br>
              <a:rPr lang="en-IN" b="1" dirty="0"/>
            </a:br>
            <a:r>
              <a:rPr lang="en-IN" b="1" dirty="0"/>
              <a:t>Steps in Vulnerability Testing</a:t>
            </a:r>
            <a:br>
              <a:rPr lang="en-IN" b="1" dirty="0"/>
            </a:br>
            <a:endParaRPr lang="en-IN" dirty="0"/>
          </a:p>
        </p:txBody>
      </p:sp>
      <p:sp>
        <p:nvSpPr>
          <p:cNvPr id="3" name="Content Placeholder 2">
            <a:extLst>
              <a:ext uri="{FF2B5EF4-FFF2-40B4-BE49-F238E27FC236}">
                <a16:creationId xmlns:a16="http://schemas.microsoft.com/office/drawing/2014/main" id="{8A37E844-FA42-97B9-7FA3-9BBCBE29A60D}"/>
              </a:ext>
            </a:extLst>
          </p:cNvPr>
          <p:cNvSpPr>
            <a:spLocks noGrp="1"/>
          </p:cNvSpPr>
          <p:nvPr>
            <p:ph idx="1"/>
          </p:nvPr>
        </p:nvSpPr>
        <p:spPr>
          <a:xfrm>
            <a:off x="457200" y="1166018"/>
            <a:ext cx="8229600" cy="4525963"/>
          </a:xfrm>
        </p:spPr>
        <p:txBody>
          <a:bodyPr/>
          <a:lstStyle/>
          <a:p>
            <a:pPr marL="0" indent="0">
              <a:buNone/>
            </a:pPr>
            <a:r>
              <a:rPr lang="en-IN" b="1" dirty="0"/>
              <a:t>1. Asset Identification</a:t>
            </a:r>
          </a:p>
          <a:p>
            <a:r>
              <a:rPr lang="en-IN" dirty="0"/>
              <a:t>Identify systems, devices, applications, and databases to be tested. </a:t>
            </a:r>
          </a:p>
          <a:p>
            <a:pPr marL="0" indent="0">
              <a:buNone/>
            </a:pPr>
            <a:r>
              <a:rPr lang="en-IN" b="1" dirty="0"/>
              <a:t>2. Vulnerability Scanning</a:t>
            </a:r>
          </a:p>
          <a:p>
            <a:r>
              <a:rPr lang="en-IN" dirty="0"/>
              <a:t>Use automated tools to scan for known vulnerabilities. </a:t>
            </a:r>
          </a:p>
          <a:p>
            <a:pPr marL="0" indent="0">
              <a:buNone/>
            </a:pPr>
            <a:r>
              <a:rPr lang="en-IN" b="1" dirty="0"/>
              <a:t>3. Vulnerability Analysis</a:t>
            </a:r>
          </a:p>
          <a:p>
            <a:r>
              <a:rPr lang="en-IN" dirty="0" err="1"/>
              <a:t>Analyze</a:t>
            </a:r>
            <a:r>
              <a:rPr lang="en-IN" dirty="0"/>
              <a:t> scan results. </a:t>
            </a:r>
          </a:p>
          <a:p>
            <a:r>
              <a:rPr lang="en-IN" dirty="0"/>
              <a:t>Eliminate false positives. </a:t>
            </a:r>
          </a:p>
          <a:p>
            <a:endParaRPr lang="en-IN" dirty="0"/>
          </a:p>
        </p:txBody>
      </p:sp>
    </p:spTree>
    <p:extLst>
      <p:ext uri="{BB962C8B-B14F-4D97-AF65-F5344CB8AC3E}">
        <p14:creationId xmlns:p14="http://schemas.microsoft.com/office/powerpoint/2010/main" val="4453919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3AC8BF-FCE0-C3FC-32D7-3DDC535BD00C}"/>
              </a:ext>
            </a:extLst>
          </p:cNvPr>
          <p:cNvSpPr>
            <a:spLocks noGrp="1"/>
          </p:cNvSpPr>
          <p:nvPr>
            <p:ph idx="1"/>
          </p:nvPr>
        </p:nvSpPr>
        <p:spPr>
          <a:xfrm>
            <a:off x="228600" y="304800"/>
            <a:ext cx="8229600" cy="6019800"/>
          </a:xfrm>
        </p:spPr>
        <p:txBody>
          <a:bodyPr/>
          <a:lstStyle/>
          <a:p>
            <a:pPr marL="0" indent="0">
              <a:buNone/>
            </a:pPr>
            <a:r>
              <a:rPr lang="en-IN" b="1" dirty="0"/>
              <a:t>4. Risk Assessment</a:t>
            </a:r>
          </a:p>
          <a:p>
            <a:r>
              <a:rPr lang="en-IN" dirty="0"/>
              <a:t>Classify vulnerabilities based on severity: </a:t>
            </a:r>
          </a:p>
          <a:p>
            <a:pPr lvl="1"/>
            <a:r>
              <a:rPr lang="en-IN" dirty="0"/>
              <a:t>Critical ,</a:t>
            </a:r>
            <a:r>
              <a:rPr lang="en-IN" dirty="0" err="1"/>
              <a:t>High,Medium</a:t>
            </a:r>
            <a:r>
              <a:rPr lang="en-IN" dirty="0"/>
              <a:t> ,Low</a:t>
            </a:r>
          </a:p>
          <a:p>
            <a:pPr marL="0" indent="0">
              <a:buNone/>
            </a:pPr>
            <a:r>
              <a:rPr lang="en-IN" b="1" dirty="0"/>
              <a:t>5. Remediation</a:t>
            </a:r>
          </a:p>
          <a:p>
            <a:r>
              <a:rPr lang="en-IN" dirty="0"/>
              <a:t>Apply security patches. </a:t>
            </a:r>
          </a:p>
          <a:p>
            <a:r>
              <a:rPr lang="en-IN" dirty="0"/>
              <a:t>Fix configuration errors. </a:t>
            </a:r>
          </a:p>
          <a:p>
            <a:r>
              <a:rPr lang="en-IN" dirty="0"/>
              <a:t>Update software. </a:t>
            </a:r>
          </a:p>
          <a:p>
            <a:r>
              <a:rPr lang="en-IN" dirty="0"/>
              <a:t>Strengthen security settings. </a:t>
            </a:r>
          </a:p>
          <a:p>
            <a:pPr marL="0" indent="0">
              <a:buNone/>
            </a:pPr>
            <a:r>
              <a:rPr lang="en-IN" b="1" dirty="0"/>
              <a:t>6. Verification</a:t>
            </a:r>
          </a:p>
          <a:p>
            <a:pPr marL="0" indent="0">
              <a:buNone/>
            </a:pPr>
            <a:r>
              <a:rPr lang="en-IN" dirty="0"/>
              <a:t>Re-scan the systems to ensure vulnerabilities have been resolved. </a:t>
            </a:r>
          </a:p>
          <a:p>
            <a:pPr marL="457200" lvl="1" indent="0">
              <a:buNone/>
            </a:pPr>
            <a:endParaRPr lang="en-IN" dirty="0"/>
          </a:p>
          <a:p>
            <a:endParaRPr lang="en-IN" dirty="0"/>
          </a:p>
        </p:txBody>
      </p:sp>
    </p:spTree>
    <p:extLst>
      <p:ext uri="{BB962C8B-B14F-4D97-AF65-F5344CB8AC3E}">
        <p14:creationId xmlns:p14="http://schemas.microsoft.com/office/powerpoint/2010/main" val="5973983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5C473-AE10-8E2B-9236-AB19B20925B2}"/>
              </a:ext>
            </a:extLst>
          </p:cNvPr>
          <p:cNvSpPr>
            <a:spLocks noGrp="1"/>
          </p:cNvSpPr>
          <p:nvPr>
            <p:ph type="title"/>
          </p:nvPr>
        </p:nvSpPr>
        <p:spPr>
          <a:xfrm>
            <a:off x="457200" y="274638"/>
            <a:ext cx="8229600" cy="715962"/>
          </a:xfrm>
        </p:spPr>
        <p:txBody>
          <a:bodyPr/>
          <a:lstStyle/>
          <a:p>
            <a:r>
              <a:rPr lang="en-IN" b="1" dirty="0"/>
              <a:t>Common Vulnerabilities Detected</a:t>
            </a:r>
            <a:br>
              <a:rPr lang="en-IN" b="1" dirty="0"/>
            </a:br>
            <a:endParaRPr lang="en-IN" dirty="0"/>
          </a:p>
        </p:txBody>
      </p:sp>
      <p:sp>
        <p:nvSpPr>
          <p:cNvPr id="3" name="Content Placeholder 2">
            <a:extLst>
              <a:ext uri="{FF2B5EF4-FFF2-40B4-BE49-F238E27FC236}">
                <a16:creationId xmlns:a16="http://schemas.microsoft.com/office/drawing/2014/main" id="{B771EB13-4D45-B577-BCF9-E815F356C95A}"/>
              </a:ext>
            </a:extLst>
          </p:cNvPr>
          <p:cNvSpPr>
            <a:spLocks noGrp="1"/>
          </p:cNvSpPr>
          <p:nvPr>
            <p:ph idx="1"/>
          </p:nvPr>
        </p:nvSpPr>
        <p:spPr>
          <a:xfrm>
            <a:off x="457200" y="987014"/>
            <a:ext cx="7772400" cy="6238828"/>
          </a:xfrm>
        </p:spPr>
        <p:txBody>
          <a:bodyPr/>
          <a:lstStyle/>
          <a:p>
            <a:r>
              <a:rPr lang="en-IN" sz="2800" dirty="0"/>
              <a:t>Missing software patches </a:t>
            </a:r>
          </a:p>
          <a:p>
            <a:r>
              <a:rPr lang="en-IN" sz="2800" dirty="0"/>
              <a:t>Weak passwords </a:t>
            </a:r>
          </a:p>
          <a:p>
            <a:r>
              <a:rPr lang="en-IN" sz="2800" dirty="0"/>
              <a:t>Open network ports </a:t>
            </a:r>
          </a:p>
          <a:p>
            <a:r>
              <a:rPr lang="en-IN" sz="2800" dirty="0"/>
              <a:t>Misconfigured firewalls </a:t>
            </a:r>
          </a:p>
          <a:p>
            <a:r>
              <a:rPr lang="en-IN" sz="2800" dirty="0"/>
              <a:t>Unencrypted communication </a:t>
            </a:r>
          </a:p>
          <a:p>
            <a:r>
              <a:rPr lang="en-IN" sz="2800" dirty="0"/>
              <a:t>SQL Injection </a:t>
            </a:r>
          </a:p>
          <a:p>
            <a:r>
              <a:rPr lang="en-IN" sz="2800" dirty="0"/>
              <a:t>Cross-Site Scripting (XSS) </a:t>
            </a:r>
          </a:p>
          <a:p>
            <a:r>
              <a:rPr lang="en-IN" sz="2800" dirty="0"/>
              <a:t>Buffer overflow vulnerabilities </a:t>
            </a:r>
          </a:p>
          <a:p>
            <a:r>
              <a:rPr lang="en-IN" sz="2800" dirty="0"/>
              <a:t>Outdated operating systems </a:t>
            </a:r>
          </a:p>
          <a:p>
            <a:r>
              <a:rPr lang="en-IN" sz="2800" dirty="0"/>
              <a:t>Insecure default configurations </a:t>
            </a:r>
          </a:p>
          <a:p>
            <a:pPr marL="0" indent="0">
              <a:buNone/>
            </a:pPr>
            <a:r>
              <a:rPr lang="en-IN" dirty="0"/>
              <a:t/>
            </a:r>
            <a:br>
              <a:rPr lang="en-IN" dirty="0"/>
            </a:br>
            <a:endParaRPr lang="en-IN" dirty="0"/>
          </a:p>
          <a:p>
            <a:endParaRPr lang="en-IN" dirty="0"/>
          </a:p>
        </p:txBody>
      </p:sp>
    </p:spTree>
    <p:extLst>
      <p:ext uri="{BB962C8B-B14F-4D97-AF65-F5344CB8AC3E}">
        <p14:creationId xmlns:p14="http://schemas.microsoft.com/office/powerpoint/2010/main" val="29556284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F9A7727-0DF5-AC7F-7F48-BB25FC9CE100}"/>
              </a:ext>
            </a:extLst>
          </p:cNvPr>
          <p:cNvGraphicFramePr>
            <a:graphicFrameLocks noGrp="1"/>
          </p:cNvGraphicFramePr>
          <p:nvPr>
            <p:ph idx="1"/>
            <p:extLst>
              <p:ext uri="{D42A27DB-BD31-4B8C-83A1-F6EECF244321}">
                <p14:modId xmlns:p14="http://schemas.microsoft.com/office/powerpoint/2010/main" val="3264583808"/>
              </p:ext>
            </p:extLst>
          </p:nvPr>
        </p:nvGraphicFramePr>
        <p:xfrm>
          <a:off x="457200" y="1600200"/>
          <a:ext cx="8229600" cy="4724397"/>
        </p:xfrm>
        <a:graphic>
          <a:graphicData uri="http://schemas.openxmlformats.org/drawingml/2006/table">
            <a:tbl>
              <a:tblPr/>
              <a:tblGrid>
                <a:gridCol w="4114800">
                  <a:extLst>
                    <a:ext uri="{9D8B030D-6E8A-4147-A177-3AD203B41FA5}">
                      <a16:colId xmlns:a16="http://schemas.microsoft.com/office/drawing/2014/main" val="2630298885"/>
                    </a:ext>
                  </a:extLst>
                </a:gridCol>
                <a:gridCol w="4114800">
                  <a:extLst>
                    <a:ext uri="{9D8B030D-6E8A-4147-A177-3AD203B41FA5}">
                      <a16:colId xmlns:a16="http://schemas.microsoft.com/office/drawing/2014/main" val="2607334081"/>
                    </a:ext>
                  </a:extLst>
                </a:gridCol>
              </a:tblGrid>
              <a:tr h="524933">
                <a:tc>
                  <a:txBody>
                    <a:bodyPr/>
                    <a:lstStyle/>
                    <a:p>
                      <a:pPr>
                        <a:buNone/>
                      </a:pPr>
                      <a:r>
                        <a:rPr lang="en-IN"/>
                        <a:t>Tool</a:t>
                      </a:r>
                    </a:p>
                  </a:txBody>
                  <a:tcPr anchor="ctr">
                    <a:lnL>
                      <a:noFill/>
                    </a:lnL>
                    <a:lnR>
                      <a:noFill/>
                    </a:lnR>
                    <a:lnT>
                      <a:noFill/>
                    </a:lnT>
                    <a:lnB>
                      <a:noFill/>
                    </a:lnB>
                    <a:noFill/>
                  </a:tcPr>
                </a:tc>
                <a:tc>
                  <a:txBody>
                    <a:bodyPr/>
                    <a:lstStyle/>
                    <a:p>
                      <a:pPr>
                        <a:buNone/>
                      </a:pPr>
                      <a:r>
                        <a:rPr lang="en-IN"/>
                        <a:t>Purpose</a:t>
                      </a:r>
                    </a:p>
                  </a:txBody>
                  <a:tcPr anchor="ctr">
                    <a:lnL>
                      <a:noFill/>
                    </a:lnL>
                    <a:lnR>
                      <a:noFill/>
                    </a:lnR>
                    <a:lnT>
                      <a:noFill/>
                    </a:lnT>
                    <a:lnB>
                      <a:noFill/>
                    </a:lnB>
                    <a:noFill/>
                  </a:tcPr>
                </a:tc>
                <a:extLst>
                  <a:ext uri="{0D108BD9-81ED-4DB2-BD59-A6C34878D82A}">
                    <a16:rowId xmlns:a16="http://schemas.microsoft.com/office/drawing/2014/main" val="2874043170"/>
                  </a:ext>
                </a:extLst>
              </a:tr>
              <a:tr h="524933">
                <a:tc>
                  <a:txBody>
                    <a:bodyPr/>
                    <a:lstStyle/>
                    <a:p>
                      <a:pPr>
                        <a:buNone/>
                      </a:pPr>
                      <a:r>
                        <a:rPr lang="en-IN"/>
                        <a:t>Nessus</a:t>
                      </a:r>
                    </a:p>
                  </a:txBody>
                  <a:tcPr anchor="ctr">
                    <a:lnL>
                      <a:noFill/>
                    </a:lnL>
                    <a:lnR>
                      <a:noFill/>
                    </a:lnR>
                    <a:lnT>
                      <a:noFill/>
                    </a:lnT>
                    <a:lnB>
                      <a:noFill/>
                    </a:lnB>
                    <a:noFill/>
                  </a:tcPr>
                </a:tc>
                <a:tc>
                  <a:txBody>
                    <a:bodyPr/>
                    <a:lstStyle/>
                    <a:p>
                      <a:pPr>
                        <a:buNone/>
                      </a:pPr>
                      <a:r>
                        <a:rPr lang="en-IN"/>
                        <a:t>Comprehensive vulnerability scanner</a:t>
                      </a:r>
                    </a:p>
                  </a:txBody>
                  <a:tcPr anchor="ctr">
                    <a:lnL>
                      <a:noFill/>
                    </a:lnL>
                    <a:lnR>
                      <a:noFill/>
                    </a:lnR>
                    <a:lnT>
                      <a:noFill/>
                    </a:lnT>
                    <a:lnB>
                      <a:noFill/>
                    </a:lnB>
                    <a:noFill/>
                  </a:tcPr>
                </a:tc>
                <a:extLst>
                  <a:ext uri="{0D108BD9-81ED-4DB2-BD59-A6C34878D82A}">
                    <a16:rowId xmlns:a16="http://schemas.microsoft.com/office/drawing/2014/main" val="447662795"/>
                  </a:ext>
                </a:extLst>
              </a:tr>
              <a:tr h="524933">
                <a:tc>
                  <a:txBody>
                    <a:bodyPr/>
                    <a:lstStyle/>
                    <a:p>
                      <a:pPr>
                        <a:buNone/>
                      </a:pPr>
                      <a:r>
                        <a:rPr lang="en-IN"/>
                        <a:t>OpenVAS (Greenbone)</a:t>
                      </a:r>
                    </a:p>
                  </a:txBody>
                  <a:tcPr anchor="ctr">
                    <a:lnL>
                      <a:noFill/>
                    </a:lnL>
                    <a:lnR>
                      <a:noFill/>
                    </a:lnR>
                    <a:lnT>
                      <a:noFill/>
                    </a:lnT>
                    <a:lnB>
                      <a:noFill/>
                    </a:lnB>
                    <a:noFill/>
                  </a:tcPr>
                </a:tc>
                <a:tc>
                  <a:txBody>
                    <a:bodyPr/>
                    <a:lstStyle/>
                    <a:p>
                      <a:pPr>
                        <a:buNone/>
                      </a:pPr>
                      <a:r>
                        <a:rPr lang="en-IN"/>
                        <a:t>Open-source vulnerability assessment</a:t>
                      </a:r>
                    </a:p>
                  </a:txBody>
                  <a:tcPr anchor="ctr">
                    <a:lnL>
                      <a:noFill/>
                    </a:lnL>
                    <a:lnR>
                      <a:noFill/>
                    </a:lnR>
                    <a:lnT>
                      <a:noFill/>
                    </a:lnT>
                    <a:lnB>
                      <a:noFill/>
                    </a:lnB>
                    <a:noFill/>
                  </a:tcPr>
                </a:tc>
                <a:extLst>
                  <a:ext uri="{0D108BD9-81ED-4DB2-BD59-A6C34878D82A}">
                    <a16:rowId xmlns:a16="http://schemas.microsoft.com/office/drawing/2014/main" val="1276785103"/>
                  </a:ext>
                </a:extLst>
              </a:tr>
              <a:tr h="524933">
                <a:tc>
                  <a:txBody>
                    <a:bodyPr/>
                    <a:lstStyle/>
                    <a:p>
                      <a:pPr>
                        <a:buNone/>
                      </a:pPr>
                      <a:r>
                        <a:rPr lang="en-IN"/>
                        <a:t>Nmap</a:t>
                      </a:r>
                    </a:p>
                  </a:txBody>
                  <a:tcPr anchor="ctr">
                    <a:lnL>
                      <a:noFill/>
                    </a:lnL>
                    <a:lnR>
                      <a:noFill/>
                    </a:lnR>
                    <a:lnT>
                      <a:noFill/>
                    </a:lnT>
                    <a:lnB>
                      <a:noFill/>
                    </a:lnB>
                    <a:noFill/>
                  </a:tcPr>
                </a:tc>
                <a:tc>
                  <a:txBody>
                    <a:bodyPr/>
                    <a:lstStyle/>
                    <a:p>
                      <a:pPr>
                        <a:buNone/>
                      </a:pPr>
                      <a:r>
                        <a:rPr lang="en-IN"/>
                        <a:t>Network discovery and security auditing</a:t>
                      </a:r>
                    </a:p>
                  </a:txBody>
                  <a:tcPr anchor="ctr">
                    <a:lnL>
                      <a:noFill/>
                    </a:lnL>
                    <a:lnR>
                      <a:noFill/>
                    </a:lnR>
                    <a:lnT>
                      <a:noFill/>
                    </a:lnT>
                    <a:lnB>
                      <a:noFill/>
                    </a:lnB>
                    <a:noFill/>
                  </a:tcPr>
                </a:tc>
                <a:extLst>
                  <a:ext uri="{0D108BD9-81ED-4DB2-BD59-A6C34878D82A}">
                    <a16:rowId xmlns:a16="http://schemas.microsoft.com/office/drawing/2014/main" val="2762636927"/>
                  </a:ext>
                </a:extLst>
              </a:tr>
              <a:tr h="524933">
                <a:tc>
                  <a:txBody>
                    <a:bodyPr/>
                    <a:lstStyle/>
                    <a:p>
                      <a:pPr>
                        <a:buNone/>
                      </a:pPr>
                      <a:r>
                        <a:rPr lang="en-IN" dirty="0" err="1"/>
                        <a:t>Nikto</a:t>
                      </a:r>
                      <a:endParaRPr lang="en-IN" dirty="0"/>
                    </a:p>
                  </a:txBody>
                  <a:tcPr anchor="ctr">
                    <a:lnL>
                      <a:noFill/>
                    </a:lnL>
                    <a:lnR>
                      <a:noFill/>
                    </a:lnR>
                    <a:lnT>
                      <a:noFill/>
                    </a:lnT>
                    <a:lnB>
                      <a:noFill/>
                    </a:lnB>
                    <a:noFill/>
                  </a:tcPr>
                </a:tc>
                <a:tc>
                  <a:txBody>
                    <a:bodyPr/>
                    <a:lstStyle/>
                    <a:p>
                      <a:pPr>
                        <a:buNone/>
                      </a:pPr>
                      <a:r>
                        <a:rPr lang="en-IN"/>
                        <a:t>Web server vulnerability scanner</a:t>
                      </a:r>
                    </a:p>
                  </a:txBody>
                  <a:tcPr anchor="ctr">
                    <a:lnL>
                      <a:noFill/>
                    </a:lnL>
                    <a:lnR>
                      <a:noFill/>
                    </a:lnR>
                    <a:lnT>
                      <a:noFill/>
                    </a:lnT>
                    <a:lnB>
                      <a:noFill/>
                    </a:lnB>
                    <a:noFill/>
                  </a:tcPr>
                </a:tc>
                <a:extLst>
                  <a:ext uri="{0D108BD9-81ED-4DB2-BD59-A6C34878D82A}">
                    <a16:rowId xmlns:a16="http://schemas.microsoft.com/office/drawing/2014/main" val="737821425"/>
                  </a:ext>
                </a:extLst>
              </a:tr>
              <a:tr h="524933">
                <a:tc>
                  <a:txBody>
                    <a:bodyPr/>
                    <a:lstStyle/>
                    <a:p>
                      <a:pPr>
                        <a:buNone/>
                      </a:pPr>
                      <a:r>
                        <a:rPr lang="en-IN"/>
                        <a:t>Burp Suite</a:t>
                      </a:r>
                    </a:p>
                  </a:txBody>
                  <a:tcPr anchor="ctr">
                    <a:lnL>
                      <a:noFill/>
                    </a:lnL>
                    <a:lnR>
                      <a:noFill/>
                    </a:lnR>
                    <a:lnT>
                      <a:noFill/>
                    </a:lnT>
                    <a:lnB>
                      <a:noFill/>
                    </a:lnB>
                    <a:noFill/>
                  </a:tcPr>
                </a:tc>
                <a:tc>
                  <a:txBody>
                    <a:bodyPr/>
                    <a:lstStyle/>
                    <a:p>
                      <a:pPr>
                        <a:buNone/>
                      </a:pPr>
                      <a:r>
                        <a:rPr lang="en-IN"/>
                        <a:t>Web application vulnerability testing</a:t>
                      </a:r>
                    </a:p>
                  </a:txBody>
                  <a:tcPr anchor="ctr">
                    <a:lnL>
                      <a:noFill/>
                    </a:lnL>
                    <a:lnR>
                      <a:noFill/>
                    </a:lnR>
                    <a:lnT>
                      <a:noFill/>
                    </a:lnT>
                    <a:lnB>
                      <a:noFill/>
                    </a:lnB>
                    <a:noFill/>
                  </a:tcPr>
                </a:tc>
                <a:extLst>
                  <a:ext uri="{0D108BD9-81ED-4DB2-BD59-A6C34878D82A}">
                    <a16:rowId xmlns:a16="http://schemas.microsoft.com/office/drawing/2014/main" val="3251564826"/>
                  </a:ext>
                </a:extLst>
              </a:tr>
              <a:tr h="524933">
                <a:tc>
                  <a:txBody>
                    <a:bodyPr/>
                    <a:lstStyle/>
                    <a:p>
                      <a:pPr>
                        <a:buNone/>
                      </a:pPr>
                      <a:r>
                        <a:rPr lang="en-IN"/>
                        <a:t>OWASP ZAP</a:t>
                      </a:r>
                    </a:p>
                  </a:txBody>
                  <a:tcPr anchor="ctr">
                    <a:lnL>
                      <a:noFill/>
                    </a:lnL>
                    <a:lnR>
                      <a:noFill/>
                    </a:lnR>
                    <a:lnT>
                      <a:noFill/>
                    </a:lnT>
                    <a:lnB>
                      <a:noFill/>
                    </a:lnB>
                    <a:noFill/>
                  </a:tcPr>
                </a:tc>
                <a:tc>
                  <a:txBody>
                    <a:bodyPr/>
                    <a:lstStyle/>
                    <a:p>
                      <a:pPr>
                        <a:buNone/>
                      </a:pPr>
                      <a:r>
                        <a:rPr lang="en-IN"/>
                        <a:t>Web application security testing</a:t>
                      </a:r>
                    </a:p>
                  </a:txBody>
                  <a:tcPr anchor="ctr">
                    <a:lnL>
                      <a:noFill/>
                    </a:lnL>
                    <a:lnR>
                      <a:noFill/>
                    </a:lnR>
                    <a:lnT>
                      <a:noFill/>
                    </a:lnT>
                    <a:lnB>
                      <a:noFill/>
                    </a:lnB>
                    <a:noFill/>
                  </a:tcPr>
                </a:tc>
                <a:extLst>
                  <a:ext uri="{0D108BD9-81ED-4DB2-BD59-A6C34878D82A}">
                    <a16:rowId xmlns:a16="http://schemas.microsoft.com/office/drawing/2014/main" val="587218009"/>
                  </a:ext>
                </a:extLst>
              </a:tr>
              <a:tr h="524933">
                <a:tc>
                  <a:txBody>
                    <a:bodyPr/>
                    <a:lstStyle/>
                    <a:p>
                      <a:pPr>
                        <a:buNone/>
                      </a:pPr>
                      <a:r>
                        <a:rPr lang="en-IN"/>
                        <a:t>Qualys VMDR</a:t>
                      </a:r>
                    </a:p>
                  </a:txBody>
                  <a:tcPr anchor="ctr">
                    <a:lnL>
                      <a:noFill/>
                    </a:lnL>
                    <a:lnR>
                      <a:noFill/>
                    </a:lnR>
                    <a:lnT>
                      <a:noFill/>
                    </a:lnT>
                    <a:lnB>
                      <a:noFill/>
                    </a:lnB>
                    <a:noFill/>
                  </a:tcPr>
                </a:tc>
                <a:tc>
                  <a:txBody>
                    <a:bodyPr/>
                    <a:lstStyle/>
                    <a:p>
                      <a:pPr>
                        <a:buNone/>
                      </a:pPr>
                      <a:r>
                        <a:rPr lang="en-IN"/>
                        <a:t>Cloud-based vulnerability management</a:t>
                      </a:r>
                    </a:p>
                  </a:txBody>
                  <a:tcPr anchor="ctr">
                    <a:lnL>
                      <a:noFill/>
                    </a:lnL>
                    <a:lnR>
                      <a:noFill/>
                    </a:lnR>
                    <a:lnT>
                      <a:noFill/>
                    </a:lnT>
                    <a:lnB>
                      <a:noFill/>
                    </a:lnB>
                    <a:noFill/>
                  </a:tcPr>
                </a:tc>
                <a:extLst>
                  <a:ext uri="{0D108BD9-81ED-4DB2-BD59-A6C34878D82A}">
                    <a16:rowId xmlns:a16="http://schemas.microsoft.com/office/drawing/2014/main" val="1650940607"/>
                  </a:ext>
                </a:extLst>
              </a:tr>
              <a:tr h="524933">
                <a:tc>
                  <a:txBody>
                    <a:bodyPr/>
                    <a:lstStyle/>
                    <a:p>
                      <a:pPr>
                        <a:buNone/>
                      </a:pPr>
                      <a:r>
                        <a:rPr lang="en-IN"/>
                        <a:t>Acunetix</a:t>
                      </a:r>
                    </a:p>
                  </a:txBody>
                  <a:tcPr anchor="ctr">
                    <a:lnL>
                      <a:noFill/>
                    </a:lnL>
                    <a:lnR>
                      <a:noFill/>
                    </a:lnR>
                    <a:lnT>
                      <a:noFill/>
                    </a:lnT>
                    <a:lnB>
                      <a:noFill/>
                    </a:lnB>
                    <a:noFill/>
                  </a:tcPr>
                </a:tc>
                <a:tc>
                  <a:txBody>
                    <a:bodyPr/>
                    <a:lstStyle/>
                    <a:p>
                      <a:pPr>
                        <a:buNone/>
                      </a:pPr>
                      <a:r>
                        <a:rPr lang="en-IN" dirty="0"/>
                        <a:t>Web vulnerability scanner</a:t>
                      </a:r>
                    </a:p>
                  </a:txBody>
                  <a:tcPr anchor="ctr">
                    <a:lnL>
                      <a:noFill/>
                    </a:lnL>
                    <a:lnR>
                      <a:noFill/>
                    </a:lnR>
                    <a:lnT>
                      <a:noFill/>
                    </a:lnT>
                    <a:lnB>
                      <a:noFill/>
                    </a:lnB>
                    <a:noFill/>
                  </a:tcPr>
                </a:tc>
                <a:extLst>
                  <a:ext uri="{0D108BD9-81ED-4DB2-BD59-A6C34878D82A}">
                    <a16:rowId xmlns:a16="http://schemas.microsoft.com/office/drawing/2014/main" val="3493972641"/>
                  </a:ext>
                </a:extLst>
              </a:tr>
            </a:tbl>
          </a:graphicData>
        </a:graphic>
      </p:graphicFrame>
      <p:sp>
        <p:nvSpPr>
          <p:cNvPr id="8" name="Title 7">
            <a:extLst>
              <a:ext uri="{FF2B5EF4-FFF2-40B4-BE49-F238E27FC236}">
                <a16:creationId xmlns:a16="http://schemas.microsoft.com/office/drawing/2014/main" id="{2154D376-BE4C-0003-E648-8FA24811FA85}"/>
              </a:ext>
            </a:extLst>
          </p:cNvPr>
          <p:cNvSpPr txBox="1">
            <a:spLocks noGrp="1"/>
          </p:cNvSpPr>
          <p:nvPr>
            <p:ph type="title"/>
          </p:nvPr>
        </p:nvSpPr>
        <p:spPr>
          <a:prstGeom prst="rect">
            <a:avLst/>
          </a:prstGeom>
          <a:noFill/>
        </p:spPr>
        <p:txBody>
          <a:bodyPr wrap="square">
            <a:spAutoFit/>
          </a:bodyPr>
          <a:lstStyle/>
          <a:p>
            <a:pPr>
              <a:buNone/>
            </a:pPr>
            <a:r>
              <a:rPr lang="en-IN" b="1" dirty="0"/>
              <a:t>Common Vulnerability Testing Tools</a:t>
            </a:r>
          </a:p>
        </p:txBody>
      </p:sp>
    </p:spTree>
    <p:extLst>
      <p:ext uri="{BB962C8B-B14F-4D97-AF65-F5344CB8AC3E}">
        <p14:creationId xmlns:p14="http://schemas.microsoft.com/office/powerpoint/2010/main" val="328069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91A4A-E6C9-E1D4-1BE3-5338684E2E1A}"/>
              </a:ext>
            </a:extLst>
          </p:cNvPr>
          <p:cNvSpPr>
            <a:spLocks noGrp="1"/>
          </p:cNvSpPr>
          <p:nvPr>
            <p:ph type="title"/>
          </p:nvPr>
        </p:nvSpPr>
        <p:spPr/>
        <p:txBody>
          <a:bodyPr/>
          <a:lstStyle/>
          <a:p>
            <a:r>
              <a:rPr lang="en-IN" b="1" dirty="0"/>
              <a:t>Advantages</a:t>
            </a:r>
            <a:br>
              <a:rPr lang="en-IN" b="1" dirty="0"/>
            </a:br>
            <a:endParaRPr lang="en-IN" dirty="0"/>
          </a:p>
        </p:txBody>
      </p:sp>
      <p:sp>
        <p:nvSpPr>
          <p:cNvPr id="3" name="Content Placeholder 2">
            <a:extLst>
              <a:ext uri="{FF2B5EF4-FFF2-40B4-BE49-F238E27FC236}">
                <a16:creationId xmlns:a16="http://schemas.microsoft.com/office/drawing/2014/main" id="{1D49C576-A629-6BAB-FA81-B2B151A40790}"/>
              </a:ext>
            </a:extLst>
          </p:cNvPr>
          <p:cNvSpPr>
            <a:spLocks noGrp="1"/>
          </p:cNvSpPr>
          <p:nvPr>
            <p:ph idx="1"/>
          </p:nvPr>
        </p:nvSpPr>
        <p:spPr/>
        <p:txBody>
          <a:bodyPr/>
          <a:lstStyle/>
          <a:p>
            <a:pPr algn="just"/>
            <a:r>
              <a:rPr lang="en-IN" dirty="0"/>
              <a:t>Detects security weaknesses early. </a:t>
            </a:r>
          </a:p>
          <a:p>
            <a:pPr algn="just"/>
            <a:r>
              <a:rPr lang="en-IN" dirty="0"/>
              <a:t>Prevents cyberattacks. </a:t>
            </a:r>
          </a:p>
          <a:p>
            <a:pPr algn="just"/>
            <a:r>
              <a:rPr lang="en-IN" dirty="0"/>
              <a:t>Improves system reliability. </a:t>
            </a:r>
          </a:p>
          <a:p>
            <a:pPr algn="just"/>
            <a:r>
              <a:rPr lang="en-IN" dirty="0"/>
              <a:t>Helps meet regulatory compliance. </a:t>
            </a:r>
          </a:p>
          <a:p>
            <a:pPr algn="just"/>
            <a:r>
              <a:rPr lang="en-IN" dirty="0"/>
              <a:t>Prioritizes remediation based on risk. </a:t>
            </a:r>
          </a:p>
          <a:p>
            <a:pPr algn="just"/>
            <a:r>
              <a:rPr lang="en-IN" dirty="0"/>
              <a:t>Reduces financial losses caused by security breaches.</a:t>
            </a:r>
          </a:p>
          <a:p>
            <a:pPr marL="0" indent="0">
              <a:buNone/>
            </a:pPr>
            <a:endParaRPr lang="en-IN" dirty="0"/>
          </a:p>
        </p:txBody>
      </p:sp>
    </p:spTree>
    <p:extLst>
      <p:ext uri="{BB962C8B-B14F-4D97-AF65-F5344CB8AC3E}">
        <p14:creationId xmlns:p14="http://schemas.microsoft.com/office/powerpoint/2010/main" val="22594169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E38CB-20D5-DDFF-FF7E-B3CAA66B55D5}"/>
              </a:ext>
            </a:extLst>
          </p:cNvPr>
          <p:cNvSpPr>
            <a:spLocks noGrp="1"/>
          </p:cNvSpPr>
          <p:nvPr>
            <p:ph type="title"/>
          </p:nvPr>
        </p:nvSpPr>
        <p:spPr>
          <a:xfrm>
            <a:off x="304800" y="460786"/>
            <a:ext cx="8229600" cy="1143000"/>
          </a:xfrm>
        </p:spPr>
        <p:txBody>
          <a:bodyPr/>
          <a:lstStyle/>
          <a:p>
            <a:r>
              <a:rPr lang="en-IN" b="1" dirty="0"/>
              <a:t>Limitations</a:t>
            </a:r>
            <a:br>
              <a:rPr lang="en-IN" b="1" dirty="0"/>
            </a:br>
            <a:endParaRPr lang="en-IN" dirty="0"/>
          </a:p>
        </p:txBody>
      </p:sp>
      <p:sp>
        <p:nvSpPr>
          <p:cNvPr id="3" name="Content Placeholder 2">
            <a:extLst>
              <a:ext uri="{FF2B5EF4-FFF2-40B4-BE49-F238E27FC236}">
                <a16:creationId xmlns:a16="http://schemas.microsoft.com/office/drawing/2014/main" id="{FB32420C-3CDE-E307-5182-7CB139B239D7}"/>
              </a:ext>
            </a:extLst>
          </p:cNvPr>
          <p:cNvSpPr>
            <a:spLocks noGrp="1"/>
          </p:cNvSpPr>
          <p:nvPr>
            <p:ph idx="1"/>
          </p:nvPr>
        </p:nvSpPr>
        <p:spPr/>
        <p:txBody>
          <a:bodyPr/>
          <a:lstStyle/>
          <a:p>
            <a:pPr algn="just"/>
            <a:r>
              <a:rPr lang="en-IN" dirty="0"/>
              <a:t>Cannot identify all vulnerabilities. </a:t>
            </a:r>
          </a:p>
          <a:p>
            <a:pPr algn="just"/>
            <a:r>
              <a:rPr lang="en-IN" dirty="0"/>
              <a:t>May generate false positives or false negatives. </a:t>
            </a:r>
          </a:p>
          <a:p>
            <a:pPr algn="just"/>
            <a:r>
              <a:rPr lang="en-IN" dirty="0"/>
              <a:t>Mostly identifies known vulnerabilities. </a:t>
            </a:r>
          </a:p>
          <a:p>
            <a:pPr algn="just"/>
            <a:r>
              <a:rPr lang="en-IN" dirty="0"/>
              <a:t>Does not demonstrate the real-world impact of exploitation. </a:t>
            </a:r>
          </a:p>
          <a:p>
            <a:pPr algn="just"/>
            <a:r>
              <a:rPr lang="en-IN" dirty="0"/>
              <a:t>Requires regular scanning because new vulnerabilities are continually discovered. </a:t>
            </a:r>
          </a:p>
          <a:p>
            <a:endParaRPr lang="en-IN" dirty="0"/>
          </a:p>
        </p:txBody>
      </p:sp>
    </p:spTree>
    <p:extLst>
      <p:ext uri="{BB962C8B-B14F-4D97-AF65-F5344CB8AC3E}">
        <p14:creationId xmlns:p14="http://schemas.microsoft.com/office/powerpoint/2010/main" val="28806021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6200"/>
            <a:ext cx="8991600" cy="6324600"/>
          </a:xfrm>
        </p:spPr>
      </p:pic>
    </p:spTree>
    <p:extLst>
      <p:ext uri="{BB962C8B-B14F-4D97-AF65-F5344CB8AC3E}">
        <p14:creationId xmlns:p14="http://schemas.microsoft.com/office/powerpoint/2010/main" val="3014022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Security Testing</a:t>
            </a:r>
            <a:endParaRPr lang="en-US" altLang="en-US" sz="32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52400" y="685800"/>
            <a:ext cx="8839200" cy="6019800"/>
          </a:xfrm>
        </p:spPr>
        <p:txBody>
          <a:bodyPr vert="horz" wrap="square" lIns="91440" tIns="45720" rIns="91440" bIns="45720" numCol="1" rtlCol="0" anchor="t" anchorCtr="0" compatLnSpc="1">
            <a:normAutofit lnSpcReduction="10000"/>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Types of Security Testing: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1.Vulnerability Scanning: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This is done through automated software to scan a system against known vulnerability signatures.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2.Security Scanning</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It involves identifying network and system weaknesses, and later provides solutions for reducing these risks. This scanning can be performed for both Manual and Automated scanning.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3.Penetration testing</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This kind of testing simulates an attack from a malicious hacker. This testing involves analysis of a particular system to check for potential vulnerabilities to an external hacking attempt.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4.Risk Assessment</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This testing involves analysis of security risks observed in the organization. Risks are classified as Low, Medium and High. This testing recommends controls and measures to reduce the risk.</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5.Security Auditing</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This is an internal inspection of Applications and Operating systems for security flaws. An audit can also be done via line by line inspection of code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6.Ethical hacking:</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It’s hacking an Organization Software systems. Unlike malicious hackers, who steal for their own gains, the intent is to expose security flaws in the system.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7.Posture Assessment: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This combines Security scanning, Ethical Hacking and Risk Assessments to show an overall security posture of an organization.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Security Testing</a:t>
            </a:r>
            <a:endParaRPr lang="en-US" altLang="en-US" sz="32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52400" y="685800"/>
            <a:ext cx="8839200" cy="6019800"/>
          </a:xfrm>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Example Test Scenarios for Security Testing: Sample Test scenarios to give you a preview of security test cases –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 password should be in encrypted format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Application or System should not allow invalid users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Check cookies and session time for application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For financial sites, the Browser back button should not work.</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Methodologies/ Approach / Techniques for Security Testing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 security testing, different methodologies are followed, and they are as follows: </a:t>
            </a: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Tiger Box: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This hacking is usually done on a laptop which has a collection of OSs and hacking tools. This testing helps penetration testers and security testers to conduct vulnerabilities assessment and attacks.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Black Box: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Tester is authorized to do testing on everything about the network topology and the technology.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Grey Box: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Partial information is given to the tester about the system, and it is a hybrid of white and black box models.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Security Testing</a:t>
            </a:r>
            <a:endParaRPr lang="en-US" altLang="en-US" sz="32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76200" y="533400"/>
            <a:ext cx="8991600" cy="6248400"/>
          </a:xfrm>
        </p:spPr>
        <p:txBody>
          <a:bodyPr vert="horz" wrap="square" lIns="91440" tIns="45720" rIns="91440" bIns="45720" numCol="1" rtlCol="0" anchor="t" anchorCtr="0" compatLnSpc="1">
            <a:normAutofit fontScale="92500" lnSpcReduction="10000"/>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mn-lt"/>
                <a:ea typeface="+mn-ea"/>
                <a:cs typeface="+mn-cs"/>
              </a:rPr>
              <a:t>Security Testing Tool:</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sz="2000" b="1" i="0" u="sng"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Acunetix</a:t>
            </a: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In-built and easy to use, </a:t>
            </a:r>
            <a:r>
              <a:rPr kumimoji="0" lang="en-US" sz="20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Acunetix</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helps small to medium-sized organizations ensure their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web applications are secure from costly data breaches</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It does so by detecting a wide range of web security issues and helping security and development professionals act fast to resolve them.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 </a:t>
            </a: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Intruder:</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Intruder is a powerful, automated penetration testing tool that discovers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security weaknesses across your IT environment</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Offering industry-leading security checks, continuous monitoring and an easy-to-use platform, Intruder keeps businesses of all sizes safe from hackers.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 </a:t>
            </a:r>
            <a:r>
              <a:rPr kumimoji="0" lang="en-US" sz="2000" b="1" i="0" u="sng"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Owasp</a:t>
            </a: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Open Web Application Security Project (OWASP) is a worldwide non-profit organization focused on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improving the security of software</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project has multiple tools to pen test various software environments and protocols.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Flagship tools of the project include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Zed Attack Proxy (ZAP – an integrated penetration testing tool)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OWASP Dependency Check (it scans for project dependencies and checks against know vulnerabilities)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OWASP Web Testing Environment Project (collection of security tools and documentation)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172200"/>
          </a:xfrm>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17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4) </a:t>
            </a:r>
            <a:r>
              <a:rPr kumimoji="0" lang="en-US" sz="1700" b="1" i="0" u="sng"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WireShark</a:t>
            </a:r>
            <a:r>
              <a:rPr kumimoji="0" lang="en-US" sz="1700" b="1"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7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Wireshark is a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network analysis tool </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previously known as Ethereal.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It captures packet in real time and display them in human readable format.</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It is a network packet analyzer which provides the minute details about your network protocols, decryption, packet information, etc.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It is an open source and can be used on Linux, Windows, OS X, Solaris, NetBSD, FreeBSD and many other systems.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information that is retrieved via this tool can be viewed through a GUI or the TTY mode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TShark</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Utility.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17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5) </a:t>
            </a:r>
            <a:r>
              <a:rPr kumimoji="0" lang="en-US" sz="1700" b="1"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W3af:</a:t>
            </a:r>
            <a:r>
              <a:rPr kumimoji="0" lang="en-US" sz="17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W3af is a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web application attack and audit framework</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US" sz="17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It has three types of plugins;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discovery, audit and attack that communicate with each other for any vulnerabilities in site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for example a discovery plugin in w3af looks for different </a:t>
            </a:r>
            <a:r>
              <a:rPr kumimoji="0" 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url’</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to test for vulnerabilities and forward it to the audit plugin which then uses these URL’s to search for vulnerabilities.</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Attack plugin is to exploit the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Vulnerabilites</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International Standards</a:t>
            </a:r>
            <a:endParaRPr lang="en-US" altLang="en-US" sz="32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52400" y="685800"/>
            <a:ext cx="8839200" cy="6019800"/>
          </a:xfrm>
        </p:spPr>
        <p:txBody>
          <a:bodyPr vert="horz" wrap="square" lIns="91440" tIns="45720" rIns="91440" bIns="45720" numCol="1" rtlCol="0" anchor="t" anchorCtr="0" compatLnSpc="1">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To make Cyber Security measures explicit, the written norms are required. These norms are known as standards.</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standards may involve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methods</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guidelines</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reference framework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etc.</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standards include requirements for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developing Information Security management System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(ISMS),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implementing security controls</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and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conducting risk assessments</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goal of security standards is to improve the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security of IT systems</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network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and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critical infrastructure.</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Security standards are provided for all the organizations regardless of the size or the industry and sector in which they operate.</a:t>
            </a:r>
          </a:p>
          <a:p>
            <a:pPr marL="457200" marR="0" lvl="0" indent="-457200" algn="just" defTabSz="914400" rtl="0" eaLnBrk="1" fontAlgn="auto" latinLnBrk="0" hangingPunct="1">
              <a:lnSpc>
                <a:spcPct val="100000"/>
              </a:lnSpc>
              <a:spcBef>
                <a:spcPct val="20000"/>
              </a:spcBef>
              <a:spcAft>
                <a:spcPts val="0"/>
              </a:spcAft>
              <a:buClrTx/>
              <a:buSzTx/>
              <a:buFont typeface="Arial" panose="020B0604020202020204" pitchFamily="34" charset="0"/>
              <a:buAutoNum type="arabicParenR"/>
              <a:defRPr/>
            </a:pPr>
            <a:r>
              <a:rPr kumimoji="0" lang="en-US" sz="24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ISO</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p>
          <a:p>
            <a:pPr marL="457200" marR="0" lvl="0" indent="-4572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It stands for International Organization for Standardization. International standards make things to work.</a:t>
            </a:r>
          </a:p>
          <a:p>
            <a:pPr marL="457200" marR="0" lvl="0" indent="-4572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These standards provide world class specifications for products, services, and computers to ensure quality, safety and efficiency.</a:t>
            </a:r>
          </a:p>
          <a:p>
            <a:pPr marL="457200" marR="0" lvl="0" indent="-4572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ISO standard officially established on 23/02/1947. it is an independent, non-governmental international organization.</a:t>
            </a:r>
          </a:p>
          <a:p>
            <a:pPr marL="457200" marR="0" lvl="0" indent="-4572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International Standards</a:t>
            </a:r>
            <a:endParaRPr lang="en-US" altLang="en-US" sz="3200" dirty="0">
              <a:latin typeface="Times New Roman" panose="02020603050405020304" pitchFamily="18" charset="0"/>
              <a:ea typeface="Times New Roman" panose="02020603050405020304" pitchFamily="18" charset="0"/>
            </a:endParaRPr>
          </a:p>
        </p:txBody>
      </p:sp>
      <p:sp>
        <p:nvSpPr>
          <p:cNvPr id="33795" name="Content Placeholder 2"/>
          <p:cNvSpPr>
            <a:spLocks noGrp="1"/>
          </p:cNvSpPr>
          <p:nvPr>
            <p:ph idx="1"/>
          </p:nvPr>
        </p:nvSpPr>
        <p:spPr>
          <a:xfrm>
            <a:off x="152400" y="685800"/>
            <a:ext cx="8839200" cy="6019800"/>
          </a:xfrm>
          <a:ln/>
        </p:spPr>
        <p:txBody>
          <a:bodyPr vert="horz" wrap="square" lIns="91440" tIns="45720" rIns="91440" bIns="45720" anchor="t" anchorCtr="0"/>
          <a:lstStyle/>
          <a:p>
            <a:pPr algn="just" eaLnBrk="1" hangingPunct="1"/>
            <a:r>
              <a:rPr lang="en-US" altLang="en-US" sz="2000" dirty="0">
                <a:latin typeface="Times New Roman" panose="02020603050405020304" pitchFamily="18" charset="0"/>
                <a:cs typeface="Times New Roman" panose="02020603050405020304" pitchFamily="18" charset="0"/>
              </a:rPr>
              <a:t>Today it has a membership of  162 national standard bodies, and 784 technical committees &amp; sub-committees to take care of standard development.</a:t>
            </a:r>
          </a:p>
          <a:p>
            <a:pPr algn="just" eaLnBrk="1" hangingPunct="1"/>
            <a:r>
              <a:rPr lang="en-US" altLang="en-US" sz="2000" dirty="0">
                <a:latin typeface="Times New Roman" panose="02020603050405020304" pitchFamily="18" charset="0"/>
                <a:cs typeface="Times New Roman" panose="02020603050405020304" pitchFamily="18" charset="0"/>
              </a:rPr>
              <a:t>ISO has published over 22336 international standards and its related documents which covers almost every industry from IT to agriculture &amp; Healthcare.</a:t>
            </a:r>
          </a:p>
          <a:p>
            <a:pPr algn="just" eaLnBrk="1" hangingPunct="1">
              <a:buNone/>
            </a:pPr>
            <a:r>
              <a:rPr lang="en-US" altLang="en-US" sz="2000" b="1" u="sng" dirty="0">
                <a:latin typeface="Times New Roman" panose="02020603050405020304" pitchFamily="18" charset="0"/>
                <a:cs typeface="Times New Roman" panose="02020603050405020304" pitchFamily="18" charset="0"/>
              </a:rPr>
              <a:t> a) ISO 27000 series</a:t>
            </a:r>
            <a:r>
              <a:rPr lang="en-US" altLang="en-US" sz="2000" dirty="0">
                <a:latin typeface="Times New Roman" panose="02020603050405020304" pitchFamily="18" charset="0"/>
                <a:cs typeface="Times New Roman" panose="02020603050405020304" pitchFamily="18" charset="0"/>
              </a:rPr>
              <a:t>: </a:t>
            </a:r>
          </a:p>
          <a:p>
            <a:pPr algn="just" eaLnBrk="1" hangingPunct="1"/>
            <a:r>
              <a:rPr lang="en-US" altLang="en-US" sz="2000" dirty="0">
                <a:latin typeface="Times New Roman" panose="02020603050405020304" pitchFamily="18" charset="0"/>
                <a:cs typeface="Times New Roman" panose="02020603050405020304" pitchFamily="18" charset="0"/>
              </a:rPr>
              <a:t>it is the family of ISO standard which is developed by the ISO and the IEC(International Electro-technical Commission) to provide globally recognized framework for best IT management.</a:t>
            </a:r>
          </a:p>
          <a:p>
            <a:pPr algn="just" eaLnBrk="1" hangingPunct="1"/>
            <a:r>
              <a:rPr lang="en-US" altLang="en-US" sz="2000" dirty="0">
                <a:latin typeface="Times New Roman" panose="02020603050405020304" pitchFamily="18" charset="0"/>
                <a:cs typeface="Times New Roman" panose="02020603050405020304" pitchFamily="18" charset="0"/>
              </a:rPr>
              <a:t>The need of ISO 27000 series arise because of risk of cyber attacks which the organization face.</a:t>
            </a:r>
          </a:p>
          <a:p>
            <a:pPr algn="just" eaLnBrk="1" hangingPunct="1"/>
            <a:r>
              <a:rPr lang="en-US" altLang="en-US" sz="2000" dirty="0">
                <a:latin typeface="Times New Roman" panose="02020603050405020304" pitchFamily="18" charset="0"/>
                <a:cs typeface="Times New Roman" panose="02020603050405020304" pitchFamily="18" charset="0"/>
              </a:rPr>
              <a:t>The ISO 27000 series categorized into many types they are: </a:t>
            </a:r>
          </a:p>
          <a:p>
            <a:pPr algn="just" eaLnBrk="1" hangingPunct="1">
              <a:buNone/>
            </a:pPr>
            <a:r>
              <a:rPr lang="en-US" altLang="en-US" sz="2000" dirty="0">
                <a:latin typeface="Times New Roman" panose="02020603050405020304" pitchFamily="18" charset="0"/>
                <a:cs typeface="Times New Roman" panose="02020603050405020304" pitchFamily="18" charset="0"/>
              </a:rPr>
              <a:t>	i) </a:t>
            </a:r>
            <a:r>
              <a:rPr lang="en-US" altLang="en-US" sz="2000" b="1" u="sng" dirty="0">
                <a:latin typeface="Times New Roman" panose="02020603050405020304" pitchFamily="18" charset="0"/>
                <a:cs typeface="Times New Roman" panose="02020603050405020304" pitchFamily="18" charset="0"/>
              </a:rPr>
              <a:t>ISO 27001</a:t>
            </a:r>
            <a:r>
              <a:rPr lang="en-US" altLang="en-US" sz="2000" dirty="0">
                <a:latin typeface="Times New Roman" panose="02020603050405020304" pitchFamily="18" charset="0"/>
                <a:cs typeface="Times New Roman" panose="02020603050405020304" pitchFamily="18" charset="0"/>
              </a:rPr>
              <a:t>: this standard allows us to prove clients &amp; stakeholders for any organization to managing the best security of their confidential data and information. This standard involve </a:t>
            </a:r>
            <a:r>
              <a:rPr lang="en-US" altLang="en-US" sz="2000" b="1" dirty="0">
                <a:latin typeface="Times New Roman" panose="02020603050405020304" pitchFamily="18" charset="0"/>
                <a:cs typeface="Times New Roman" panose="02020603050405020304" pitchFamily="18" charset="0"/>
              </a:rPr>
              <a:t>a process-based approach </a:t>
            </a:r>
            <a:r>
              <a:rPr lang="en-US" altLang="en-US" sz="2000" dirty="0">
                <a:latin typeface="Times New Roman" panose="02020603050405020304" pitchFamily="18" charset="0"/>
                <a:cs typeface="Times New Roman" panose="02020603050405020304" pitchFamily="18" charset="0"/>
              </a:rPr>
              <a:t>establishing  , implementing, operations , monitoring and maintaining and improve our ISMS.</a:t>
            </a:r>
          </a:p>
          <a:p>
            <a:pPr algn="just" eaLnBrk="1" hangingPunct="1">
              <a:buNone/>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ii) ISO 27000: </a:t>
            </a:r>
            <a:r>
              <a:rPr lang="en-US" altLang="en-US" sz="2000" dirty="0">
                <a:latin typeface="Times New Roman" panose="02020603050405020304" pitchFamily="18" charset="0"/>
                <a:cs typeface="Times New Roman" panose="02020603050405020304" pitchFamily="18" charset="0"/>
              </a:rPr>
              <a:t>this standard provides an explanation of terminologies used in  ISO 27001 </a:t>
            </a:r>
            <a:endParaRPr lang="en-US"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International Standards</a:t>
            </a:r>
            <a:endParaRPr lang="en-US" altLang="en-US" sz="3200" dirty="0">
              <a:latin typeface="Times New Roman" panose="02020603050405020304" pitchFamily="18" charset="0"/>
              <a:ea typeface="Times New Roman" panose="02020603050405020304" pitchFamily="18" charset="0"/>
            </a:endParaRPr>
          </a:p>
        </p:txBody>
      </p:sp>
      <p:sp>
        <p:nvSpPr>
          <p:cNvPr id="34819" name="Content Placeholder 2"/>
          <p:cNvSpPr>
            <a:spLocks noGrp="1"/>
          </p:cNvSpPr>
          <p:nvPr>
            <p:ph idx="1"/>
          </p:nvPr>
        </p:nvSpPr>
        <p:spPr>
          <a:xfrm>
            <a:off x="152400" y="685800"/>
            <a:ext cx="8839200" cy="6019800"/>
          </a:xfrm>
          <a:ln/>
        </p:spPr>
        <p:txBody>
          <a:bodyPr vert="horz" wrap="square" lIns="91440" tIns="45720" rIns="91440" bIns="45720" anchor="t" anchorCtr="0"/>
          <a:lstStyle/>
          <a:p>
            <a:pPr algn="just" eaLnBrk="1" hangingPunct="1">
              <a:buNone/>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iii) </a:t>
            </a:r>
            <a:r>
              <a:rPr lang="en-US" altLang="en-US" sz="2000" b="1" u="sng" dirty="0">
                <a:latin typeface="Times New Roman" panose="02020603050405020304" pitchFamily="18" charset="0"/>
                <a:cs typeface="Times New Roman" panose="02020603050405020304" pitchFamily="18" charset="0"/>
              </a:rPr>
              <a:t>ISO 270</a:t>
            </a:r>
            <a:r>
              <a:rPr lang="en-US" altLang="en-US" sz="2000" b="1" dirty="0">
                <a:latin typeface="Times New Roman" panose="02020603050405020304" pitchFamily="18" charset="0"/>
                <a:cs typeface="Times New Roman" panose="02020603050405020304" pitchFamily="18" charset="0"/>
              </a:rPr>
              <a:t>02: </a:t>
            </a:r>
            <a:r>
              <a:rPr lang="en-US" altLang="en-US" sz="2000" dirty="0">
                <a:latin typeface="Times New Roman" panose="02020603050405020304" pitchFamily="18" charset="0"/>
                <a:cs typeface="Times New Roman" panose="02020603050405020304" pitchFamily="18" charset="0"/>
              </a:rPr>
              <a:t>This standard provides </a:t>
            </a:r>
            <a:r>
              <a:rPr lang="en-US" altLang="en-US" sz="2000" b="1" dirty="0">
                <a:latin typeface="Times New Roman" panose="02020603050405020304" pitchFamily="18" charset="0"/>
                <a:cs typeface="Times New Roman" panose="02020603050405020304" pitchFamily="18" charset="0"/>
              </a:rPr>
              <a:t>guidelines for organizational IS standards and IS management practices</a:t>
            </a:r>
            <a:r>
              <a:rPr lang="en-US" altLang="en-US" sz="2000" dirty="0">
                <a:latin typeface="Times New Roman" panose="02020603050405020304" pitchFamily="18" charset="0"/>
                <a:cs typeface="Times New Roman" panose="02020603050405020304" pitchFamily="18" charset="0"/>
              </a:rPr>
              <a:t>. IT includes selection, implementation, operating and management of controls taking into consideration of organizational IS risk environment.</a:t>
            </a:r>
          </a:p>
          <a:p>
            <a:pPr algn="just" eaLnBrk="1" hangingPunct="1">
              <a:buNone/>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iv) </a:t>
            </a:r>
            <a:r>
              <a:rPr lang="en-US" altLang="en-US" sz="2000" b="1" u="sng" dirty="0">
                <a:latin typeface="Times New Roman" panose="02020603050405020304" pitchFamily="18" charset="0"/>
                <a:cs typeface="Times New Roman" panose="02020603050405020304" pitchFamily="18" charset="0"/>
              </a:rPr>
              <a:t>ISO 27005: </a:t>
            </a:r>
            <a:r>
              <a:rPr lang="en-US" altLang="en-US" sz="2000" dirty="0">
                <a:latin typeface="Times New Roman" panose="02020603050405020304" pitchFamily="18" charset="0"/>
                <a:cs typeface="Times New Roman" panose="02020603050405020304" pitchFamily="18" charset="0"/>
              </a:rPr>
              <a:t>This standard supports general concepts specification 27001. It is designed to provide the guidelines for implementation of IS based on a risk management approach.  </a:t>
            </a:r>
          </a:p>
          <a:p>
            <a:pPr algn="just" eaLnBrk="1" hangingPunct="1">
              <a:buNone/>
            </a:pPr>
            <a:r>
              <a:rPr lang="en-US" altLang="en-US" sz="2000" dirty="0">
                <a:latin typeface="Times New Roman" panose="02020603050405020304" pitchFamily="18" charset="0"/>
                <a:cs typeface="Times New Roman" panose="02020603050405020304" pitchFamily="18" charset="0"/>
              </a:rPr>
              <a:t>	To completely understand the ISO/IEC 27005, the knowledge of the concepts, models, processes and terminologies described in ISO/IEC 27001, and ISO/IEC 27002 is required.</a:t>
            </a:r>
          </a:p>
          <a:p>
            <a:pPr algn="just" eaLnBrk="1" hangingPunct="1">
              <a:buNone/>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v) </a:t>
            </a:r>
            <a:r>
              <a:rPr lang="en-US" altLang="en-US" sz="2000" b="1" u="sng" dirty="0">
                <a:latin typeface="Times New Roman" panose="02020603050405020304" pitchFamily="18" charset="0"/>
                <a:cs typeface="Times New Roman" panose="02020603050405020304" pitchFamily="18" charset="0"/>
              </a:rPr>
              <a:t>ISO 27032</a:t>
            </a:r>
            <a:r>
              <a:rPr lang="en-US" altLang="en-US" sz="2000" dirty="0">
                <a:latin typeface="Times New Roman" panose="02020603050405020304" pitchFamily="18" charset="0"/>
                <a:cs typeface="Times New Roman" panose="02020603050405020304" pitchFamily="18" charset="0"/>
              </a:rPr>
              <a:t>:  it is the international standard which focuses explicitly on cyber security. This standard includes guidelines for protecting the information beyond the borders of an organization such as in collaborations, partnerships or other information sharing arrangements with clients and suppliers.</a:t>
            </a:r>
          </a:p>
          <a:p>
            <a:pPr algn="just" eaLnBrk="1" hangingPunct="1">
              <a:buNone/>
            </a:pPr>
            <a:r>
              <a:rPr lang="en-US" altLang="en-US" sz="2000" dirty="0">
                <a:latin typeface="Times New Roman" panose="02020603050405020304" pitchFamily="18" charset="0"/>
                <a:cs typeface="Times New Roman" panose="02020603050405020304" pitchFamily="18" charset="0"/>
              </a:rPr>
              <a:t> </a:t>
            </a:r>
            <a:endParaRPr lang="en-US"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52400" y="76200"/>
            <a:ext cx="8839200" cy="762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Analysis and Logging</a:t>
            </a:r>
            <a:endParaRPr lang="en-US" altLang="en-US" sz="32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0" y="838200"/>
            <a:ext cx="8839200" cy="6019800"/>
          </a:xfrm>
        </p:spPr>
        <p:txBody>
          <a:bodyPr vert="horz" wrap="square" lIns="91440" tIns="45720" rIns="91440" bIns="45720" numCol="1" rtlCol="0" anchor="t" anchorCtr="0" compatLnSpc="1">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What is Security Logging and Analysis or Monitoring?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Security event logging and analysis are two parts of a  process that is integral to the maintenance of a secure infrastructure.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Every activity on your environment, from emails to logins to firewall updates, is considered a security event.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All of these events are, (or should be,) logged in order to keep tabs on everything that’s happening in your technology .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When it comes to monitoring those logs, organizations will examine the electronic audit log files of confidential information for signs of unauthorized activities.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If unauthorized activities (or attempts thereof) are found, the data will be moved to a central database for additional investigations and necessary action.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In a time where digital threats are widespread and ever-changing, the data collected from these log files is vital in keeping the infrastructure active and responsive.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152400" y="76200"/>
            <a:ext cx="8839200" cy="762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Analysis and Logging</a:t>
            </a:r>
            <a:endParaRPr lang="en-US" altLang="en-US" sz="3200" dirty="0">
              <a:latin typeface="Times New Roman" panose="02020603050405020304" pitchFamily="18" charset="0"/>
              <a:ea typeface="Times New Roman" panose="02020603050405020304" pitchFamily="18" charset="0"/>
            </a:endParaRPr>
          </a:p>
        </p:txBody>
      </p:sp>
      <p:sp>
        <p:nvSpPr>
          <p:cNvPr id="36867" name="Content Placeholder 2"/>
          <p:cNvSpPr>
            <a:spLocks noGrp="1"/>
          </p:cNvSpPr>
          <p:nvPr>
            <p:ph idx="1"/>
          </p:nvPr>
        </p:nvSpPr>
        <p:spPr>
          <a:xfrm>
            <a:off x="152400" y="1371600"/>
            <a:ext cx="8839200" cy="5029200"/>
          </a:xfrm>
          <a:ln/>
        </p:spPr>
        <p:txBody>
          <a:bodyPr vert="horz" wrap="square" lIns="91440" tIns="45720" rIns="91440" bIns="45720" anchor="t" anchorCtr="0"/>
          <a:lstStyle/>
          <a:p>
            <a:pPr eaLnBrk="1" hangingPunct="1"/>
            <a:r>
              <a:rPr lang="en-US" altLang="en-US" sz="2000" b="1" u="sng" dirty="0">
                <a:latin typeface="Times New Roman" panose="02020603050405020304" pitchFamily="18" charset="0"/>
                <a:cs typeface="Times New Roman" panose="02020603050405020304" pitchFamily="18" charset="0"/>
              </a:rPr>
              <a:t>How does it work?</a:t>
            </a:r>
          </a:p>
          <a:p>
            <a:pPr algn="just" eaLnBrk="1" hangingPunct="1"/>
            <a:r>
              <a:rPr lang="en-US" altLang="en-US" sz="2400" dirty="0">
                <a:latin typeface="Times New Roman" panose="02020603050405020304" pitchFamily="18" charset="0"/>
                <a:cs typeface="Times New Roman" panose="02020603050405020304" pitchFamily="18" charset="0"/>
              </a:rPr>
              <a:t> Security event logging and monitoring can only work when it is part of an effective data collection and analysis process. </a:t>
            </a:r>
          </a:p>
          <a:p>
            <a:pPr algn="just" eaLnBrk="1" hangingPunct="1"/>
            <a:r>
              <a:rPr lang="en-US" altLang="en-US" sz="2400" dirty="0">
                <a:latin typeface="Times New Roman" panose="02020603050405020304" pitchFamily="18" charset="0"/>
                <a:cs typeface="Times New Roman" panose="02020603050405020304" pitchFamily="18" charset="0"/>
              </a:rPr>
              <a:t>Security logs often contain a massive of data. So much of it that it will be near impossible for a human eye to effectively identify threats within it. </a:t>
            </a:r>
          </a:p>
          <a:p>
            <a:pPr algn="just" eaLnBrk="1" hangingPunct="1"/>
            <a:r>
              <a:rPr lang="en-US" altLang="en-US" sz="2400" dirty="0">
                <a:latin typeface="Times New Roman" panose="02020603050405020304" pitchFamily="18" charset="0"/>
                <a:cs typeface="Times New Roman" panose="02020603050405020304" pitchFamily="18" charset="0"/>
              </a:rPr>
              <a:t>This means there will often be missed security incidents, false flags, and duplicate information. </a:t>
            </a:r>
          </a:p>
          <a:p>
            <a:pPr algn="just" eaLnBrk="1" hangingPunct="1"/>
            <a:r>
              <a:rPr lang="en-US" altLang="en-US" sz="2400" dirty="0">
                <a:latin typeface="Times New Roman" panose="02020603050405020304" pitchFamily="18" charset="0"/>
                <a:cs typeface="Times New Roman" panose="02020603050405020304" pitchFamily="18" charset="0"/>
              </a:rPr>
              <a:t>This means that the key to effective Security Logging and Monitoring processes is the ability to clear out unnecessary information. To focus exclusively on critical events that could compromise the integrity and/or availability of the confidential information.</a:t>
            </a:r>
            <a:endParaRPr lang="en-US"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Analysis and Logging</a:t>
            </a:r>
            <a:endParaRPr lang="en-US" altLang="en-US" sz="32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52400" y="1066800"/>
            <a:ext cx="8839200" cy="5257800"/>
          </a:xfrm>
        </p:spPr>
        <p:txBody>
          <a:bodyPr vert="horz" wrap="square" lIns="91440" tIns="45720" rIns="91440" bIns="45720" numCol="1" rtlCol="0" anchor="t" anchorCtr="0" compatLnSpc="1">
            <a:normAutofit/>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An effective log data collection and analysis process should incorporate tools to quickly and easily review audit logs for evidence of critical events like:</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Reconnaissance against your environment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where opponents perform research on your environment… that could make you their next target.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Weaponization</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an intrusion within your environment where opponents have decided to take action against your network and IT systems.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Delivery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the demonstration of an exploit against a vulnerability within your network or IT systems.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Installation of malware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observed when an opponent has modified native functionality in your environment to maintain persistence.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Command and Control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when criminal hackers gain access to your server and systems and effectively take control of your environment. </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Action begins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determining what the opponent actions and maintaining visibility to them at all times are critical, you want to understand their desired goal and prevent the successful intrusion.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Analysis and Logging</a:t>
            </a:r>
            <a:endParaRPr lang="en-US" altLang="en-US" sz="3200" dirty="0">
              <a:latin typeface="Times New Roman" panose="02020603050405020304" pitchFamily="18" charset="0"/>
              <a:ea typeface="Times New Roman" panose="02020603050405020304" pitchFamily="18" charset="0"/>
            </a:endParaRPr>
          </a:p>
        </p:txBody>
      </p:sp>
      <p:sp>
        <p:nvSpPr>
          <p:cNvPr id="46083" name="Content Placeholder 2"/>
          <p:cNvSpPr>
            <a:spLocks noGrp="1"/>
          </p:cNvSpPr>
          <p:nvPr>
            <p:ph idx="1"/>
          </p:nvPr>
        </p:nvSpPr>
        <p:spPr>
          <a:xfrm>
            <a:off x="152400" y="1143000"/>
            <a:ext cx="8839200" cy="6019800"/>
          </a:xfrm>
        </p:spPr>
        <p:txBody>
          <a:bodyPr vert="horz" wrap="square" lIns="91440" tIns="45720" rIns="91440" bIns="45720" numCol="1" anchor="t" anchorCtr="0" compatLnSpc="1"/>
          <a:lstStyle/>
          <a:p>
            <a:pPr marL="0" indent="0" eaLnBrk="1" hangingPunct="1">
              <a:buNone/>
            </a:pPr>
            <a:r>
              <a:rPr lang="en-US" altLang="en-US" sz="2000" b="1" dirty="0">
                <a:latin typeface="Times New Roman" panose="02020603050405020304" pitchFamily="18" charset="0"/>
                <a:cs typeface="Times New Roman" panose="02020603050405020304" pitchFamily="18" charset="0"/>
              </a:rPr>
              <a:t>Benefits of security Analyzing and Logging: </a:t>
            </a:r>
          </a:p>
          <a:p>
            <a:pPr marL="0" indent="0" algn="just" eaLnBrk="1" hangingPunct="1">
              <a:buNone/>
            </a:pPr>
            <a:r>
              <a:rPr lang="en-US" altLang="en-US" sz="2000" dirty="0">
                <a:latin typeface="Times New Roman" panose="02020603050405020304" pitchFamily="18" charset="0"/>
                <a:cs typeface="Times New Roman" panose="02020603050405020304" pitchFamily="18" charset="0"/>
              </a:rPr>
              <a:t> </a:t>
            </a:r>
          </a:p>
          <a:p>
            <a:pPr marL="0" indent="0" algn="just" eaLnBrk="1" hangingPunct="1"/>
            <a:r>
              <a:rPr lang="en-US" altLang="en-US" sz="2000" b="1" dirty="0">
                <a:latin typeface="Times New Roman" panose="02020603050405020304" pitchFamily="18" charset="0"/>
                <a:cs typeface="Times New Roman" panose="02020603050405020304" pitchFamily="18" charset="0"/>
              </a:rPr>
              <a:t>Security logging and analyzing for the detection of security breaches </a:t>
            </a:r>
          </a:p>
          <a:p>
            <a:pPr marL="0" indent="0" algn="just" eaLnBrk="1" hangingPunct="1">
              <a:buNone/>
            </a:pPr>
            <a:r>
              <a:rPr lang="en-US" altLang="en-US" sz="2000" dirty="0">
                <a:latin typeface="Times New Roman" panose="02020603050405020304" pitchFamily="18" charset="0"/>
                <a:cs typeface="Times New Roman" panose="02020603050405020304" pitchFamily="18" charset="0"/>
              </a:rPr>
              <a:t>	Protect against malicious external threats .</a:t>
            </a:r>
          </a:p>
          <a:p>
            <a:pPr marL="0" indent="0" algn="just" eaLnBrk="1" hangingPunct="1">
              <a:buNone/>
            </a:pPr>
            <a:r>
              <a:rPr lang="en-US" altLang="en-US" sz="2000" dirty="0">
                <a:latin typeface="Times New Roman" panose="02020603050405020304" pitchFamily="18" charset="0"/>
                <a:cs typeface="Times New Roman" panose="02020603050405020304" pitchFamily="18" charset="0"/>
              </a:rPr>
              <a:t>	Protect against internal misuses of information. </a:t>
            </a:r>
          </a:p>
          <a:p>
            <a:pPr marL="0" indent="0" algn="just" eaLnBrk="1" hangingPunct="1">
              <a:buNone/>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Security logging and analyzing for event reconstruction</a:t>
            </a:r>
          </a:p>
          <a:p>
            <a:pPr marL="0" indent="0" algn="just" eaLnBrk="1" hangingPunct="1"/>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Even if a breach should occur, audit trails can facilitate a reconstruction of 	the events leading up to the intrusion.</a:t>
            </a:r>
          </a:p>
          <a:p>
            <a:pPr marL="0" indent="0" algn="just" eaLnBrk="1" hangingPunct="1"/>
            <a:r>
              <a:rPr lang="en-US" altLang="en-US" sz="2000" dirty="0">
                <a:latin typeface="Times New Roman" panose="02020603050405020304" pitchFamily="18" charset="0"/>
                <a:cs typeface="Times New Roman" panose="02020603050405020304" pitchFamily="18" charset="0"/>
              </a:rPr>
              <a:t> 	CIOs will have a clear idea of how the breach occurred and how to rectify 	vulnerabilities. </a:t>
            </a:r>
          </a:p>
          <a:p>
            <a:pPr marL="0" indent="0" algn="just" eaLnBrk="1" hangingPunct="1">
              <a:buNone/>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Security logging and analyzing for faster recovery </a:t>
            </a:r>
          </a:p>
          <a:p>
            <a:pPr marL="0" indent="0" algn="just" eaLnBrk="1" hangingPunct="1">
              <a:buNone/>
            </a:pPr>
            <a:r>
              <a:rPr lang="en-US" altLang="en-US" sz="2000" dirty="0">
                <a:latin typeface="Times New Roman" panose="02020603050405020304" pitchFamily="18" charset="0"/>
                <a:cs typeface="Times New Roman" panose="02020603050405020304" pitchFamily="18" charset="0"/>
              </a:rPr>
              <a:t>	Downtime is the bane of businesses. </a:t>
            </a:r>
          </a:p>
          <a:p>
            <a:pPr marL="0" indent="0" algn="just" eaLnBrk="1" hangingPunct="1">
              <a:buNone/>
            </a:pPr>
            <a:r>
              <a:rPr lang="en-US" altLang="en-US" sz="2000" dirty="0">
                <a:latin typeface="Times New Roman" panose="02020603050405020304" pitchFamily="18" charset="0"/>
                <a:cs typeface="Times New Roman" panose="02020603050405020304" pitchFamily="18" charset="0"/>
              </a:rPr>
              <a:t>	Audit logs can create a fast and effective recovery process</a:t>
            </a:r>
          </a:p>
          <a:p>
            <a:pPr marL="0" indent="0" algn="just" eaLnBrk="1" hangingPunct="1">
              <a:buNone/>
            </a:pPr>
            <a:r>
              <a:rPr lang="en-US" altLang="en-US" sz="2000" dirty="0">
                <a:latin typeface="Times New Roman" panose="02020603050405020304" pitchFamily="18" charset="0"/>
                <a:cs typeface="Times New Roman" panose="02020603050405020304" pitchFamily="18" charset="0"/>
              </a:rPr>
              <a:t>	Help to reconstruct data files which were lost or corrupted by reverse 	engineering from the changes recorded in the logs.</a:t>
            </a:r>
            <a:endParaRPr lang="en-US"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b="1" dirty="0">
                <a:latin typeface="Times New Roman" panose="02020603050405020304" pitchFamily="18" charset="0"/>
                <a:cs typeface="Times New Roman" panose="02020603050405020304" pitchFamily="18" charset="0"/>
              </a:rPr>
              <a:t>Security Certification</a:t>
            </a:r>
            <a:endParaRPr lang="en-US" altLang="en-US" sz="3200" b="1" dirty="0">
              <a:latin typeface="Times New Roman" panose="02020603050405020304" pitchFamily="18" charset="0"/>
              <a:ea typeface="Times New Roman" panose="02020603050405020304" pitchFamily="18" charset="0"/>
            </a:endParaRPr>
          </a:p>
        </p:txBody>
      </p:sp>
      <p:sp>
        <p:nvSpPr>
          <p:cNvPr id="39939" name="Content Placeholder 2"/>
          <p:cNvSpPr>
            <a:spLocks noGrp="1"/>
          </p:cNvSpPr>
          <p:nvPr>
            <p:ph idx="1"/>
          </p:nvPr>
        </p:nvSpPr>
        <p:spPr>
          <a:xfrm>
            <a:off x="152400" y="685800"/>
            <a:ext cx="8839200" cy="6019800"/>
          </a:xfrm>
          <a:ln/>
        </p:spPr>
        <p:txBody>
          <a:bodyPr vert="horz" wrap="square" lIns="91440" tIns="45720" rIns="91440" bIns="45720" anchor="t" anchorCtr="0"/>
          <a:lstStyle/>
          <a:p>
            <a:pPr algn="just" eaLnBrk="1" hangingPunct="1"/>
            <a:r>
              <a:rPr lang="en-US" altLang="en-US" sz="2000" dirty="0">
                <a:latin typeface="Times New Roman" panose="02020603050405020304" pitchFamily="18" charset="0"/>
                <a:cs typeface="Times New Roman" panose="02020603050405020304" pitchFamily="18" charset="0"/>
              </a:rPr>
              <a:t>A certification degree will lead us to our dream job. At some point in our professional life, and IT security certification from a renowned third-party organization may be necessary.</a:t>
            </a:r>
          </a:p>
          <a:p>
            <a:pPr algn="just" eaLnBrk="1" hangingPunct="1"/>
            <a:r>
              <a:rPr lang="en-US" altLang="en-US" sz="2000" dirty="0">
                <a:latin typeface="Times New Roman" panose="02020603050405020304" pitchFamily="18" charset="0"/>
                <a:cs typeface="Times New Roman" panose="02020603050405020304" pitchFamily="18" charset="0"/>
              </a:rPr>
              <a:t>Cyber Security Certifications are available in different shapes and subjects such as forensic to intrusion to ethical hacking. They are typically administrated by independent accredited organizations such as </a:t>
            </a:r>
          </a:p>
          <a:p>
            <a:pPr algn="just" eaLnBrk="1" hangingPunct="1"/>
            <a:r>
              <a:rPr lang="en-US" altLang="en-US" sz="2000" b="1" dirty="0" err="1">
                <a:latin typeface="Times New Roman" panose="02020603050405020304" pitchFamily="18" charset="0"/>
                <a:cs typeface="Times New Roman" panose="02020603050405020304" pitchFamily="18" charset="0"/>
              </a:rPr>
              <a:t>CompTIA</a:t>
            </a:r>
            <a:r>
              <a:rPr lang="en-US" altLang="en-US" sz="2000" b="1" dirty="0">
                <a:latin typeface="Times New Roman" panose="02020603050405020304" pitchFamily="18" charset="0"/>
                <a:cs typeface="Times New Roman" panose="02020603050405020304" pitchFamily="18" charset="0"/>
              </a:rPr>
              <a:t>(</a:t>
            </a:r>
            <a:r>
              <a:rPr lang="en-US" sz="2000" b="1" dirty="0"/>
              <a:t>Computing Technology Industry Association)</a:t>
            </a:r>
            <a:endParaRPr lang="en-US" altLang="en-US" sz="2000" b="1" dirty="0">
              <a:latin typeface="Times New Roman" panose="02020603050405020304" pitchFamily="18" charset="0"/>
              <a:cs typeface="Times New Roman" panose="02020603050405020304" pitchFamily="18" charset="0"/>
            </a:endParaRPr>
          </a:p>
          <a:p>
            <a:pPr algn="just" eaLnBrk="1" hangingPunct="1"/>
            <a:r>
              <a:rPr lang="en-US" altLang="en-US" sz="2000" b="1" dirty="0">
                <a:latin typeface="Times New Roman" panose="02020603050405020304" pitchFamily="18" charset="0"/>
                <a:cs typeface="Times New Roman" panose="02020603050405020304" pitchFamily="18" charset="0"/>
              </a:rPr>
              <a:t>EC Council</a:t>
            </a:r>
          </a:p>
          <a:p>
            <a:pPr algn="just" eaLnBrk="1" hangingPunct="1"/>
            <a:r>
              <a:rPr lang="en-US" altLang="en-US" sz="2000" b="1" dirty="0">
                <a:latin typeface="Times New Roman" panose="02020603050405020304" pitchFamily="18" charset="0"/>
                <a:cs typeface="Times New Roman" panose="02020603050405020304" pitchFamily="18" charset="0"/>
              </a:rPr>
              <a:t>GIAC</a:t>
            </a:r>
            <a:r>
              <a:rPr lang="en-US" sz="2000" b="1" dirty="0"/>
              <a:t> (Global Information Assurance Certification)</a:t>
            </a:r>
          </a:p>
          <a:p>
            <a:pPr algn="just" eaLnBrk="1" hangingPunct="1"/>
            <a:r>
              <a:rPr lang="en-US" altLang="en-US" sz="2000" b="1" dirty="0">
                <a:latin typeface="Times New Roman" panose="02020603050405020304" pitchFamily="18" charset="0"/>
                <a:cs typeface="Times New Roman" panose="02020603050405020304" pitchFamily="18" charset="0"/>
              </a:rPr>
              <a:t> ISACA(</a:t>
            </a:r>
            <a:r>
              <a:rPr lang="en-US" sz="2000" b="1" dirty="0"/>
              <a:t> Information Systems Audit and Control Association)</a:t>
            </a:r>
            <a:r>
              <a:rPr lang="en-US" altLang="en-US" sz="2000" b="1" dirty="0">
                <a:latin typeface="Times New Roman" panose="02020603050405020304" pitchFamily="18" charset="0"/>
                <a:cs typeface="Times New Roman" panose="02020603050405020304" pitchFamily="18" charset="0"/>
              </a:rPr>
              <a:t>, and </a:t>
            </a:r>
          </a:p>
          <a:p>
            <a:pPr algn="just" eaLnBrk="1" hangingPunct="1"/>
            <a:r>
              <a:rPr lang="en-US" altLang="en-US" sz="2000" b="1" dirty="0">
                <a:latin typeface="Times New Roman" panose="02020603050405020304" pitchFamily="18" charset="0"/>
                <a:cs typeface="Times New Roman" panose="02020603050405020304" pitchFamily="18" charset="0"/>
              </a:rPr>
              <a:t>(ISC)2</a:t>
            </a:r>
            <a:r>
              <a:rPr lang="en-US" sz="2000" b="1" dirty="0"/>
              <a:t> International Information System Security Certification Consortium</a:t>
            </a:r>
            <a:r>
              <a:rPr lang="en-US" altLang="en-US" sz="2000" b="1" dirty="0">
                <a:latin typeface="Times New Roman" panose="02020603050405020304" pitchFamily="18" charset="0"/>
                <a:cs typeface="Times New Roman" panose="02020603050405020304" pitchFamily="18" charset="0"/>
              </a:rPr>
              <a:t> </a:t>
            </a:r>
          </a:p>
          <a:p>
            <a:pPr algn="just" eaLnBrk="1" hangingPunct="1"/>
            <a:r>
              <a:rPr lang="en-US" altLang="en-US" sz="2000" dirty="0">
                <a:latin typeface="Times New Roman" panose="02020603050405020304" pitchFamily="18" charset="0"/>
                <a:cs typeface="Times New Roman" panose="02020603050405020304" pitchFamily="18" charset="0"/>
              </a:rPr>
              <a:t>The certification program is divided into three categories in these accredited organization:</a:t>
            </a:r>
          </a:p>
          <a:p>
            <a:pPr algn="just" eaLnBrk="1" hangingPunct="1"/>
            <a:r>
              <a:rPr lang="en-US" altLang="en-US" sz="2000" dirty="0">
                <a:latin typeface="Times New Roman" panose="02020603050405020304" pitchFamily="18" charset="0"/>
                <a:cs typeface="Times New Roman" panose="02020603050405020304" pitchFamily="18" charset="0"/>
              </a:rPr>
              <a:t>The basic entry-level certification is meant to educate you in- </a:t>
            </a:r>
            <a:r>
              <a:rPr lang="en-US" altLang="en-US" sz="2000" b="1" dirty="0">
                <a:latin typeface="Times New Roman" panose="02020603050405020304" pitchFamily="18" charset="0"/>
                <a:cs typeface="Times New Roman" panose="02020603050405020304" pitchFamily="18" charset="0"/>
              </a:rPr>
              <a:t>foundation principles, best practices, important tools, latest technologies</a:t>
            </a:r>
            <a:r>
              <a:rPr lang="en-US" altLang="en-US" sz="2000" dirty="0">
                <a:latin typeface="Times New Roman" panose="02020603050405020304" pitchFamily="18" charset="0"/>
                <a:cs typeface="Times New Roman" panose="02020603050405020304" pitchFamily="18" charset="0"/>
              </a:rPr>
              <a:t>, etc.</a:t>
            </a:r>
          </a:p>
          <a:p>
            <a:pPr algn="just" eaLnBrk="1" hangingPunct="1"/>
            <a:r>
              <a:rPr lang="en-US" altLang="en-US" sz="2000" dirty="0">
                <a:latin typeface="Times New Roman" panose="02020603050405020304" pitchFamily="18" charset="0"/>
                <a:cs typeface="Times New Roman" panose="02020603050405020304" pitchFamily="18" charset="0"/>
              </a:rPr>
              <a:t>The intermediate and expert-level certifications presume that we have extensive </a:t>
            </a:r>
            <a:r>
              <a:rPr lang="en-US" altLang="en-US" sz="2000" b="1" dirty="0">
                <a:latin typeface="Times New Roman" panose="02020603050405020304" pitchFamily="18" charset="0"/>
                <a:cs typeface="Times New Roman" panose="02020603050405020304" pitchFamily="18" charset="0"/>
              </a:rPr>
              <a:t>job experience </a:t>
            </a:r>
            <a:r>
              <a:rPr lang="en-US" altLang="en-US" sz="2000" dirty="0">
                <a:latin typeface="Times New Roman" panose="02020603050405020304" pitchFamily="18" charset="0"/>
                <a:cs typeface="Times New Roman" panose="02020603050405020304" pitchFamily="18" charset="0"/>
              </a:rPr>
              <a:t>and a detailed grasp of the subject matter.</a:t>
            </a:r>
          </a:p>
          <a:p>
            <a:pPr eaLnBrk="1" hangingPunct="1"/>
            <a:endParaRPr lang="en-US"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b="1" dirty="0">
                <a:latin typeface="Times New Roman" panose="02020603050405020304" pitchFamily="18" charset="0"/>
                <a:cs typeface="Times New Roman" panose="02020603050405020304" pitchFamily="18" charset="0"/>
              </a:rPr>
              <a:t>Security Certification</a:t>
            </a:r>
            <a:endParaRPr lang="en-US" altLang="en-US" sz="3200" b="1"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52400" y="685800"/>
            <a:ext cx="8839200" cy="6019800"/>
          </a:xfrm>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According to the topic or level:</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employees of the organizations mostly acquire IT security certifications.</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training and the final exam have consisted of the credential process.</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It must be renewed periodically, such as for every 3-4 years.</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To be reaccredited, we'll need continuing education credits and the ability to pass the current exam.</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Costs for Cyber Security Certification:</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When we want to get the cyber security certification, nothing can stop us from getting our dream job if we have the skills.</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We cannot here lie about the expense of the certification. The cyber security certification can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be expensive and time-consuming</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Any entry-level certification takes </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three-nine months </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to complete and costs us back </a:t>
            </a:r>
            <a:r>
              <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$300-$600</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for the examination. This certification leads to promotion, better job prospects and raise. It will help you to get a hike in your salary.</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b="1" dirty="0">
                <a:latin typeface="Times New Roman" panose="02020603050405020304" pitchFamily="18" charset="0"/>
                <a:cs typeface="Times New Roman" panose="02020603050405020304" pitchFamily="18" charset="0"/>
              </a:rPr>
              <a:t>Security Certification</a:t>
            </a:r>
            <a:endParaRPr lang="en-US" altLang="en-US" sz="3200" b="1"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52400" y="685800"/>
            <a:ext cx="8839200" cy="6019800"/>
          </a:xfrm>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Which Certification to Choose</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When you want to enroll in entry-level training, you may start by considering the given certification:</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CompTIA</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Security+</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GSEC:</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GIAC Security Essential Certification</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SSCP:</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System Security Certified Practitioner</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Or you can select security+, which is one of the most well-known beginners' certification. But these certifications will depend on your level of expertise, and action depends upon your level of expertise and your field of interest.</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sng"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Some of the popular certification:</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CISSP:</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Certified Information System Security Professional</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is a high-level certification that is focused on security policy and management. It is the most frequently acquired certification in the business by the individuals. It is one of the top-paying IT security certifications.</a:t>
            </a: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CISA:</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Certified Information System Auditor</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has been designed for the professionals who audit, control, monitor and assess information technology and business systems.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152400" y="76200"/>
            <a:ext cx="8839200" cy="381000"/>
          </a:xfrm>
          <a:ln/>
        </p:spPr>
        <p:txBody>
          <a:bodyPr vert="horz" wrap="square" lIns="91440" tIns="45720" rIns="91440" bIns="45720" anchor="ctr" anchorCtr="0"/>
          <a:lstStyle/>
          <a:p>
            <a:pPr eaLnBrk="1" hangingPunct="1"/>
            <a:r>
              <a:rPr lang="en-US" altLang="en-US" sz="3200" dirty="0">
                <a:latin typeface="Times New Roman" panose="02020603050405020304" pitchFamily="18" charset="0"/>
                <a:cs typeface="Times New Roman" panose="02020603050405020304" pitchFamily="18" charset="0"/>
              </a:rPr>
              <a:t>Security Certification</a:t>
            </a:r>
            <a:endParaRPr lang="en-US" altLang="en-US" sz="3200" dirty="0">
              <a:latin typeface="Times New Roman" panose="02020603050405020304" pitchFamily="18" charset="0"/>
              <a:ea typeface="Times New Roman" panose="02020603050405020304" pitchFamily="18" charset="0"/>
            </a:endParaRPr>
          </a:p>
        </p:txBody>
      </p:sp>
      <p:sp>
        <p:nvSpPr>
          <p:cNvPr id="43011" name="Content Placeholder 2"/>
          <p:cNvSpPr>
            <a:spLocks noGrp="1"/>
          </p:cNvSpPr>
          <p:nvPr>
            <p:ph idx="1"/>
          </p:nvPr>
        </p:nvSpPr>
        <p:spPr>
          <a:xfrm>
            <a:off x="152400" y="685800"/>
            <a:ext cx="8839200" cy="6019800"/>
          </a:xfrm>
          <a:ln/>
        </p:spPr>
        <p:txBody>
          <a:bodyPr vert="horz" wrap="square" lIns="91440" tIns="45720" rIns="91440" bIns="45720" anchor="t" anchorCtr="0"/>
          <a:lstStyle/>
          <a:p>
            <a:pPr algn="just" eaLnBrk="1" hangingPunct="1"/>
            <a:r>
              <a:rPr lang="en-US" altLang="en-US" sz="2000" b="1" dirty="0"/>
              <a:t>CISM:</a:t>
            </a:r>
            <a:r>
              <a:rPr lang="en-US" altLang="en-US" sz="2000" dirty="0"/>
              <a:t> </a:t>
            </a:r>
            <a:r>
              <a:rPr lang="en-US" altLang="en-US" sz="2000" i="1" dirty="0"/>
              <a:t>Certified Information Security Manager</a:t>
            </a:r>
            <a:r>
              <a:rPr lang="en-US" altLang="en-US" sz="2000" dirty="0"/>
              <a:t> has been geared towards people in managerial positions such as the CIO of IT security.</a:t>
            </a:r>
          </a:p>
          <a:p>
            <a:pPr algn="just" eaLnBrk="1" hangingPunct="1"/>
            <a:r>
              <a:rPr lang="en-US" altLang="en-US" sz="2000" b="1" dirty="0"/>
              <a:t>GCIH:</a:t>
            </a:r>
            <a:r>
              <a:rPr lang="en-US" altLang="en-US" sz="2000" dirty="0"/>
              <a:t> </a:t>
            </a:r>
            <a:r>
              <a:rPr lang="en-US" altLang="en-US" sz="2000" i="1" dirty="0"/>
              <a:t>GIAC Certified Incident Handler</a:t>
            </a:r>
            <a:r>
              <a:rPr lang="en-US" altLang="en-US" sz="2000" dirty="0"/>
              <a:t> is for the incident handlers responsible for detecting, responding to and resolving computer security incidents.</a:t>
            </a:r>
          </a:p>
          <a:p>
            <a:pPr algn="just" eaLnBrk="1" hangingPunct="1"/>
            <a:r>
              <a:rPr lang="en-US" altLang="en-US" sz="2000" b="1" dirty="0"/>
              <a:t>CEH:</a:t>
            </a:r>
            <a:r>
              <a:rPr lang="en-US" altLang="en-US" sz="2000" dirty="0"/>
              <a:t> </a:t>
            </a:r>
            <a:r>
              <a:rPr lang="en-US" altLang="en-US" sz="2000" i="1" dirty="0"/>
              <a:t>Certified Ethical Hacker</a:t>
            </a:r>
            <a:r>
              <a:rPr lang="en-US" altLang="en-US" sz="2000" dirty="0"/>
              <a:t> has been discussed among white hat hackers and penetration testers.</a:t>
            </a:r>
          </a:p>
          <a:p>
            <a:pPr algn="just" eaLnBrk="1" hangingPunct="1"/>
            <a:r>
              <a:rPr lang="en-US" altLang="en-US" sz="2000" b="1" dirty="0"/>
              <a:t>OSCP:</a:t>
            </a:r>
            <a:r>
              <a:rPr lang="en-US" altLang="en-US" sz="2000" dirty="0"/>
              <a:t> </a:t>
            </a:r>
            <a:r>
              <a:rPr lang="en-US" altLang="en-US" sz="2000" i="1" dirty="0"/>
              <a:t>Offensive Security Certified Professional</a:t>
            </a:r>
            <a:r>
              <a:rPr lang="en-US" altLang="en-US" sz="2000" dirty="0"/>
              <a:t> has been designed for the penetration testers and includes a rigorous 24-hour certification exam.</a:t>
            </a:r>
            <a:br>
              <a:rPr lang="en-US" altLang="en-US" sz="2000" dirty="0"/>
            </a:br>
            <a:r>
              <a:rPr lang="en-US" altLang="en-US" sz="2000" dirty="0"/>
              <a:t/>
            </a:r>
            <a:br>
              <a:rPr lang="en-US" altLang="en-US" sz="2000" dirty="0"/>
            </a:br>
            <a:r>
              <a:rPr lang="en-US" altLang="en-US" sz="2000" dirty="0"/>
              <a:t/>
            </a:r>
            <a:br>
              <a:rPr lang="en-US" altLang="en-US" sz="2000" dirty="0"/>
            </a:br>
            <a:r>
              <a:rPr lang="en-US" altLang="en-US" sz="2000" dirty="0"/>
              <a:t/>
            </a:r>
            <a:br>
              <a:rPr lang="en-US" altLang="en-US" sz="2000" dirty="0"/>
            </a:br>
            <a:endParaRPr lang="en-US"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ln/>
        </p:spPr>
        <p:txBody>
          <a:bodyPr vert="horz" wrap="square" lIns="91440" tIns="45720" rIns="91440" bIns="45720" anchor="ctr" anchorCtr="0"/>
          <a:lstStyle/>
          <a:p>
            <a:pPr>
              <a:buNone/>
            </a:pPr>
            <a:r>
              <a:rPr dirty="0">
                <a:solidFill>
                  <a:srgbClr val="000000"/>
                </a:solidFill>
              </a:rPr>
              <a:t>Course Outcomes (COs)</a:t>
            </a:r>
            <a:endParaRPr dirty="0"/>
          </a:p>
        </p:txBody>
      </p:sp>
      <p:sp>
        <p:nvSpPr>
          <p:cNvPr id="44035" name="Content Placeholder 2"/>
          <p:cNvSpPr>
            <a:spLocks noGrp="1"/>
          </p:cNvSpPr>
          <p:nvPr>
            <p:ph idx="1"/>
          </p:nvPr>
        </p:nvSpPr>
        <p:spPr>
          <a:ln/>
        </p:spPr>
        <p:txBody>
          <a:bodyPr vert="horz" wrap="square" lIns="91440" tIns="45720" rIns="91440" bIns="45720" anchor="t" anchorCtr="0"/>
          <a:lstStyle/>
          <a:p>
            <a:r>
              <a:rPr dirty="0">
                <a:sym typeface="+mn-ea"/>
              </a:rPr>
              <a:t>Upon completion of course the students will be able to </a:t>
            </a:r>
            <a:r>
              <a:rPr lang="en-US" dirty="0"/>
              <a:t>evaluate cyber security audit standards and risk management</a:t>
            </a:r>
            <a:endParaRPr b="1" dirty="0"/>
          </a:p>
          <a:p>
            <a:pPr>
              <a:buNone/>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596</TotalTime>
  <Words>4310</Words>
  <Application>Microsoft Office PowerPoint</Application>
  <PresentationFormat>On-screen Show (4:3)</PresentationFormat>
  <Paragraphs>471</Paragraphs>
  <Slides>54</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Mangal</vt:lpstr>
      <vt:lpstr>Times New Roman</vt:lpstr>
      <vt:lpstr>Wingdings</vt:lpstr>
      <vt:lpstr>Office Theme</vt:lpstr>
      <vt:lpstr>UNIT-IV Cyber Security Audit &amp; Standards</vt:lpstr>
      <vt:lpstr>PowerPoint Presentation</vt:lpstr>
      <vt:lpstr>Risk Assessment and Management</vt:lpstr>
      <vt:lpstr>Risk Assessment and Management</vt:lpstr>
      <vt:lpstr>Risk Assessment and Management</vt:lpstr>
      <vt:lpstr>Risk Assessment and Management</vt:lpstr>
      <vt:lpstr>Risk Assessment and Management</vt:lpstr>
      <vt:lpstr>Asset Classification</vt:lpstr>
      <vt:lpstr>Why Asset Classification?:</vt:lpstr>
      <vt:lpstr>Asset Classification</vt:lpstr>
      <vt:lpstr>Asset Classification</vt:lpstr>
      <vt:lpstr>PowerPoint Presentation</vt:lpstr>
      <vt:lpstr>PowerPoint Presentation</vt:lpstr>
      <vt:lpstr>Crisis Management Plan</vt:lpstr>
      <vt:lpstr>Crisis Management Plan</vt:lpstr>
      <vt:lpstr>Crisis Management Cycle: </vt:lpstr>
      <vt:lpstr>Crisis Management Plan</vt:lpstr>
      <vt:lpstr>Crisis Management Plan</vt:lpstr>
      <vt:lpstr>Penetration Testing </vt:lpstr>
      <vt:lpstr>Objectives of Penetration Testing </vt:lpstr>
      <vt:lpstr>Types of Penetration Testing </vt:lpstr>
      <vt:lpstr> Phases of Penetration Testing </vt:lpstr>
      <vt:lpstr>Security Testing</vt:lpstr>
      <vt:lpstr>Common Penetration Testing Tools </vt:lpstr>
      <vt:lpstr>Benefits of Penetration Testing </vt:lpstr>
      <vt:lpstr>Limitations </vt:lpstr>
      <vt:lpstr>PowerPoint Presentation</vt:lpstr>
      <vt:lpstr>Vulnerability Testing </vt:lpstr>
      <vt:lpstr>Objectives of Vulnerability Testing </vt:lpstr>
      <vt:lpstr>Types of Vulnerability Testing </vt:lpstr>
      <vt:lpstr>PowerPoint Presentation</vt:lpstr>
      <vt:lpstr> Steps in Vulnerability Testing </vt:lpstr>
      <vt:lpstr>PowerPoint Presentation</vt:lpstr>
      <vt:lpstr>Common Vulnerabilities Detected </vt:lpstr>
      <vt:lpstr>Common Vulnerability Testing Tools</vt:lpstr>
      <vt:lpstr>Advantages </vt:lpstr>
      <vt:lpstr>Limitations </vt:lpstr>
      <vt:lpstr>PowerPoint Presentation</vt:lpstr>
      <vt:lpstr>Security Testing</vt:lpstr>
      <vt:lpstr>Security Testing</vt:lpstr>
      <vt:lpstr>Security Testing</vt:lpstr>
      <vt:lpstr>PowerPoint Presentation</vt:lpstr>
      <vt:lpstr>International Standards</vt:lpstr>
      <vt:lpstr>International Standards</vt:lpstr>
      <vt:lpstr>International Standards</vt:lpstr>
      <vt:lpstr>Analysis and Logging</vt:lpstr>
      <vt:lpstr>Analysis and Logging</vt:lpstr>
      <vt:lpstr>Analysis and Logging</vt:lpstr>
      <vt:lpstr>Analysis and Logging</vt:lpstr>
      <vt:lpstr>Security Certification</vt:lpstr>
      <vt:lpstr>Security Certification</vt:lpstr>
      <vt:lpstr>Security Certification</vt:lpstr>
      <vt:lpstr>Security Certification</vt:lpstr>
      <vt:lpstr>Course Outcomes (COs)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 Audit &amp; Standards</dc:title>
  <dc:creator>student</dc:creator>
  <cp:lastModifiedBy>student</cp:lastModifiedBy>
  <cp:revision>186</cp:revision>
  <dcterms:created xsi:type="dcterms:W3CDTF">2022-10-31T06:40:23Z</dcterms:created>
  <dcterms:modified xsi:type="dcterms:W3CDTF">2026-09-21T05:37:13Z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3D687DD0447244A8AA044684932D7525_12</vt:lpwstr>
  </property>
  <property fmtid="{D5CDD505-2E9C-101B-9397-08002B2CF9AE}" pid="3" name="KSOProductBuildVer">
    <vt:lpwstr>1033-12.2.0.22549</vt:lpwstr>
  </property>
</Properties>
</file>