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96"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B2E8BE-C9F9-4C05-880F-7281D5DE1195}"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B2E8BE-C9F9-4C05-880F-7281D5DE1195}"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B2E8BE-C9F9-4C05-880F-7281D5DE1195}"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B2E8BE-C9F9-4C05-880F-7281D5DE1195}"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B2E8BE-C9F9-4C05-880F-7281D5DE1195}"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B2E8BE-C9F9-4C05-880F-7281D5DE1195}"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2E8BE-C9F9-4C05-880F-7281D5DE1195}"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B2E8BE-C9F9-4C05-880F-7281D5DE1195}"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B2E8BE-C9F9-4C05-880F-7281D5DE1195}"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B2E8BE-C9F9-4C05-880F-7281D5DE1195}"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B2E8BE-C9F9-4C05-880F-7281D5DE1195}"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0C276C-11B7-4FD1-A638-79C0EF6C9CF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2E8BE-C9F9-4C05-880F-7281D5DE1195}" type="datetimeFigureOut">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0C276C-11B7-4FD1-A638-79C0EF6C9CF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599"/>
            <a:ext cx="7772400" cy="533401"/>
          </a:xfrm>
        </p:spPr>
        <p:txBody>
          <a:bodyPr>
            <a:noAutofit/>
          </a:bodyPr>
          <a:lstStyle/>
          <a:p>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smtClean="0"/>
              <a:t>SHA-1 (Secure Hash Algorithm 1)</a:t>
            </a:r>
            <a:r>
              <a:rPr lang="en-US" sz="2400" dirty="0" smtClean="0"/>
              <a:t> </a:t>
            </a:r>
            <a:r>
              <a:rPr lang="en-US" sz="2400" b="1" dirty="0" smtClean="0"/>
              <a:t/>
            </a:r>
            <a:br>
              <a:rPr lang="en-US" sz="2400" b="1" dirty="0" smtClean="0"/>
            </a:br>
            <a:r>
              <a:rPr lang="en-US" sz="2400" b="1" dirty="0" smtClean="0"/>
              <a:t/>
            </a:r>
            <a:br>
              <a:rPr lang="en-US" sz="2400" b="1" dirty="0" smtClean="0"/>
            </a:br>
            <a:r>
              <a:rPr lang="en-US" sz="2400" dirty="0" smtClean="0"/>
              <a:t/>
            </a:r>
            <a:br>
              <a:rPr lang="en-US" sz="2400" dirty="0" smtClean="0"/>
            </a:br>
            <a:endParaRPr lang="en-US" sz="2400" dirty="0"/>
          </a:p>
        </p:txBody>
      </p:sp>
      <p:sp>
        <p:nvSpPr>
          <p:cNvPr id="3" name="Subtitle 2"/>
          <p:cNvSpPr>
            <a:spLocks noGrp="1"/>
          </p:cNvSpPr>
          <p:nvPr>
            <p:ph type="subTitle" idx="1"/>
          </p:nvPr>
        </p:nvSpPr>
        <p:spPr>
          <a:xfrm>
            <a:off x="304800" y="838200"/>
            <a:ext cx="8610600" cy="1219200"/>
          </a:xfrm>
        </p:spPr>
        <p:txBody>
          <a:bodyPr>
            <a:normAutofit fontScale="70000" lnSpcReduction="20000"/>
          </a:bodyPr>
          <a:lstStyle/>
          <a:p>
            <a:pPr algn="just"/>
            <a:r>
              <a:rPr lang="en-US" b="1" dirty="0" smtClean="0">
                <a:solidFill>
                  <a:schemeClr val="tx1"/>
                </a:solidFill>
              </a:rPr>
              <a:t>Definition:- It </a:t>
            </a:r>
            <a:r>
              <a:rPr lang="en-US" dirty="0" smtClean="0">
                <a:solidFill>
                  <a:schemeClr val="tx1"/>
                </a:solidFill>
              </a:rPr>
              <a:t>is a cryptographic hash algorithm that takes an input message of </a:t>
            </a:r>
            <a:r>
              <a:rPr lang="en-US" b="1" dirty="0" smtClean="0">
                <a:solidFill>
                  <a:schemeClr val="tx1"/>
                </a:solidFill>
              </a:rPr>
              <a:t>any length</a:t>
            </a:r>
            <a:r>
              <a:rPr lang="en-US" dirty="0" smtClean="0">
                <a:solidFill>
                  <a:schemeClr val="tx1"/>
                </a:solidFill>
              </a:rPr>
              <a:t> and produces a fixed-size </a:t>
            </a:r>
            <a:r>
              <a:rPr lang="en-US" b="1" dirty="0" smtClean="0">
                <a:solidFill>
                  <a:schemeClr val="tx1"/>
                </a:solidFill>
              </a:rPr>
              <a:t>160-bit message digest</a:t>
            </a:r>
            <a:r>
              <a:rPr lang="en-US" dirty="0" smtClean="0">
                <a:solidFill>
                  <a:schemeClr val="tx1"/>
                </a:solidFill>
              </a:rPr>
              <a:t>, usually represented as a </a:t>
            </a:r>
            <a:r>
              <a:rPr lang="en-US" b="1" dirty="0" smtClean="0">
                <a:solidFill>
                  <a:schemeClr val="tx1"/>
                </a:solidFill>
              </a:rPr>
              <a:t>40-character hexadecimal value</a:t>
            </a:r>
            <a:r>
              <a:rPr lang="en-US" dirty="0" smtClean="0">
                <a:solidFill>
                  <a:schemeClr val="tx1"/>
                </a:solidFill>
              </a:rPr>
              <a:t>.</a:t>
            </a:r>
            <a:br>
              <a:rPr lang="en-US" dirty="0" smtClean="0">
                <a:solidFill>
                  <a:schemeClr val="tx1"/>
                </a:solidFill>
              </a:rPr>
            </a:br>
            <a:r>
              <a:rPr lang="en-US" dirty="0" smtClean="0">
                <a:solidFill>
                  <a:schemeClr val="tx1"/>
                </a:solidFill>
              </a:rPr>
              <a:t>It processes the message in </a:t>
            </a:r>
            <a:r>
              <a:rPr lang="en-US" b="1" dirty="0" smtClean="0">
                <a:solidFill>
                  <a:schemeClr val="tx1"/>
                </a:solidFill>
              </a:rPr>
              <a:t>512-bit blocks</a:t>
            </a:r>
            <a:r>
              <a:rPr lang="en-US" dirty="0" smtClean="0">
                <a:solidFill>
                  <a:schemeClr val="tx1"/>
                </a:solidFill>
              </a:rPr>
              <a:t> and uses </a:t>
            </a:r>
            <a:r>
              <a:rPr lang="en-US" b="1" dirty="0" smtClean="0">
                <a:solidFill>
                  <a:schemeClr val="tx1"/>
                </a:solidFill>
              </a:rPr>
              <a:t>80 processing rounds</a:t>
            </a:r>
            <a:r>
              <a:rPr lang="en-US" dirty="0" smtClean="0">
                <a:solidFill>
                  <a:schemeClr val="tx1"/>
                </a:solidFill>
              </a:rPr>
              <a:t>.</a:t>
            </a:r>
            <a:endParaRPr lang="en-US" dirty="0">
              <a:solidFill>
                <a:schemeClr val="tx1"/>
              </a:solidFill>
            </a:endParaRPr>
          </a:p>
        </p:txBody>
      </p:sp>
      <p:pic>
        <p:nvPicPr>
          <p:cNvPr id="4" name="Picture 2"/>
          <p:cNvPicPr>
            <a:picLocks noChangeAspect="1" noChangeArrowheads="1"/>
          </p:cNvPicPr>
          <p:nvPr/>
        </p:nvPicPr>
        <p:blipFill>
          <a:blip r:embed="rId2" cstate="print"/>
          <a:srcRect l="19820" t="11628" r="19820" b="8140"/>
          <a:stretch>
            <a:fillRect/>
          </a:stretch>
        </p:blipFill>
        <p:spPr bwMode="auto">
          <a:xfrm>
            <a:off x="914400" y="2133600"/>
            <a:ext cx="7620000" cy="47244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7407" t="4167" r="11111" b="8419"/>
          <a:stretch>
            <a:fillRect/>
          </a:stretch>
        </p:blipFill>
        <p:spPr bwMode="auto">
          <a:xfrm>
            <a:off x="0" y="166245"/>
            <a:ext cx="9144000" cy="6844155"/>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Working of SHA1</a:t>
            </a:r>
            <a:endParaRPr lang="en-US" dirty="0"/>
          </a:p>
        </p:txBody>
      </p:sp>
      <p:sp>
        <p:nvSpPr>
          <p:cNvPr id="3" name="Content Placeholder 2"/>
          <p:cNvSpPr>
            <a:spLocks noGrp="1"/>
          </p:cNvSpPr>
          <p:nvPr>
            <p:ph idx="1"/>
          </p:nvPr>
        </p:nvSpPr>
        <p:spPr>
          <a:xfrm>
            <a:off x="457200" y="914400"/>
            <a:ext cx="8534400" cy="1219200"/>
          </a:xfrm>
        </p:spPr>
        <p:txBody>
          <a:bodyPr>
            <a:normAutofit fontScale="85000" lnSpcReduction="20000"/>
          </a:bodyPr>
          <a:lstStyle/>
          <a:p>
            <a:pPr>
              <a:buNone/>
            </a:pPr>
            <a:r>
              <a:rPr lang="en-US" b="1" dirty="0" smtClean="0"/>
              <a:t>Step 1:- </a:t>
            </a:r>
          </a:p>
          <a:p>
            <a:pPr>
              <a:buNone/>
            </a:pPr>
            <a:r>
              <a:rPr lang="en-US" b="1" dirty="0" smtClean="0"/>
              <a:t>Padding:- </a:t>
            </a:r>
            <a:r>
              <a:rPr lang="en-US" dirty="0" smtClean="0"/>
              <a:t>Adding a 1 bit followed by enough 0 bits to make the message length </a:t>
            </a:r>
            <a:r>
              <a:rPr lang="en-US" b="1" dirty="0" smtClean="0"/>
              <a:t>448 bits modulo 512</a:t>
            </a:r>
            <a:r>
              <a:rPr lang="en-US" dirty="0" smtClean="0"/>
              <a:t>. </a:t>
            </a:r>
            <a:endParaRPr lang="en-US" dirty="0"/>
          </a:p>
        </p:txBody>
      </p:sp>
      <p:pic>
        <p:nvPicPr>
          <p:cNvPr id="4" name="Picture 2"/>
          <p:cNvPicPr>
            <a:picLocks noChangeAspect="1" noChangeArrowheads="1"/>
          </p:cNvPicPr>
          <p:nvPr/>
        </p:nvPicPr>
        <p:blipFill>
          <a:blip r:embed="rId2" cstate="print"/>
          <a:srcRect l="10339" t="19935" r="14323" b="19684"/>
          <a:stretch>
            <a:fillRect/>
          </a:stretch>
        </p:blipFill>
        <p:spPr bwMode="auto">
          <a:xfrm>
            <a:off x="838200" y="2590800"/>
            <a:ext cx="7391400" cy="36576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4525963"/>
          </a:xfrm>
        </p:spPr>
        <p:txBody>
          <a:bodyPr>
            <a:normAutofit fontScale="77500" lnSpcReduction="20000"/>
          </a:bodyPr>
          <a:lstStyle/>
          <a:p>
            <a:pPr>
              <a:buNone/>
            </a:pPr>
            <a:r>
              <a:rPr lang="en-US" sz="3800" b="1" dirty="0" smtClean="0"/>
              <a:t>Step 2:-</a:t>
            </a:r>
          </a:p>
          <a:p>
            <a:pPr>
              <a:buNone/>
            </a:pPr>
            <a:r>
              <a:rPr lang="en-US" sz="3400" b="1" dirty="0" smtClean="0"/>
              <a:t>Appending Length:</a:t>
            </a:r>
            <a:r>
              <a:rPr lang="en-US" sz="3400" dirty="0" smtClean="0"/>
              <a:t> Adding the </a:t>
            </a:r>
            <a:r>
              <a:rPr lang="en-US" sz="3400" b="1" dirty="0" smtClean="0"/>
              <a:t>64-bit representation of the original message length</a:t>
            </a:r>
            <a:r>
              <a:rPr lang="en-US" sz="3400" dirty="0" smtClean="0"/>
              <a:t> to make the final block </a:t>
            </a:r>
            <a:r>
              <a:rPr lang="en-US" sz="3400" b="1" dirty="0" smtClean="0"/>
              <a:t>512 bits</a:t>
            </a:r>
            <a:r>
              <a:rPr lang="en-US" sz="3400" dirty="0" smtClean="0"/>
              <a:t>.</a:t>
            </a:r>
          </a:p>
          <a:p>
            <a:pPr>
              <a:buNone/>
            </a:pPr>
            <a:endParaRPr lang="en-US" sz="2400" dirty="0" smtClean="0"/>
          </a:p>
          <a:p>
            <a:pPr algn="just">
              <a:buNone/>
            </a:pPr>
            <a:r>
              <a:rPr lang="en-US" sz="3800" b="1" dirty="0" smtClean="0"/>
              <a:t>Step 3:-</a:t>
            </a:r>
            <a:r>
              <a:rPr lang="en-US" b="1" dirty="0" smtClean="0">
                <a:solidFill>
                  <a:schemeClr val="tx1"/>
                </a:solidFill>
              </a:rPr>
              <a:t>Divide the Input into 512-bit Blocks</a:t>
            </a:r>
          </a:p>
          <a:p>
            <a:pPr algn="just">
              <a:buNone/>
            </a:pPr>
            <a:r>
              <a:rPr lang="en-US" b="1" dirty="0" smtClean="0">
                <a:solidFill>
                  <a:schemeClr val="tx1"/>
                </a:solidFill>
              </a:rPr>
              <a:t>Definition:</a:t>
            </a:r>
            <a:r>
              <a:rPr lang="en-US" dirty="0" smtClean="0">
                <a:solidFill>
                  <a:schemeClr val="tx1"/>
                </a:solidFill>
              </a:rPr>
              <a:t> After padding and appending the 64-bit message length, the complete message is divided into </a:t>
            </a:r>
            <a:r>
              <a:rPr lang="en-US" b="1" dirty="0" smtClean="0">
                <a:solidFill>
                  <a:schemeClr val="tx1"/>
                </a:solidFill>
              </a:rPr>
              <a:t>512-bit blocks</a:t>
            </a:r>
            <a:r>
              <a:rPr lang="en-US" dirty="0" smtClean="0">
                <a:solidFill>
                  <a:schemeClr val="tx1"/>
                </a:solidFill>
              </a:rPr>
              <a:t> for SHA-1 processing.</a:t>
            </a:r>
          </a:p>
          <a:p>
            <a:pPr algn="just">
              <a:buNone/>
            </a:pPr>
            <a:r>
              <a:rPr lang="en-US" dirty="0" smtClean="0">
                <a:solidFill>
                  <a:schemeClr val="tx1"/>
                </a:solidFill>
              </a:rPr>
              <a:t>Each 512-bit block contains:</a:t>
            </a:r>
          </a:p>
          <a:p>
            <a:pPr algn="just">
              <a:buNone/>
            </a:pPr>
            <a:r>
              <a:rPr lang="en-US" b="1" dirty="0" smtClean="0">
                <a:solidFill>
                  <a:schemeClr val="tx1"/>
                </a:solidFill>
              </a:rPr>
              <a:t>512 bits = 16 × 32-bit words</a:t>
            </a:r>
            <a:endParaRPr lang="en-US" dirty="0" smtClean="0">
              <a:solidFill>
                <a:schemeClr val="tx1"/>
              </a:solidFill>
            </a:endParaRPr>
          </a:p>
          <a:p>
            <a:pPr algn="just">
              <a:buNone/>
            </a:pPr>
            <a:r>
              <a:rPr lang="en-US" dirty="0" smtClean="0">
                <a:solidFill>
                  <a:schemeClr val="tx1"/>
                </a:solidFill>
              </a:rPr>
              <a:t>Example:</a:t>
            </a:r>
          </a:p>
          <a:p>
            <a:pPr algn="just">
              <a:buNone/>
            </a:pPr>
            <a:r>
              <a:rPr lang="en-US" dirty="0" smtClean="0">
                <a:solidFill>
                  <a:schemeClr val="tx1"/>
                </a:solidFill>
              </a:rPr>
              <a:t>Padded + Lengthened Message</a:t>
            </a:r>
          </a:p>
          <a:p>
            <a:pPr>
              <a:buNone/>
            </a:pPr>
            <a:endParaRPr lang="en-US" dirty="0"/>
          </a:p>
        </p:txBody>
      </p:sp>
      <p:graphicFrame>
        <p:nvGraphicFramePr>
          <p:cNvPr id="4" name="Table 3"/>
          <p:cNvGraphicFramePr>
            <a:graphicFrameLocks noGrp="1"/>
          </p:cNvGraphicFramePr>
          <p:nvPr/>
        </p:nvGraphicFramePr>
        <p:xfrm>
          <a:off x="381000" y="4724400"/>
          <a:ext cx="6096000" cy="6400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dirty="0" smtClean="0"/>
                        <a:t>Y0(512)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Y1(512)</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Y(L-1)(512)</a:t>
                      </a:r>
                    </a:p>
                    <a:p>
                      <a:endParaRPr lang="en-US" dirty="0"/>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1"/>
            <a:ext cx="8229600" cy="1676399"/>
          </a:xfrm>
        </p:spPr>
        <p:txBody>
          <a:bodyPr>
            <a:noAutofit/>
          </a:bodyPr>
          <a:lstStyle/>
          <a:p>
            <a:pPr algn="just">
              <a:buNone/>
            </a:pPr>
            <a:r>
              <a:rPr lang="en-US" sz="2400" b="1" dirty="0" smtClean="0"/>
              <a:t>Step 4:-Initialize Chaining Variables </a:t>
            </a:r>
          </a:p>
          <a:p>
            <a:pPr algn="just">
              <a:buNone/>
            </a:pPr>
            <a:r>
              <a:rPr lang="en-US" sz="2400" b="1" dirty="0" smtClean="0"/>
              <a:t>Definition:</a:t>
            </a:r>
            <a:r>
              <a:rPr lang="en-US" sz="2400" dirty="0" smtClean="0"/>
              <a:t> SHA-1 initializes </a:t>
            </a:r>
            <a:r>
              <a:rPr lang="en-US" sz="2400" b="1" dirty="0" smtClean="0"/>
              <a:t>five 32-bit chaining variables</a:t>
            </a:r>
            <a:r>
              <a:rPr lang="en-US" sz="2400" dirty="0" smtClean="0"/>
              <a:t> with fixed hexadecimal constants before processing the 512-bit message blocks.</a:t>
            </a:r>
          </a:p>
          <a:p>
            <a:pPr algn="just">
              <a:buNone/>
            </a:pPr>
            <a:r>
              <a:rPr lang="en-US" sz="2400" dirty="0" smtClean="0"/>
              <a:t>These five variables together form the </a:t>
            </a:r>
            <a:r>
              <a:rPr lang="en-US" sz="2400" b="1" dirty="0" smtClean="0"/>
              <a:t>160-bit intermediate hash value</a:t>
            </a:r>
            <a:r>
              <a:rPr lang="en-US" sz="2400" dirty="0" smtClean="0"/>
              <a:t>.</a:t>
            </a:r>
          </a:p>
          <a:p>
            <a:pPr algn="just"/>
            <a:endParaRPr lang="en-US" sz="2400" dirty="0"/>
          </a:p>
        </p:txBody>
      </p:sp>
      <p:pic>
        <p:nvPicPr>
          <p:cNvPr id="4" name="Picture 2"/>
          <p:cNvPicPr>
            <a:picLocks noChangeAspect="1" noChangeArrowheads="1"/>
          </p:cNvPicPr>
          <p:nvPr/>
        </p:nvPicPr>
        <p:blipFill>
          <a:blip r:embed="rId2" cstate="print"/>
          <a:srcRect l="27059" t="38264" r="31137" b="33750"/>
          <a:stretch>
            <a:fillRect/>
          </a:stretch>
        </p:blipFill>
        <p:spPr bwMode="auto">
          <a:xfrm>
            <a:off x="1219200" y="2895600"/>
            <a:ext cx="6248400" cy="23622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1"/>
            <a:ext cx="8229600" cy="2285999"/>
          </a:xfrm>
        </p:spPr>
        <p:txBody>
          <a:bodyPr>
            <a:normAutofit fontScale="70000" lnSpcReduction="20000"/>
          </a:bodyPr>
          <a:lstStyle/>
          <a:p>
            <a:pPr>
              <a:buNone/>
            </a:pPr>
            <a:r>
              <a:rPr lang="en-US" sz="3500" b="1" dirty="0" smtClean="0"/>
              <a:t>Step 5:- Process Block and Output</a:t>
            </a:r>
          </a:p>
          <a:p>
            <a:r>
              <a:rPr lang="en-US" b="1" dirty="0" smtClean="0"/>
              <a:t>Process Block:</a:t>
            </a:r>
            <a:r>
              <a:rPr lang="en-US" dirty="0" smtClean="0"/>
              <a:t> Each </a:t>
            </a:r>
            <a:r>
              <a:rPr lang="en-US" b="1" dirty="0" smtClean="0"/>
              <a:t>512-bit message block</a:t>
            </a:r>
            <a:r>
              <a:rPr lang="en-US" dirty="0" smtClean="0"/>
              <a:t> is processed through </a:t>
            </a:r>
            <a:r>
              <a:rPr lang="en-US" b="1" dirty="0" smtClean="0"/>
              <a:t>80 rounds</a:t>
            </a:r>
            <a:r>
              <a:rPr lang="en-US" dirty="0" smtClean="0"/>
              <a:t> using the five working variables </a:t>
            </a:r>
            <a:r>
              <a:rPr lang="en-US" b="1" dirty="0" smtClean="0"/>
              <a:t>A, B, C, D, and E</a:t>
            </a:r>
            <a:r>
              <a:rPr lang="en-US" dirty="0" smtClean="0"/>
              <a:t>.</a:t>
            </a:r>
          </a:p>
          <a:p>
            <a:r>
              <a:rPr lang="en-US" b="1" dirty="0" smtClean="0"/>
              <a:t>Output:</a:t>
            </a:r>
            <a:r>
              <a:rPr lang="en-US" dirty="0" smtClean="0"/>
              <a:t> After all blocks are processed, the final values of </a:t>
            </a:r>
            <a:r>
              <a:rPr lang="en-US" b="1" dirty="0" smtClean="0"/>
              <a:t>H₀, H₁, H₂, H₃, and H₄</a:t>
            </a:r>
            <a:r>
              <a:rPr lang="en-US" dirty="0" smtClean="0"/>
              <a:t> are combined to produce the </a:t>
            </a:r>
            <a:r>
              <a:rPr lang="en-US" b="1" dirty="0" smtClean="0"/>
              <a:t>160-bit SHA-1 message digest</a:t>
            </a:r>
            <a:r>
              <a:rPr lang="en-US" dirty="0" smtClean="0"/>
              <a:t>.</a:t>
            </a:r>
          </a:p>
          <a:p>
            <a:pPr>
              <a:buNone/>
            </a:pPr>
            <a:endParaRPr lang="en-US" dirty="0"/>
          </a:p>
        </p:txBody>
      </p:sp>
      <p:pic>
        <p:nvPicPr>
          <p:cNvPr id="4" name="Picture 2"/>
          <p:cNvPicPr>
            <a:picLocks noChangeAspect="1" noChangeArrowheads="1"/>
          </p:cNvPicPr>
          <p:nvPr/>
        </p:nvPicPr>
        <p:blipFill>
          <a:blip r:embed="rId2" cstate="print"/>
          <a:srcRect l="18823" t="9375" r="19412" b="9375"/>
          <a:stretch>
            <a:fillRect/>
          </a:stretch>
        </p:blipFill>
        <p:spPr bwMode="auto">
          <a:xfrm>
            <a:off x="990600" y="2438400"/>
            <a:ext cx="6324600" cy="44196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9412" t="23820" r="19412" b="9375"/>
          <a:stretch>
            <a:fillRect/>
          </a:stretch>
        </p:blipFill>
        <p:spPr bwMode="auto">
          <a:xfrm>
            <a:off x="-1" y="914400"/>
            <a:ext cx="9144001" cy="59436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l="19412" t="24722" r="19412" b="9375"/>
          <a:stretch>
            <a:fillRect/>
          </a:stretch>
        </p:blipFill>
        <p:spPr bwMode="auto">
          <a:xfrm>
            <a:off x="0" y="1295400"/>
            <a:ext cx="9144000" cy="55626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l="19412" t="22743" r="20000" b="10417"/>
          <a:stretch>
            <a:fillRect/>
          </a:stretch>
        </p:blipFill>
        <p:spPr bwMode="auto">
          <a:xfrm>
            <a:off x="0" y="1143000"/>
            <a:ext cx="9173688" cy="5715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l="19412" t="23681" r="20000" b="9375"/>
          <a:stretch>
            <a:fillRect/>
          </a:stretch>
        </p:blipFill>
        <p:spPr bwMode="auto">
          <a:xfrm>
            <a:off x="0" y="1219200"/>
            <a:ext cx="9144000" cy="570538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l="19412" t="10417" r="19412" b="10417"/>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Aug 12, 2026, 01_05_14 PM.png"/>
          <p:cNvPicPr>
            <a:picLocks noChangeAspect="1"/>
          </p:cNvPicPr>
          <p:nvPr/>
        </p:nvPicPr>
        <p:blipFill>
          <a:blip r:embed="rId2"/>
          <a:stretch>
            <a:fillRect/>
          </a:stretch>
        </p:blipFill>
        <p:spPr>
          <a:xfrm>
            <a:off x="0" y="381000"/>
            <a:ext cx="91440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9941" y="1023602"/>
            <a:ext cx="8364117" cy="4810796"/>
          </a:xfrm>
          <a:prstGeom prst="rect">
            <a:avLst/>
          </a:prstGeom>
        </p:spPr>
      </p:pic>
    </p:spTree>
    <p:extLst>
      <p:ext uri="{BB962C8B-B14F-4D97-AF65-F5344CB8AC3E}">
        <p14:creationId xmlns:p14="http://schemas.microsoft.com/office/powerpoint/2010/main" val="128459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152" y="985496"/>
            <a:ext cx="8573696" cy="4887007"/>
          </a:xfrm>
          <a:prstGeom prst="rect">
            <a:avLst/>
          </a:prstGeom>
        </p:spPr>
      </p:pic>
    </p:spTree>
    <p:extLst>
      <p:ext uri="{BB962C8B-B14F-4D97-AF65-F5344CB8AC3E}">
        <p14:creationId xmlns:p14="http://schemas.microsoft.com/office/powerpoint/2010/main" val="83713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0388" y="1042654"/>
            <a:ext cx="8583223" cy="4772691"/>
          </a:xfrm>
          <a:prstGeom prst="rect">
            <a:avLst/>
          </a:prstGeom>
        </p:spPr>
      </p:pic>
    </p:spTree>
    <p:extLst>
      <p:ext uri="{BB962C8B-B14F-4D97-AF65-F5344CB8AC3E}">
        <p14:creationId xmlns:p14="http://schemas.microsoft.com/office/powerpoint/2010/main" val="3135512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1047" y="894996"/>
            <a:ext cx="7201905" cy="5068007"/>
          </a:xfrm>
          <a:prstGeom prst="rect">
            <a:avLst/>
          </a:prstGeom>
        </p:spPr>
      </p:pic>
    </p:spTree>
    <p:extLst>
      <p:ext uri="{BB962C8B-B14F-4D97-AF65-F5344CB8AC3E}">
        <p14:creationId xmlns:p14="http://schemas.microsoft.com/office/powerpoint/2010/main" val="3551171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5178" y="1452286"/>
            <a:ext cx="8373644" cy="3953427"/>
          </a:xfrm>
          <a:prstGeom prst="rect">
            <a:avLst/>
          </a:prstGeom>
        </p:spPr>
      </p:pic>
    </p:spTree>
    <p:extLst>
      <p:ext uri="{BB962C8B-B14F-4D97-AF65-F5344CB8AC3E}">
        <p14:creationId xmlns:p14="http://schemas.microsoft.com/office/powerpoint/2010/main" val="2360369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8994" y="1075996"/>
            <a:ext cx="8326012" cy="4706007"/>
          </a:xfrm>
          <a:prstGeom prst="rect">
            <a:avLst/>
          </a:prstGeom>
        </p:spPr>
      </p:pic>
    </p:spTree>
    <p:extLst>
      <p:ext uri="{BB962C8B-B14F-4D97-AF65-F5344CB8AC3E}">
        <p14:creationId xmlns:p14="http://schemas.microsoft.com/office/powerpoint/2010/main" val="2058295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2336" y="871180"/>
            <a:ext cx="8259328" cy="5115639"/>
          </a:xfrm>
          <a:prstGeom prst="rect">
            <a:avLst/>
          </a:prstGeom>
        </p:spPr>
      </p:pic>
    </p:spTree>
    <p:extLst>
      <p:ext uri="{BB962C8B-B14F-4D97-AF65-F5344CB8AC3E}">
        <p14:creationId xmlns:p14="http://schemas.microsoft.com/office/powerpoint/2010/main" val="937862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4784" y="1033128"/>
            <a:ext cx="7754432" cy="4791744"/>
          </a:xfrm>
          <a:prstGeom prst="rect">
            <a:avLst/>
          </a:prstGeom>
        </p:spPr>
      </p:pic>
    </p:spTree>
    <p:extLst>
      <p:ext uri="{BB962C8B-B14F-4D97-AF65-F5344CB8AC3E}">
        <p14:creationId xmlns:p14="http://schemas.microsoft.com/office/powerpoint/2010/main" val="533293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47364" y="1314155"/>
            <a:ext cx="6249272" cy="4229690"/>
          </a:xfrm>
          <a:prstGeom prst="rect">
            <a:avLst/>
          </a:prstGeom>
        </p:spPr>
      </p:pic>
    </p:spTree>
    <p:extLst>
      <p:ext uri="{BB962C8B-B14F-4D97-AF65-F5344CB8AC3E}">
        <p14:creationId xmlns:p14="http://schemas.microsoft.com/office/powerpoint/2010/main" val="44765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2389" y="1066470"/>
            <a:ext cx="7859222" cy="4725059"/>
          </a:xfrm>
          <a:prstGeom prst="rect">
            <a:avLst/>
          </a:prstGeom>
        </p:spPr>
      </p:pic>
    </p:spTree>
    <p:extLst>
      <p:ext uri="{BB962C8B-B14F-4D97-AF65-F5344CB8AC3E}">
        <p14:creationId xmlns:p14="http://schemas.microsoft.com/office/powerpoint/2010/main" val="1771926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3336" y="1252233"/>
            <a:ext cx="7897327" cy="4353533"/>
          </a:xfrm>
          <a:prstGeom prst="rect">
            <a:avLst/>
          </a:prstGeom>
        </p:spPr>
      </p:pic>
    </p:spTree>
    <p:extLst>
      <p:ext uri="{BB962C8B-B14F-4D97-AF65-F5344CB8AC3E}">
        <p14:creationId xmlns:p14="http://schemas.microsoft.com/office/powerpoint/2010/main" val="2270471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80521" y="1661866"/>
            <a:ext cx="7582958" cy="3534268"/>
          </a:xfrm>
          <a:prstGeom prst="rect">
            <a:avLst/>
          </a:prstGeom>
        </p:spPr>
      </p:pic>
    </p:spTree>
    <p:extLst>
      <p:ext uri="{BB962C8B-B14F-4D97-AF65-F5344CB8AC3E}">
        <p14:creationId xmlns:p14="http://schemas.microsoft.com/office/powerpoint/2010/main" val="2754139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80706" y="1033128"/>
            <a:ext cx="6182588" cy="4791744"/>
          </a:xfrm>
          <a:prstGeom prst="rect">
            <a:avLst/>
          </a:prstGeom>
        </p:spPr>
      </p:pic>
    </p:spTree>
    <p:extLst>
      <p:ext uri="{BB962C8B-B14F-4D97-AF65-F5344CB8AC3E}">
        <p14:creationId xmlns:p14="http://schemas.microsoft.com/office/powerpoint/2010/main" val="1129896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6652" y="909286"/>
            <a:ext cx="8030696" cy="5039428"/>
          </a:xfrm>
          <a:prstGeom prst="rect">
            <a:avLst/>
          </a:prstGeom>
        </p:spPr>
      </p:pic>
    </p:spTree>
    <p:extLst>
      <p:ext uri="{BB962C8B-B14F-4D97-AF65-F5344CB8AC3E}">
        <p14:creationId xmlns:p14="http://schemas.microsoft.com/office/powerpoint/2010/main" val="3813069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l="20000" t="10417" r="20000" b="9375"/>
          <a:stretch>
            <a:fillRect/>
          </a:stretch>
        </p:blipFill>
        <p:spPr bwMode="auto">
          <a:xfrm>
            <a:off x="-1" y="0"/>
            <a:ext cx="9144001" cy="6858000"/>
          </a:xfrm>
          <a:prstGeom prst="rect">
            <a:avLst/>
          </a:prstGeom>
          <a:noFill/>
          <a:ln w="9525">
            <a:noFill/>
            <a:miter lim="800000"/>
            <a:headEnd/>
            <a:tailEnd/>
          </a:ln>
        </p:spPr>
      </p:pic>
    </p:spTree>
    <p:extLst>
      <p:ext uri="{BB962C8B-B14F-4D97-AF65-F5344CB8AC3E}">
        <p14:creationId xmlns:p14="http://schemas.microsoft.com/office/powerpoint/2010/main" val="2797991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l="20000" t="10417" r="19412" b="9375"/>
          <a:stretch>
            <a:fillRect/>
          </a:stretch>
        </p:blipFill>
        <p:spPr bwMode="auto">
          <a:xfrm>
            <a:off x="0" y="0"/>
            <a:ext cx="9173688" cy="6858000"/>
          </a:xfrm>
          <a:prstGeom prst="rect">
            <a:avLst/>
          </a:prstGeom>
          <a:noFill/>
          <a:ln w="9525">
            <a:noFill/>
            <a:miter lim="800000"/>
            <a:headEnd/>
            <a:tailEnd/>
          </a:ln>
        </p:spPr>
      </p:pic>
    </p:spTree>
    <p:extLst>
      <p:ext uri="{BB962C8B-B14F-4D97-AF65-F5344CB8AC3E}">
        <p14:creationId xmlns:p14="http://schemas.microsoft.com/office/powerpoint/2010/main" val="1396334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l="19412" t="10417" r="19412" b="10417"/>
          <a:stretch>
            <a:fillRect/>
          </a:stretch>
        </p:blipFill>
        <p:spPr bwMode="auto">
          <a:xfrm>
            <a:off x="0" y="0"/>
            <a:ext cx="9176084" cy="6858000"/>
          </a:xfrm>
          <a:prstGeom prst="rect">
            <a:avLst/>
          </a:prstGeom>
          <a:noFill/>
          <a:ln w="9525">
            <a:noFill/>
            <a:miter lim="800000"/>
            <a:headEnd/>
            <a:tailEnd/>
          </a:ln>
        </p:spPr>
      </p:pic>
    </p:spTree>
    <p:extLst>
      <p:ext uri="{BB962C8B-B14F-4D97-AF65-F5344CB8AC3E}">
        <p14:creationId xmlns:p14="http://schemas.microsoft.com/office/powerpoint/2010/main" val="4117135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l="19412" t="10417" r="20000" b="10417"/>
          <a:stretch>
            <a:fillRect/>
          </a:stretch>
        </p:blipFill>
        <p:spPr bwMode="auto">
          <a:xfrm>
            <a:off x="-1" y="0"/>
            <a:ext cx="9144001" cy="6858000"/>
          </a:xfrm>
          <a:prstGeom prst="rect">
            <a:avLst/>
          </a:prstGeom>
          <a:noFill/>
          <a:ln w="9525">
            <a:noFill/>
            <a:miter lim="800000"/>
            <a:headEnd/>
            <a:tailEnd/>
          </a:ln>
        </p:spPr>
      </p:pic>
    </p:spTree>
    <p:extLst>
      <p:ext uri="{BB962C8B-B14F-4D97-AF65-F5344CB8AC3E}">
        <p14:creationId xmlns:p14="http://schemas.microsoft.com/office/powerpoint/2010/main" val="3333545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l="20000" t="10417" r="19412" b="9375"/>
          <a:stretch>
            <a:fillRect/>
          </a:stretch>
        </p:blipFill>
        <p:spPr bwMode="auto">
          <a:xfrm>
            <a:off x="0" y="0"/>
            <a:ext cx="9144000" cy="6858000"/>
          </a:xfrm>
          <a:prstGeom prst="rect">
            <a:avLst/>
          </a:prstGeom>
          <a:noFill/>
          <a:ln w="9525">
            <a:noFill/>
            <a:miter lim="800000"/>
            <a:headEnd/>
            <a:tailEnd/>
          </a:ln>
        </p:spPr>
      </p:pic>
    </p:spTree>
    <p:extLst>
      <p:ext uri="{BB962C8B-B14F-4D97-AF65-F5344CB8AC3E}">
        <p14:creationId xmlns:p14="http://schemas.microsoft.com/office/powerpoint/2010/main" val="30507331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l="20000" t="10417" r="19412" b="9375"/>
          <a:stretch>
            <a:fillRect/>
          </a:stretch>
        </p:blipFill>
        <p:spPr bwMode="auto">
          <a:xfrm>
            <a:off x="0" y="0"/>
            <a:ext cx="9144000" cy="6835806"/>
          </a:xfrm>
          <a:prstGeom prst="rect">
            <a:avLst/>
          </a:prstGeom>
          <a:noFill/>
          <a:ln w="9525">
            <a:noFill/>
            <a:miter lim="800000"/>
            <a:headEnd/>
            <a:tailEnd/>
          </a:ln>
        </p:spPr>
      </p:pic>
    </p:spTree>
    <p:extLst>
      <p:ext uri="{BB962C8B-B14F-4D97-AF65-F5344CB8AC3E}">
        <p14:creationId xmlns:p14="http://schemas.microsoft.com/office/powerpoint/2010/main" val="1035733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l="19412" t="9375" r="20000" b="9375"/>
          <a:stretch>
            <a:fillRect/>
          </a:stretch>
        </p:blipFill>
        <p:spPr bwMode="auto">
          <a:xfrm>
            <a:off x="-1" y="0"/>
            <a:ext cx="9144001" cy="6858000"/>
          </a:xfrm>
          <a:prstGeom prst="rect">
            <a:avLst/>
          </a:prstGeom>
          <a:noFill/>
          <a:ln w="9525">
            <a:noFill/>
            <a:miter lim="800000"/>
            <a:headEnd/>
            <a:tailEnd/>
          </a:ln>
        </p:spPr>
      </p:pic>
    </p:spTree>
    <p:extLst>
      <p:ext uri="{BB962C8B-B14F-4D97-AF65-F5344CB8AC3E}">
        <p14:creationId xmlns:p14="http://schemas.microsoft.com/office/powerpoint/2010/main" val="4275197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ym typeface="+mn-ea"/>
              </a:rPr>
              <a:t>Steganography</a:t>
            </a:r>
          </a:p>
        </p:txBody>
      </p:sp>
      <p:sp>
        <p:nvSpPr>
          <p:cNvPr id="3" name="Content Placeholder 2"/>
          <p:cNvSpPr>
            <a:spLocks noGrp="1"/>
          </p:cNvSpPr>
          <p:nvPr>
            <p:ph idx="1"/>
          </p:nvPr>
        </p:nvSpPr>
        <p:spPr>
          <a:xfrm>
            <a:off x="457200" y="1295400"/>
            <a:ext cx="8229600" cy="4830763"/>
          </a:xfrm>
        </p:spPr>
        <p:txBody>
          <a:bodyPr>
            <a:normAutofit fontScale="90000" lnSpcReduction="10000"/>
          </a:bodyPr>
          <a:lstStyle/>
          <a:p>
            <a:pPr algn="just"/>
            <a:r>
              <a:rPr lang="en-US" sz="2400" dirty="0">
                <a:latin typeface="Times New Roman" panose="02020603050405020304" charset="0"/>
                <a:cs typeface="Times New Roman" panose="02020603050405020304" charset="0"/>
              </a:rPr>
              <a:t>Steganography is a method of hiding secret data, by embedding it into an audio, video, image, or text file. It is one of the methods working to protect secret or sensitive data from malicious attacks</a:t>
            </a:r>
            <a:r>
              <a:rPr lang="en-US" dirty="0"/>
              <a:t>. </a:t>
            </a:r>
            <a:endParaRPr lang="en-US" sz="2400" dirty="0">
              <a:latin typeface="Times New Roman" panose="02020603050405020304" charset="0"/>
              <a:cs typeface="Times New Roman" panose="02020603050405020304" charset="0"/>
            </a:endParaRPr>
          </a:p>
          <a:p>
            <a:pPr algn="just"/>
            <a:r>
              <a:rPr lang="en-US" sz="2400" dirty="0">
                <a:latin typeface="Times New Roman" panose="02020603050405020304" charset="0"/>
                <a:cs typeface="Times New Roman" panose="02020603050405020304" charset="0"/>
              </a:rPr>
              <a:t>Cryptography and steganography are both methods used to hide or protect secret data. However, they differ in the respect that cryptography makes the data unreadable, or hides the meaning of the data, while steganography hides the existence of the data.</a:t>
            </a:r>
          </a:p>
          <a:p>
            <a:pPr algn="just"/>
            <a:r>
              <a:rPr lang="en-US" sz="2400" b="1" dirty="0">
                <a:latin typeface="Times New Roman" panose="02020603050405020304" charset="0"/>
                <a:cs typeface="Times New Roman" panose="02020603050405020304" charset="0"/>
              </a:rPr>
              <a:t>Image Steganography – </a:t>
            </a:r>
          </a:p>
          <a:p>
            <a:r>
              <a:rPr lang="en-US" sz="2400" dirty="0">
                <a:latin typeface="Times New Roman" panose="02020603050405020304" charset="0"/>
                <a:cs typeface="Times New Roman" panose="02020603050405020304" charset="0"/>
              </a:rPr>
              <a:t> Image Steganography refers to the process of hiding data within an image file. The image selected for this purpose is called the </a:t>
            </a:r>
            <a:r>
              <a:rPr lang="en-US" sz="2400" b="1" dirty="0">
                <a:latin typeface="Times New Roman" panose="02020603050405020304" charset="0"/>
                <a:cs typeface="Times New Roman" panose="02020603050405020304" charset="0"/>
              </a:rPr>
              <a:t>cover image</a:t>
            </a:r>
            <a:r>
              <a:rPr lang="en-US" sz="2400" dirty="0">
                <a:latin typeface="Times New Roman" panose="02020603050405020304" charset="0"/>
                <a:cs typeface="Times New Roman" panose="02020603050405020304" charset="0"/>
              </a:rPr>
              <a:t> and the image obtained after steganography is called the </a:t>
            </a:r>
            <a:r>
              <a:rPr lang="en-US" sz="2400" b="1" dirty="0" err="1">
                <a:latin typeface="Times New Roman" panose="02020603050405020304" charset="0"/>
                <a:cs typeface="Times New Roman" panose="02020603050405020304" charset="0"/>
              </a:rPr>
              <a:t>stego</a:t>
            </a:r>
            <a:r>
              <a:rPr lang="en-US" sz="2400" b="1" dirty="0">
                <a:latin typeface="Times New Roman" panose="02020603050405020304" charset="0"/>
                <a:cs typeface="Times New Roman" panose="02020603050405020304" charset="0"/>
              </a:rPr>
              <a:t> image</a:t>
            </a:r>
            <a:r>
              <a:rPr lang="en-US" sz="2400" dirty="0">
                <a:latin typeface="Times New Roman" panose="02020603050405020304" charset="0"/>
                <a:cs typeface="Times New Roman" panose="02020603050405020304" charset="0"/>
              </a:rPr>
              <a:t>.  </a:t>
            </a:r>
            <a:br>
              <a:rPr lang="en-US" sz="2400" dirty="0">
                <a:latin typeface="Times New Roman" panose="02020603050405020304" charset="0"/>
                <a:cs typeface="Times New Roman" panose="02020603050405020304" charset="0"/>
              </a:rPr>
            </a:br>
            <a:endParaRPr lang="en-US" dirty="0"/>
          </a:p>
        </p:txBody>
      </p:sp>
    </p:spTree>
    <p:extLst>
      <p:ext uri="{BB962C8B-B14F-4D97-AF65-F5344CB8AC3E}">
        <p14:creationId xmlns:p14="http://schemas.microsoft.com/office/powerpoint/2010/main" val="3050068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How is it done? </a:t>
            </a:r>
            <a:endParaRPr lang="en-US" dirty="0"/>
          </a:p>
        </p:txBody>
      </p:sp>
      <p:sp>
        <p:nvSpPr>
          <p:cNvPr id="3" name="Content Placeholder 2"/>
          <p:cNvSpPr>
            <a:spLocks noGrp="1"/>
          </p:cNvSpPr>
          <p:nvPr>
            <p:ph idx="1"/>
          </p:nvPr>
        </p:nvSpPr>
        <p:spPr/>
        <p:txBody>
          <a:bodyPr>
            <a:normAutofit fontScale="90000" lnSpcReduction="10000"/>
          </a:bodyPr>
          <a:lstStyle/>
          <a:p>
            <a:pPr algn="just"/>
            <a:r>
              <a:rPr lang="en-US" dirty="0"/>
              <a:t>An image is represented as an N*M (in case of grayscale images) or N*M*3 (in case of color images) matrix in memory, with each entry representing the intensity value of a pixel. </a:t>
            </a:r>
          </a:p>
          <a:p>
            <a:pPr algn="just"/>
            <a:r>
              <a:rPr lang="en-US" dirty="0"/>
              <a:t>In image steganography, a message is embedded into an image by altering the values of some pixels, which are chosen by an encryption algorithm. </a:t>
            </a:r>
          </a:p>
          <a:p>
            <a:pPr algn="just"/>
            <a:r>
              <a:rPr lang="en-US" dirty="0"/>
              <a:t>The recipient of the image must be aware of the same algorithm in order to know which pixels he or she must select to extract the message</a:t>
            </a:r>
          </a:p>
        </p:txBody>
      </p:sp>
    </p:spTree>
    <p:extLst>
      <p:ext uri="{BB962C8B-B14F-4D97-AF65-F5344CB8AC3E}">
        <p14:creationId xmlns:p14="http://schemas.microsoft.com/office/powerpoint/2010/main" val="2974957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2-72"/>
          <p:cNvPicPr>
            <a:picLocks noGrp="1" noChangeAspect="1"/>
          </p:cNvPicPr>
          <p:nvPr>
            <p:ph idx="1"/>
          </p:nvPr>
        </p:nvPicPr>
        <p:blipFill>
          <a:blip r:embed="rId2"/>
          <a:stretch>
            <a:fillRect/>
          </a:stretch>
        </p:blipFill>
        <p:spPr>
          <a:xfrm>
            <a:off x="1295400" y="1905000"/>
            <a:ext cx="6400800" cy="3657600"/>
          </a:xfrm>
          <a:prstGeom prst="rect">
            <a:avLst/>
          </a:prstGeom>
        </p:spPr>
      </p:pic>
      <p:sp>
        <p:nvSpPr>
          <p:cNvPr id="4" name="Picture 1" descr="https://media.geeksforgeeks.org/wp-content/uploads/2-72.png"/>
          <p:cNvSpPr/>
          <p:nvPr/>
        </p:nvSpPr>
        <p:spPr>
          <a:xfrm>
            <a:off x="2984079" y="2001329"/>
            <a:ext cx="3175842" cy="2855343"/>
          </a:xfrm>
        </p:spPr>
      </p:sp>
    </p:spTree>
    <p:extLst>
      <p:ext uri="{BB962C8B-B14F-4D97-AF65-F5344CB8AC3E}">
        <p14:creationId xmlns:p14="http://schemas.microsoft.com/office/powerpoint/2010/main" val="3807750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fontScale="67500" lnSpcReduction="20000"/>
          </a:bodyPr>
          <a:lstStyle/>
          <a:p>
            <a:pPr algn="just"/>
            <a:r>
              <a:rPr lang="en-US" dirty="0"/>
              <a:t>steganography approach involves cover a huge amount of data (picture, audio, and text) within a </a:t>
            </a:r>
            <a:r>
              <a:rPr lang="en-US" dirty="0" err="1"/>
              <a:t>colour</a:t>
            </a:r>
            <a:r>
              <a:rPr lang="en-US" dirty="0"/>
              <a:t> bitmap (bmp) image. </a:t>
            </a:r>
          </a:p>
          <a:p>
            <a:pPr algn="just"/>
            <a:r>
              <a:rPr lang="en-US" dirty="0"/>
              <a:t>The image will be filtered and segmented with bits replacement applied to the appropriate pixels. These pixels are chosen at random rather than in order. </a:t>
            </a:r>
          </a:p>
          <a:p>
            <a:pPr algn="just"/>
            <a:r>
              <a:rPr lang="en-US" dirty="0"/>
              <a:t>Detection of the message within the cover image is done by the process of steganalysis. </a:t>
            </a:r>
          </a:p>
          <a:p>
            <a:pPr algn="just"/>
            <a:r>
              <a:rPr lang="en-US" dirty="0"/>
              <a:t>This can be done through comparison with the cover image, histogram plotting, or noise detection. </a:t>
            </a:r>
          </a:p>
          <a:p>
            <a:pPr algn="just"/>
            <a:r>
              <a:rPr lang="en-US" dirty="0"/>
              <a:t>Efforts are being invested in developing new algorithms with a greater degree of immunity against such attacks,</a:t>
            </a:r>
          </a:p>
          <a:p>
            <a:pPr algn="just"/>
            <a:r>
              <a:rPr lang="en-US" dirty="0"/>
              <a:t>Efforts are also being dedicated towards improving existing algorithms for steganalysis, to detect the exchange of secret information between terrorists or criminal </a:t>
            </a:r>
          </a:p>
        </p:txBody>
      </p:sp>
    </p:spTree>
    <p:extLst>
      <p:ext uri="{BB962C8B-B14F-4D97-AF65-F5344CB8AC3E}">
        <p14:creationId xmlns:p14="http://schemas.microsoft.com/office/powerpoint/2010/main" val="3203555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Outcomes (COs)</a:t>
            </a:r>
          </a:p>
        </p:txBody>
      </p:sp>
      <p:sp>
        <p:nvSpPr>
          <p:cNvPr id="3" name="Content Placeholder 2"/>
          <p:cNvSpPr>
            <a:spLocks noGrp="1"/>
          </p:cNvSpPr>
          <p:nvPr>
            <p:ph idx="1"/>
          </p:nvPr>
        </p:nvSpPr>
        <p:spPr/>
        <p:txBody>
          <a:bodyPr/>
          <a:lstStyle/>
          <a:p>
            <a:r>
              <a:rPr lang="en-US" dirty="0">
                <a:sym typeface="+mn-ea"/>
              </a:rPr>
              <a:t>Upon completion of course the students will be able to</a:t>
            </a:r>
            <a:endParaRPr lang="en-US" dirty="0"/>
          </a:p>
          <a:p>
            <a:r>
              <a:rPr lang="en-US" b="1" dirty="0"/>
              <a:t>Apply cryptographic techniques and digital signature protocols</a:t>
            </a:r>
          </a:p>
          <a:p>
            <a:endParaRPr lang="en-US" dirty="0"/>
          </a:p>
        </p:txBody>
      </p:sp>
    </p:spTree>
    <p:extLst>
      <p:ext uri="{BB962C8B-B14F-4D97-AF65-F5344CB8AC3E}">
        <p14:creationId xmlns:p14="http://schemas.microsoft.com/office/powerpoint/2010/main" val="2738511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538</Words>
  <Application>Microsoft Office PowerPoint</Application>
  <PresentationFormat>On-screen Show (4:3)</PresentationFormat>
  <Paragraphs>42</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Times New Roman</vt:lpstr>
      <vt:lpstr>Office Theme</vt:lpstr>
      <vt:lpstr>   SHA-1 (Secure Hash Algorithm 1)    </vt:lpstr>
      <vt:lpstr>PowerPoint Presentation</vt:lpstr>
      <vt:lpstr>Working of SHA1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Steganography</vt:lpstr>
      <vt:lpstr>How is it done? </vt:lpstr>
      <vt:lpstr>PowerPoint Presentation</vt:lpstr>
      <vt:lpstr>PowerPoint Presentation</vt:lpstr>
      <vt:lpstr>Course Outcomes (COs)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SHA-1 (Secure Hash Algorithm 1)</dc:title>
  <dc:creator>student</dc:creator>
  <cp:lastModifiedBy>CMRIT</cp:lastModifiedBy>
  <cp:revision>7</cp:revision>
  <dcterms:created xsi:type="dcterms:W3CDTF">2026-08-12T06:45:51Z</dcterms:created>
  <dcterms:modified xsi:type="dcterms:W3CDTF">2026-08-13T04:36:53Z</dcterms:modified>
</cp:coreProperties>
</file>