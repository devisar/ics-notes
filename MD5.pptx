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8" r:id="rId3"/>
    <p:sldId id="259" r:id="rId4"/>
    <p:sldId id="260" r:id="rId5"/>
    <p:sldId id="261" r:id="rId6"/>
    <p:sldId id="262" r:id="rId7"/>
    <p:sldId id="263" r:id="rId8"/>
    <p:sldId id="264" r:id="rId9"/>
    <p:sldId id="265" r:id="rId10"/>
    <p:sldId id="266"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BDAAB3-6781-48D2-B196-4FE18CB18152}" type="datetimeFigureOut">
              <a:rPr lang="en-US" smtClean="0"/>
              <a:t>8/8/2026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434A85B-4092-4D93-BDD1-FF1884068013}"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B8FB9F9-E2A0-40FD-A1A7-0CD52432B971}" type="slidenum">
              <a:rPr lang="en-US" smtClean="0"/>
              <a:pPr/>
              <a:t>8</a:t>
            </a:fld>
            <a:endParaRPr lang="en-US"/>
          </a:p>
        </p:txBody>
      </p:sp>
    </p:spTree>
    <p:extLst>
      <p:ext uri="{BB962C8B-B14F-4D97-AF65-F5344CB8AC3E}">
        <p14:creationId xmlns="" xmlns:p14="http://schemas.microsoft.com/office/powerpoint/2010/main" val="1584169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48B32AF-B534-4502-AAB5-BCB9C4FE9D11}"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76422B-39C1-402C-8DC3-73DF3706EF5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8B32AF-B534-4502-AAB5-BCB9C4FE9D11}"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76422B-39C1-402C-8DC3-73DF3706EF5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48B32AF-B534-4502-AAB5-BCB9C4FE9D11}"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76422B-39C1-402C-8DC3-73DF3706EF5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48B32AF-B534-4502-AAB5-BCB9C4FE9D11}" type="datetimeFigureOut">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76422B-39C1-402C-8DC3-73DF3706EF5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48B32AF-B534-4502-AAB5-BCB9C4FE9D11}" type="datetimeFigureOut">
              <a:rPr lang="en-US" smtClean="0"/>
              <a:t>8/8/2026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76422B-39C1-402C-8DC3-73DF3706EF5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48B32AF-B534-4502-AAB5-BCB9C4FE9D11}" type="datetimeFigureOut">
              <a:rPr lang="en-US" smtClean="0"/>
              <a:t>8/8/2026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76422B-39C1-402C-8DC3-73DF3706EF5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8B32AF-B534-4502-AAB5-BCB9C4FE9D11}" type="datetimeFigureOut">
              <a:rPr lang="en-US" smtClean="0"/>
              <a:t>8/8/2026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76422B-39C1-402C-8DC3-73DF3706EF5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8B32AF-B534-4502-AAB5-BCB9C4FE9D11}" type="datetimeFigureOut">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76422B-39C1-402C-8DC3-73DF3706EF5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8B32AF-B534-4502-AAB5-BCB9C4FE9D11}" type="datetimeFigureOut">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76422B-39C1-402C-8DC3-73DF3706EF5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8B32AF-B534-4502-AAB5-BCB9C4FE9D11}"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76422B-39C1-402C-8DC3-73DF3706EF5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8B32AF-B534-4502-AAB5-BCB9C4FE9D11}"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76422B-39C1-402C-8DC3-73DF3706EF5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8B32AF-B534-4502-AAB5-BCB9C4FE9D11}" type="datetimeFigureOut">
              <a:rPr lang="en-US" smtClean="0"/>
              <a:t>8/8/2026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76422B-39C1-402C-8DC3-73DF3706EF5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www.techtarget.com/whatis/definition/character"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geeksforgeeks.org/difference-between-md5-and-sha1/"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Hash values</a:t>
            </a:r>
          </a:p>
        </p:txBody>
      </p:sp>
      <p:sp>
        <p:nvSpPr>
          <p:cNvPr id="3" name="Content Placeholder 2"/>
          <p:cNvSpPr>
            <a:spLocks noGrp="1"/>
          </p:cNvSpPr>
          <p:nvPr>
            <p:ph idx="1"/>
          </p:nvPr>
        </p:nvSpPr>
        <p:spPr>
          <a:xfrm>
            <a:off x="457200" y="914400"/>
            <a:ext cx="8229600" cy="5638800"/>
          </a:xfrm>
        </p:spPr>
        <p:txBody>
          <a:bodyPr>
            <a:normAutofit fontScale="77500" lnSpcReduction="20000"/>
          </a:bodyPr>
          <a:lstStyle/>
          <a:p>
            <a:pPr algn="just"/>
            <a:r>
              <a:rPr lang="en-US" dirty="0"/>
              <a:t>Hash values can be thought of </a:t>
            </a:r>
            <a:r>
              <a:rPr lang="en-US" b="1" dirty="0"/>
              <a:t>as fingerprints </a:t>
            </a:r>
            <a:r>
              <a:rPr lang="en-US" dirty="0"/>
              <a:t>for files. </a:t>
            </a:r>
          </a:p>
          <a:p>
            <a:pPr algn="just"/>
            <a:r>
              <a:rPr lang="en-US" dirty="0"/>
              <a:t>The contents of a file are </a:t>
            </a:r>
            <a:r>
              <a:rPr lang="en-US" dirty="0">
                <a:solidFill>
                  <a:srgbClr val="FF0000"/>
                </a:solidFill>
              </a:rPr>
              <a:t>processed through a cryptographic algorithm</a:t>
            </a:r>
            <a:r>
              <a:rPr lang="en-US" dirty="0"/>
              <a:t>, and a unique numerical value – the hash value - is produced that identifies the contents of the file. </a:t>
            </a:r>
          </a:p>
          <a:p>
            <a:pPr algn="just"/>
            <a:r>
              <a:rPr lang="en-US" dirty="0"/>
              <a:t>A hash value is </a:t>
            </a:r>
            <a:r>
              <a:rPr lang="en-US" b="1" dirty="0"/>
              <a:t>a numeric value of a fixed length that uniquely identifies data</a:t>
            </a:r>
            <a:r>
              <a:rPr lang="en-US" dirty="0"/>
              <a:t>. </a:t>
            </a:r>
          </a:p>
          <a:p>
            <a:pPr algn="just"/>
            <a:r>
              <a:rPr lang="en-US" dirty="0"/>
              <a:t>Hash values represent large amounts of data as much smaller numeric values, so they are used with digital signatures. </a:t>
            </a:r>
          </a:p>
          <a:p>
            <a:pPr algn="just"/>
            <a:r>
              <a:rPr lang="en-US" dirty="0"/>
              <a:t>You can sign a hash value more efficiently than signing the larger value.</a:t>
            </a:r>
          </a:p>
          <a:p>
            <a:pPr algn="just"/>
            <a:r>
              <a:rPr lang="en-US" dirty="0"/>
              <a:t>If the contents are modified in any way, the value of the hash will also change significantly. </a:t>
            </a:r>
          </a:p>
          <a:p>
            <a:pPr algn="just"/>
            <a:r>
              <a:rPr lang="en-US" dirty="0"/>
              <a:t>Two algorithms are currently widely used to produce hash values:  </a:t>
            </a:r>
            <a:r>
              <a:rPr lang="en-US" b="1" dirty="0"/>
              <a:t>MD5 and SHA1 </a:t>
            </a:r>
            <a:r>
              <a:rPr lang="en-US" dirty="0"/>
              <a:t>algorithms.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763000" cy="6629400"/>
          </a:xfrm>
        </p:spPr>
        <p:txBody>
          <a:bodyPr>
            <a:normAutofit fontScale="85000" lnSpcReduction="20000"/>
          </a:bodyPr>
          <a:lstStyle/>
          <a:p>
            <a:pPr algn="just" fontAlgn="base"/>
            <a:r>
              <a:rPr lang="en-US" dirty="0"/>
              <a:t>Hashing is an algorithm performed on data such as a file or message to produce a number called </a:t>
            </a:r>
            <a:r>
              <a:rPr lang="en-US" b="1" dirty="0">
                <a:solidFill>
                  <a:srgbClr val="FF0000"/>
                </a:solidFill>
              </a:rPr>
              <a:t>a hash </a:t>
            </a:r>
            <a:r>
              <a:rPr lang="en-US" dirty="0"/>
              <a:t>(sometimes called a checksum). </a:t>
            </a:r>
          </a:p>
          <a:p>
            <a:pPr algn="just" fontAlgn="base"/>
            <a:r>
              <a:rPr lang="en-US" dirty="0"/>
              <a:t>The hash is used to </a:t>
            </a:r>
            <a:r>
              <a:rPr lang="en-US" dirty="0">
                <a:solidFill>
                  <a:srgbClr val="FF0000"/>
                </a:solidFill>
              </a:rPr>
              <a:t>verify</a:t>
            </a:r>
            <a:r>
              <a:rPr lang="en-US" dirty="0"/>
              <a:t> that data is not modified, tampered with, or corrupted. </a:t>
            </a:r>
          </a:p>
          <a:p>
            <a:pPr algn="just" fontAlgn="base"/>
            <a:r>
              <a:rPr lang="en-US" dirty="0"/>
              <a:t>In other words, you can verify the data has maintained integrity.</a:t>
            </a:r>
          </a:p>
          <a:p>
            <a:pPr algn="just" fontAlgn="base"/>
            <a:r>
              <a:rPr lang="en-US" dirty="0"/>
              <a:t>Hashing is the process of transforming any given key or a string of </a:t>
            </a:r>
            <a:r>
              <a:rPr lang="en-US" u="sng" dirty="0">
                <a:hlinkClick r:id="rId2"/>
              </a:rPr>
              <a:t>characters</a:t>
            </a:r>
            <a:r>
              <a:rPr lang="en-US" dirty="0"/>
              <a:t> into another value. </a:t>
            </a:r>
          </a:p>
          <a:p>
            <a:pPr algn="just" fontAlgn="base"/>
            <a:r>
              <a:rPr lang="en-US" dirty="0"/>
              <a:t>This is usually represented by a </a:t>
            </a:r>
            <a:r>
              <a:rPr lang="en-US" b="1" dirty="0"/>
              <a:t>shorter, fixed-length value or key </a:t>
            </a:r>
            <a:r>
              <a:rPr lang="en-US" dirty="0"/>
              <a:t>that represents and makes it easier to find or employ the original string</a:t>
            </a:r>
          </a:p>
          <a:p>
            <a:pPr algn="just" fontAlgn="base"/>
            <a:r>
              <a:rPr lang="en-US" dirty="0"/>
              <a:t>A key point about a hash is that no matter </a:t>
            </a:r>
            <a:r>
              <a:rPr lang="en-US" b="1" dirty="0"/>
              <a:t>how many times you execute</a:t>
            </a:r>
            <a:r>
              <a:rPr lang="en-US" dirty="0"/>
              <a:t> the hashing algorithm against the data, the hash will always be the same if the data is the same</a:t>
            </a:r>
          </a:p>
          <a:p>
            <a:pPr algn="just" fontAlgn="base"/>
            <a:r>
              <a:rPr lang="en-US" dirty="0"/>
              <a:t>The most popular use for hashing is the implementation of </a:t>
            </a:r>
            <a:r>
              <a:rPr lang="en-US" b="1" dirty="0"/>
              <a:t>hash tables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dirty="0"/>
              <a:t>Hashing Algorithms</a:t>
            </a:r>
          </a:p>
        </p:txBody>
      </p:sp>
      <p:sp>
        <p:nvSpPr>
          <p:cNvPr id="3" name="Content Placeholder 2"/>
          <p:cNvSpPr>
            <a:spLocks noGrp="1"/>
          </p:cNvSpPr>
          <p:nvPr>
            <p:ph idx="1"/>
          </p:nvPr>
        </p:nvSpPr>
        <p:spPr>
          <a:xfrm>
            <a:off x="0" y="762000"/>
            <a:ext cx="9144000" cy="5943600"/>
          </a:xfrm>
        </p:spPr>
        <p:txBody>
          <a:bodyPr>
            <a:noAutofit/>
          </a:bodyPr>
          <a:lstStyle/>
          <a:p>
            <a:pPr fontAlgn="base">
              <a:buNone/>
            </a:pPr>
            <a:r>
              <a:rPr lang="en-US" sz="3600" b="1" dirty="0" smtClean="0"/>
              <a:t>MD5</a:t>
            </a:r>
          </a:p>
          <a:p>
            <a:r>
              <a:rPr lang="en-US" sz="2800" b="1" dirty="0" smtClean="0"/>
              <a:t>Definition</a:t>
            </a:r>
          </a:p>
          <a:p>
            <a:pPr>
              <a:buNone/>
            </a:pPr>
            <a:r>
              <a:rPr lang="en-US" sz="2800" b="1" dirty="0" smtClean="0"/>
              <a:t>    MD5 (Message-Digest Algorithm 5)</a:t>
            </a:r>
            <a:r>
              <a:rPr lang="en-US" sz="2800" dirty="0" smtClean="0"/>
              <a:t> is a </a:t>
            </a:r>
            <a:r>
              <a:rPr lang="en-US" sz="2800" b="1" dirty="0" smtClean="0"/>
              <a:t>cryptographic hash algorithm</a:t>
            </a:r>
            <a:r>
              <a:rPr lang="en-US" sz="2800" dirty="0" smtClean="0"/>
              <a:t> that converts a message of </a:t>
            </a:r>
            <a:r>
              <a:rPr lang="en-US" sz="2800" b="1" dirty="0" smtClean="0"/>
              <a:t>any length</a:t>
            </a:r>
            <a:r>
              <a:rPr lang="en-US" sz="2800" dirty="0" smtClean="0"/>
              <a:t> into a fixed-size </a:t>
            </a:r>
            <a:r>
              <a:rPr lang="en-US" sz="2800" b="1" dirty="0" smtClean="0"/>
              <a:t>128-bit message digest</a:t>
            </a:r>
            <a:r>
              <a:rPr lang="en-US" sz="2800" dirty="0" smtClean="0"/>
              <a:t>.</a:t>
            </a:r>
            <a:endParaRPr lang="en-US" sz="2800" b="1" dirty="0"/>
          </a:p>
          <a:p>
            <a:pPr algn="just" fontAlgn="base">
              <a:buNone/>
            </a:pPr>
            <a:r>
              <a:rPr lang="en-US" sz="2000" dirty="0"/>
              <a:t>        Message Digest 5 (MD5) is a common hashing algorithm that produces a </a:t>
            </a:r>
            <a:r>
              <a:rPr lang="en-US" sz="2000" b="1" dirty="0"/>
              <a:t>128-bithash. </a:t>
            </a:r>
          </a:p>
          <a:p>
            <a:pPr algn="just" fontAlgn="base">
              <a:buNone/>
            </a:pPr>
            <a:r>
              <a:rPr lang="en-US" sz="2000" dirty="0"/>
              <a:t>        Hashes are commonly shown in hexadecimal format instead of a stream of 1s and 0s.</a:t>
            </a:r>
          </a:p>
          <a:p>
            <a:pPr algn="just" fontAlgn="base">
              <a:buNone/>
            </a:pPr>
            <a:r>
              <a:rPr lang="en-US" sz="2000" dirty="0"/>
              <a:t>    ---&gt; For example, an MD5 hash is displayed as 32 hexadecimal characters instead of 128 bits.</a:t>
            </a:r>
          </a:p>
          <a:p>
            <a:pPr algn="just"/>
            <a:r>
              <a:rPr lang="en-US" sz="2000" dirty="0"/>
              <a:t>MD5 was developed as an improvement of MD4, with advanced security purposes. The output of MD5 (Digest size) is always </a:t>
            </a:r>
            <a:r>
              <a:rPr lang="en-US" sz="2000" b="1" dirty="0"/>
              <a:t>128 bits. </a:t>
            </a:r>
          </a:p>
          <a:p>
            <a:pPr algn="just"/>
            <a:r>
              <a:rPr lang="en-US" sz="2000" b="1" dirty="0"/>
              <a:t>MD5 </a:t>
            </a:r>
            <a:r>
              <a:rPr lang="en-US" sz="2000" dirty="0"/>
              <a:t>was</a:t>
            </a:r>
            <a:r>
              <a:rPr lang="en-US" sz="2000" b="1" dirty="0"/>
              <a:t> </a:t>
            </a:r>
            <a:r>
              <a:rPr lang="en-US" sz="2000" dirty="0"/>
              <a:t>developed in 1991 by </a:t>
            </a:r>
            <a:r>
              <a:rPr lang="en-US" sz="2000" b="1" dirty="0"/>
              <a:t>Ronald Rivest</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a:t>Use Of MD5 Algorithm</a:t>
            </a:r>
            <a:endParaRPr lang="en-US" dirty="0"/>
          </a:p>
        </p:txBody>
      </p:sp>
      <p:sp>
        <p:nvSpPr>
          <p:cNvPr id="3" name="Content Placeholder 2"/>
          <p:cNvSpPr>
            <a:spLocks noGrp="1"/>
          </p:cNvSpPr>
          <p:nvPr>
            <p:ph idx="1"/>
          </p:nvPr>
        </p:nvSpPr>
        <p:spPr>
          <a:xfrm>
            <a:off x="457200" y="1143000"/>
            <a:ext cx="8229600" cy="4525963"/>
          </a:xfrm>
        </p:spPr>
        <p:txBody>
          <a:bodyPr/>
          <a:lstStyle/>
          <a:p>
            <a:pPr fontAlgn="base"/>
            <a:r>
              <a:rPr lang="en-US" b="1" dirty="0"/>
              <a:t>It is used for file a</a:t>
            </a:r>
            <a:r>
              <a:rPr lang="en-US" dirty="0"/>
              <a:t>uthentication.</a:t>
            </a:r>
          </a:p>
          <a:p>
            <a:pPr fontAlgn="base"/>
            <a:r>
              <a:rPr lang="en-US" dirty="0"/>
              <a:t>In a web application, it is used for </a:t>
            </a:r>
            <a:r>
              <a:rPr lang="en-US" b="1" dirty="0"/>
              <a:t>security purposes</a:t>
            </a:r>
            <a:r>
              <a:rPr lang="en-US" dirty="0"/>
              <a:t>. e.g. Secure password of users etc.</a:t>
            </a:r>
          </a:p>
          <a:p>
            <a:pPr fontAlgn="base"/>
            <a:r>
              <a:rPr lang="en-US" dirty="0"/>
              <a:t>Using this algorithm, We can store our password in 128 bits format. </a:t>
            </a:r>
          </a:p>
          <a:p>
            <a:pPr fontAlgn="base"/>
            <a:endParaRPr lang="en-US" dirty="0"/>
          </a:p>
        </p:txBody>
      </p:sp>
      <p:pic>
        <p:nvPicPr>
          <p:cNvPr id="4" name="Picture 3" descr="MD5hash.jpg"/>
          <p:cNvPicPr>
            <a:picLocks noChangeAspect="1"/>
          </p:cNvPicPr>
          <p:nvPr/>
        </p:nvPicPr>
        <p:blipFill>
          <a:blip r:embed="rId2" cstate="print"/>
          <a:stretch>
            <a:fillRect/>
          </a:stretch>
        </p:blipFill>
        <p:spPr>
          <a:xfrm>
            <a:off x="381000" y="3810000"/>
            <a:ext cx="8382000" cy="2667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Users\dell\OneDrive\Desktop\300px-MD5_algorithm.svg.png"/>
          <p:cNvPicPr>
            <a:picLocks noChangeAspect="1" noChangeArrowheads="1"/>
          </p:cNvPicPr>
          <p:nvPr/>
        </p:nvPicPr>
        <p:blipFill>
          <a:blip r:embed="rId2" cstate="print"/>
          <a:srcRect/>
          <a:stretch>
            <a:fillRect/>
          </a:stretch>
        </p:blipFill>
        <p:spPr bwMode="auto">
          <a:xfrm>
            <a:off x="1600200" y="160020"/>
            <a:ext cx="5715000" cy="624078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Working of the MD5 Algorithm</a:t>
            </a:r>
            <a:endParaRPr lang="en-US" dirty="0"/>
          </a:p>
        </p:txBody>
      </p:sp>
      <p:sp>
        <p:nvSpPr>
          <p:cNvPr id="3" name="Content Placeholder 2"/>
          <p:cNvSpPr>
            <a:spLocks noGrp="1"/>
          </p:cNvSpPr>
          <p:nvPr>
            <p:ph idx="1"/>
          </p:nvPr>
        </p:nvSpPr>
        <p:spPr>
          <a:xfrm>
            <a:off x="457200" y="1295400"/>
            <a:ext cx="8229600" cy="4830763"/>
          </a:xfrm>
        </p:spPr>
        <p:txBody>
          <a:bodyPr>
            <a:normAutofit fontScale="77500" lnSpcReduction="20000"/>
          </a:bodyPr>
          <a:lstStyle/>
          <a:p>
            <a:pPr algn="just"/>
            <a:r>
              <a:rPr lang="en-US" dirty="0"/>
              <a:t>MD5 algorithm follows the following steps</a:t>
            </a:r>
          </a:p>
          <a:p>
            <a:pPr algn="just" fontAlgn="base"/>
            <a:r>
              <a:rPr lang="en-US" b="1" dirty="0"/>
              <a:t>1. Append Padding Bits: </a:t>
            </a:r>
            <a:r>
              <a:rPr lang="en-US" dirty="0"/>
              <a:t>In the first step, we add padding bits in the original message in such a way that the total length of the message is 64 bits less than the exact multiple of 512. </a:t>
            </a:r>
            <a:r>
              <a:rPr lang="en-US" b="1" dirty="0"/>
              <a:t> </a:t>
            </a:r>
          </a:p>
          <a:p>
            <a:pPr algn="just" fontAlgn="base"/>
            <a:r>
              <a:rPr lang="en-US" dirty="0"/>
              <a:t>Suppose we are given a message of 1000 bits. Now we have to add padding bits to the original message. Here we will add 472 padding bits to the original message.  After adding the padding bits the size of the original message/output of the first step will be 1472 i.e. 64 bits less than an exact multiple of 512 (i.e. 512*3 = 1536).</a:t>
            </a:r>
            <a:br>
              <a:rPr lang="en-US" dirty="0"/>
            </a:br>
            <a:r>
              <a:rPr lang="en-US" b="1" dirty="0"/>
              <a:t>Length(original message + padding bits) =  512 * </a:t>
            </a:r>
            <a:r>
              <a:rPr lang="en-US" b="1" dirty="0" err="1"/>
              <a:t>i</a:t>
            </a:r>
            <a:r>
              <a:rPr lang="en-US" b="1" dirty="0"/>
              <a:t> – 64 </a:t>
            </a:r>
            <a:r>
              <a:rPr lang="en-US" dirty="0"/>
              <a:t>where </a:t>
            </a:r>
            <a:r>
              <a:rPr lang="en-US" dirty="0" err="1"/>
              <a:t>i</a:t>
            </a:r>
            <a:r>
              <a:rPr lang="en-US" dirty="0"/>
              <a:t> = 1,2,3 . . . </a:t>
            </a:r>
            <a:br>
              <a:rPr lang="en-US" dirty="0"/>
            </a:b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85000" lnSpcReduction="20000"/>
          </a:bodyPr>
          <a:lstStyle/>
          <a:p>
            <a:r>
              <a:rPr lang="en-US" b="1" dirty="0"/>
              <a:t>2. Append Length Bits: </a:t>
            </a:r>
            <a:r>
              <a:rPr lang="en-US" dirty="0"/>
              <a:t>In this step, we add the length bit in the output of the first step in such a way that the total number of the bits is the perfect multiple of 512. Simply, here we add the 64-bit as a length bit in the output of the first step. </a:t>
            </a:r>
            <a:br>
              <a:rPr lang="en-US" dirty="0"/>
            </a:br>
            <a:r>
              <a:rPr lang="en-US" dirty="0"/>
              <a:t>i.e. output of first step = 512 * n – 64 </a:t>
            </a:r>
            <a:br>
              <a:rPr lang="en-US" dirty="0"/>
            </a:br>
            <a:r>
              <a:rPr lang="en-US" dirty="0"/>
              <a:t>length bits = 64. </a:t>
            </a:r>
            <a:br>
              <a:rPr lang="en-US" dirty="0"/>
            </a:br>
            <a:r>
              <a:rPr lang="en-US" dirty="0"/>
              <a:t>After adding both we will get</a:t>
            </a:r>
            <a:r>
              <a:rPr lang="en-US" b="1" dirty="0"/>
              <a:t> 512 * n </a:t>
            </a:r>
            <a:r>
              <a:rPr lang="en-US" dirty="0"/>
              <a:t>i.e. the exact multiple of 512.</a:t>
            </a:r>
          </a:p>
          <a:p>
            <a:pPr fontAlgn="base"/>
            <a:r>
              <a:rPr lang="en-US" b="1" dirty="0"/>
              <a:t>3. Initialize MD buffer: </a:t>
            </a:r>
            <a:r>
              <a:rPr lang="en-US" dirty="0"/>
              <a:t>Here, we use the 4 buffers i.e. A, B, C, and D. The size of each buffer is 32 bits.  </a:t>
            </a:r>
          </a:p>
          <a:p>
            <a:pPr lvl="3">
              <a:buNone/>
            </a:pPr>
            <a:r>
              <a:rPr lang="en-US" dirty="0"/>
              <a:t>       </a:t>
            </a:r>
            <a:r>
              <a:rPr lang="en-US" sz="2800" dirty="0"/>
              <a:t>- A = 0x67425301 </a:t>
            </a:r>
          </a:p>
          <a:p>
            <a:pPr lvl="3">
              <a:buNone/>
            </a:pPr>
            <a:r>
              <a:rPr lang="en-US" sz="2800" dirty="0"/>
              <a:t>     - B = 0xEDFCBA45 </a:t>
            </a:r>
          </a:p>
          <a:p>
            <a:pPr lvl="3">
              <a:buNone/>
            </a:pPr>
            <a:r>
              <a:rPr lang="en-US" sz="2800" dirty="0"/>
              <a:t>     - C = 0x98CBADFE </a:t>
            </a:r>
          </a:p>
          <a:p>
            <a:pPr lvl="3">
              <a:buNone/>
            </a:pPr>
            <a:r>
              <a:rPr lang="en-US" sz="2800" dirty="0"/>
              <a:t>     - D = 0x13DCE476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Autofit/>
          </a:bodyPr>
          <a:lstStyle/>
          <a:p>
            <a:pPr fontAlgn="base"/>
            <a:r>
              <a:rPr lang="en-US" sz="1800" b="1" dirty="0"/>
              <a:t>4. Process Each 512-bit Block:</a:t>
            </a:r>
            <a:r>
              <a:rPr lang="en-US" sz="1600" b="1" dirty="0"/>
              <a:t> </a:t>
            </a:r>
          </a:p>
          <a:p>
            <a:pPr fontAlgn="base"/>
            <a:endParaRPr lang="en-US" sz="1600" dirty="0"/>
          </a:p>
          <a:p>
            <a:pPr fontAlgn="base"/>
            <a:r>
              <a:rPr lang="en-US" sz="1600" dirty="0"/>
              <a:t>This is the most important step of the MD5 algorithm. Here, a total of </a:t>
            </a:r>
            <a:r>
              <a:rPr lang="en-US" sz="1600" b="1" dirty="0"/>
              <a:t>64 operations </a:t>
            </a:r>
            <a:r>
              <a:rPr lang="en-US" sz="1600" dirty="0"/>
              <a:t>are performed in 4 rounds. </a:t>
            </a:r>
          </a:p>
          <a:p>
            <a:pPr fontAlgn="base"/>
            <a:r>
              <a:rPr lang="en-US" sz="1600" dirty="0"/>
              <a:t>In the 1st round, 16 operations will be performed, 2nd round 16 operations will be performed, 3rd round 16 operations will be performed, and in the 4th round, 16 operations will be performed. </a:t>
            </a:r>
          </a:p>
          <a:p>
            <a:pPr fontAlgn="base"/>
            <a:r>
              <a:rPr lang="en-US" sz="1600" dirty="0"/>
              <a:t>We apply a different function on each round i.e. for the 1st round we apply the F function, for the 2nd G function, 3rd for the H function, and 4th for the I function. </a:t>
            </a:r>
            <a:br>
              <a:rPr lang="en-US" sz="1600" dirty="0"/>
            </a:br>
            <a:r>
              <a:rPr lang="en-US" sz="1600" dirty="0"/>
              <a:t>We perform OR, AND, XOR, and NOT (basically these are logic gates) for calculating functions. We use 3 buffers for each function i.e. B, C, D.</a:t>
            </a:r>
          </a:p>
          <a:p>
            <a:pPr fontAlgn="base"/>
            <a:r>
              <a:rPr lang="en-US" sz="1600" dirty="0"/>
              <a:t>- F(B,C,D) = (B AND C) OR (NOT B AND D)</a:t>
            </a:r>
          </a:p>
          <a:p>
            <a:pPr fontAlgn="base"/>
            <a:r>
              <a:rPr lang="en-US" sz="1600" dirty="0"/>
              <a:t> - G(B,C,D) = (B AND C) OR (C AND NOT D) </a:t>
            </a:r>
          </a:p>
          <a:p>
            <a:pPr fontAlgn="base"/>
            <a:r>
              <a:rPr lang="en-US" sz="1600" dirty="0"/>
              <a:t>- H(B,C,D) = B XOR C XOR D </a:t>
            </a:r>
          </a:p>
          <a:p>
            <a:pPr fontAlgn="base"/>
            <a:r>
              <a:rPr lang="en-US" sz="1600" dirty="0"/>
              <a:t>- I(B,C,D) = C XOR (B OR NOT D )</a:t>
            </a:r>
          </a:p>
          <a:p>
            <a:pPr fontAlgn="base"/>
            <a:r>
              <a:rPr lang="en-US" sz="1600" dirty="0"/>
              <a:t>After applying the function now we perform an operation on each block. </a:t>
            </a:r>
          </a:p>
          <a:p>
            <a:pPr fontAlgn="base"/>
            <a:r>
              <a:rPr lang="en-US" sz="1600" dirty="0"/>
              <a:t>For performing operations we need </a:t>
            </a:r>
          </a:p>
          <a:p>
            <a:pPr fontAlgn="base">
              <a:buNone/>
            </a:pPr>
            <a:r>
              <a:rPr lang="en-US" sz="1600" dirty="0"/>
              <a:t>                        add modulo 2</a:t>
            </a:r>
            <a:r>
              <a:rPr lang="en-US" sz="1600" baseline="30000" dirty="0"/>
              <a:t>32</a:t>
            </a:r>
            <a:endParaRPr lang="en-US" sz="1600" dirty="0"/>
          </a:p>
          <a:p>
            <a:pPr fontAlgn="base">
              <a:buNone/>
            </a:pPr>
            <a:r>
              <a:rPr lang="en-US" sz="1600" dirty="0"/>
              <a:t>                        M[</a:t>
            </a:r>
            <a:r>
              <a:rPr lang="en-US" sz="1600" dirty="0" err="1"/>
              <a:t>i</a:t>
            </a:r>
            <a:r>
              <a:rPr lang="en-US" sz="1600" dirty="0"/>
              <a:t>] – 32 bit message.</a:t>
            </a:r>
          </a:p>
          <a:p>
            <a:pPr fontAlgn="base">
              <a:buNone/>
            </a:pPr>
            <a:r>
              <a:rPr lang="en-US" sz="1600" dirty="0"/>
              <a:t>                        K[</a:t>
            </a:r>
            <a:r>
              <a:rPr lang="en-US" sz="1600" dirty="0" err="1"/>
              <a:t>i</a:t>
            </a:r>
            <a:r>
              <a:rPr lang="en-US" sz="1600" dirty="0"/>
              <a:t>] – 32 bit constant.</a:t>
            </a:r>
          </a:p>
          <a:p>
            <a:pPr fontAlgn="base">
              <a:buNone/>
            </a:pPr>
            <a:r>
              <a:rPr lang="en-US" sz="1600" dirty="0"/>
              <a:t>                         &lt;&lt;&lt;n – Left shift by n bits.</a:t>
            </a:r>
          </a:p>
          <a:p>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0000" lnSpcReduction="20000"/>
          </a:bodyPr>
          <a:lstStyle/>
          <a:p>
            <a:pPr fontAlgn="base"/>
            <a:r>
              <a:rPr lang="en-US" b="1" dirty="0"/>
              <a:t>Application Of MD5 Algorithm:</a:t>
            </a:r>
          </a:p>
          <a:p>
            <a:pPr fontAlgn="base"/>
            <a:r>
              <a:rPr lang="en-US" dirty="0"/>
              <a:t>We use message digest to verify the integrity of files/ authenticates files.</a:t>
            </a:r>
          </a:p>
          <a:p>
            <a:pPr fontAlgn="base"/>
            <a:r>
              <a:rPr lang="en-US" dirty="0"/>
              <a:t>MD5 was used for data security and encryption.</a:t>
            </a:r>
          </a:p>
          <a:p>
            <a:pPr fontAlgn="base"/>
            <a:r>
              <a:rPr lang="en-US" dirty="0"/>
              <a:t>It is used to Digest the message of any size and also used for Password verification.</a:t>
            </a:r>
          </a:p>
          <a:p>
            <a:pPr fontAlgn="base"/>
            <a:r>
              <a:rPr lang="en-US" dirty="0"/>
              <a:t>MD5 is faster and simple to understand.</a:t>
            </a:r>
          </a:p>
          <a:p>
            <a:pPr fontAlgn="base"/>
            <a:r>
              <a:rPr lang="en-US" dirty="0"/>
              <a:t>MD5 algorithm generates a strong password in 16 bytes format. All developers like web developers  use the MD5 algorithm to secure the password of users. </a:t>
            </a:r>
          </a:p>
          <a:p>
            <a:pPr fontAlgn="base"/>
            <a:r>
              <a:rPr lang="en-US" dirty="0"/>
              <a:t>To integrate the MD5 algorithm, relatively low memory is necessary. </a:t>
            </a:r>
          </a:p>
          <a:p>
            <a:pPr fontAlgn="base"/>
            <a:r>
              <a:rPr lang="en-US" dirty="0"/>
              <a:t>It is very easy and faster to generate a digest message of the original message.</a:t>
            </a:r>
          </a:p>
          <a:p>
            <a:pPr fontAlgn="base"/>
            <a:r>
              <a:rPr lang="en-US" b="1" dirty="0"/>
              <a:t>Disadvantages of MD5 Algorithm:</a:t>
            </a:r>
          </a:p>
          <a:p>
            <a:pPr fontAlgn="base"/>
            <a:r>
              <a:rPr lang="en-US" dirty="0"/>
              <a:t>MD5 generates the same hash function for different inputs. </a:t>
            </a:r>
          </a:p>
          <a:p>
            <a:pPr fontAlgn="base"/>
            <a:r>
              <a:rPr lang="en-US" dirty="0"/>
              <a:t>MD5 provides poor security over </a:t>
            </a:r>
            <a:r>
              <a:rPr lang="en-US" u="sng" dirty="0">
                <a:hlinkClick r:id="rId2"/>
              </a:rPr>
              <a:t>SHA1</a:t>
            </a:r>
            <a:r>
              <a:rPr lang="en-US" dirty="0"/>
              <a:t>.</a:t>
            </a:r>
          </a:p>
          <a:p>
            <a:pPr fontAlgn="base"/>
            <a:r>
              <a:rPr lang="en-US" dirty="0"/>
              <a:t>MD5 has been considered an insecure algorithm. So now we are using SHA256 instead of MD5  </a:t>
            </a:r>
          </a:p>
          <a:p>
            <a:pPr fontAlgn="base"/>
            <a:r>
              <a:rPr lang="en-US" dirty="0"/>
              <a:t>MD5 is neither a symmetric nor asymmetric algorithm.</a:t>
            </a:r>
            <a:br>
              <a:rPr lang="en-US" dirty="0"/>
            </a:b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hatGPT Image Aug 8, 2026, 08_58_00 AM.png"/>
          <p:cNvPicPr>
            <a:picLocks noChangeAspect="1"/>
          </p:cNvPicPr>
          <p:nvPr/>
        </p:nvPicPr>
        <p:blipFill>
          <a:blip r:embed="rId2"/>
          <a:stretch>
            <a:fillRect/>
          </a:stretch>
        </p:blipFill>
        <p:spPr>
          <a:xfrm>
            <a:off x="0" y="381000"/>
            <a:ext cx="91440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382</Words>
  <Application>Microsoft Office PowerPoint</Application>
  <PresentationFormat>On-screen Show (4:3)</PresentationFormat>
  <Paragraphs>67</Paragraphs>
  <Slides>10</Slides>
  <Notes>1</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Hash values</vt:lpstr>
      <vt:lpstr>Slide 2</vt:lpstr>
      <vt:lpstr>Hashing Algorithms</vt:lpstr>
      <vt:lpstr>Use Of MD5 Algorithm</vt:lpstr>
      <vt:lpstr>Slide 5</vt:lpstr>
      <vt:lpstr>Working of the MD5 Algorithm</vt:lpstr>
      <vt:lpstr>Slide 7</vt:lpstr>
      <vt:lpstr>Slide 8</vt:lpstr>
      <vt:lpstr>Slide 9</vt:lpstr>
      <vt:lpstr>Slide 10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Hash values</dc:title>
  <dc:creator>student</dc:creator>
  <cp:lastModifiedBy>student</cp:lastModifiedBy>
  <cp:revision>2</cp:revision>
  <dcterms:created xsi:type="dcterms:W3CDTF">2026-08-08T03:24:19Z</dcterms:created>
  <dcterms:modified xsi:type="dcterms:W3CDTF">2026-08-08T03:36:51Z</dcterms:modified>
</cp:coreProperties>
</file>