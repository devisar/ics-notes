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4" r:id="rId4"/>
    <p:sldId id="265" r:id="rId5"/>
    <p:sldId id="266" r:id="rId6"/>
    <p:sldId id="256" r:id="rId7"/>
    <p:sldId id="259" r:id="rId8"/>
    <p:sldId id="260" r:id="rId9"/>
    <p:sldId id="261" r:id="rId10"/>
    <p:sldId id="262" r:id="rId11"/>
    <p:sldId id="263"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72A1EB9-BB5B-43C1-B8EA-4DAAD8FE12A7}"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8785D3-EE33-44AB-91E6-69B82CA9ED4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2A1EB9-BB5B-43C1-B8EA-4DAAD8FE12A7}"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8785D3-EE33-44AB-91E6-69B82CA9ED4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72A1EB9-BB5B-43C1-B8EA-4DAAD8FE12A7}"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8785D3-EE33-44AB-91E6-69B82CA9ED4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72A1EB9-BB5B-43C1-B8EA-4DAAD8FE12A7}" type="datetimeFigureOut">
              <a:rPr lang="en-US" smtClean="0"/>
              <a:pPr/>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8785D3-EE33-44AB-91E6-69B82CA9ED4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72A1EB9-BB5B-43C1-B8EA-4DAAD8FE12A7}" type="datetimeFigureOut">
              <a:rPr lang="en-US" smtClean="0"/>
              <a:pPr/>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8785D3-EE33-44AB-91E6-69B82CA9ED4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72A1EB9-BB5B-43C1-B8EA-4DAAD8FE12A7}" type="datetimeFigureOut">
              <a:rPr lang="en-US" smtClean="0"/>
              <a:pPr/>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8785D3-EE33-44AB-91E6-69B82CA9ED4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2A1EB9-BB5B-43C1-B8EA-4DAAD8FE12A7}" type="datetimeFigureOut">
              <a:rPr lang="en-US" smtClean="0"/>
              <a:pPr/>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8785D3-EE33-44AB-91E6-69B82CA9ED4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2A1EB9-BB5B-43C1-B8EA-4DAAD8FE12A7}" type="datetimeFigureOut">
              <a:rPr lang="en-US" smtClean="0"/>
              <a:pPr/>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8785D3-EE33-44AB-91E6-69B82CA9ED4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2A1EB9-BB5B-43C1-B8EA-4DAAD8FE12A7}" type="datetimeFigureOut">
              <a:rPr lang="en-US" smtClean="0"/>
              <a:pPr/>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8785D3-EE33-44AB-91E6-69B82CA9ED4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2A1EB9-BB5B-43C1-B8EA-4DAAD8FE12A7}"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8785D3-EE33-44AB-91E6-69B82CA9ED4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2A1EB9-BB5B-43C1-B8EA-4DAAD8FE12A7}"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8785D3-EE33-44AB-91E6-69B82CA9ED4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2A1EB9-BB5B-43C1-B8EA-4DAAD8FE12A7}" type="datetimeFigureOut">
              <a:rPr lang="en-US" smtClean="0"/>
              <a:pPr/>
              <a:t>7/9/2026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8785D3-EE33-44AB-91E6-69B82CA9ED4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914400" y="1371600"/>
            <a:ext cx="7250113" cy="3200400"/>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990600" y="762000"/>
            <a:ext cx="7848600" cy="43434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1"/>
            <a:ext cx="8229600" cy="2133600"/>
          </a:xfrm>
        </p:spPr>
        <p:txBody>
          <a:bodyPr>
            <a:normAutofit/>
          </a:bodyPr>
          <a:lstStyle/>
          <a:p>
            <a:pPr>
              <a:buNone/>
            </a:pPr>
            <a:r>
              <a:rPr lang="en-US" sz="1600" b="1" dirty="0" smtClean="0"/>
              <a:t>VMware</a:t>
            </a:r>
          </a:p>
          <a:p>
            <a:r>
              <a:rPr lang="en-US" sz="1600" dirty="0" smtClean="0"/>
              <a:t>VMware Workstation is virtualization software. It allows you to run multiple operating systems on a single physical computer without replacing your main operating system.</a:t>
            </a:r>
          </a:p>
          <a:p>
            <a:r>
              <a:rPr lang="en-US" sz="1600" dirty="0" smtClean="0"/>
              <a:t>For example:</a:t>
            </a:r>
          </a:p>
          <a:p>
            <a:r>
              <a:rPr lang="en-US" sz="1600" dirty="0" smtClean="0"/>
              <a:t>Your computer runs </a:t>
            </a:r>
            <a:r>
              <a:rPr lang="en-US" sz="1600" b="1" dirty="0" smtClean="0"/>
              <a:t>Windows 11</a:t>
            </a:r>
            <a:r>
              <a:rPr lang="en-US" sz="1600" dirty="0" smtClean="0"/>
              <a:t>. </a:t>
            </a:r>
          </a:p>
          <a:p>
            <a:r>
              <a:rPr lang="en-US" sz="1600" dirty="0" smtClean="0"/>
              <a:t>Using VMware, you can install and run </a:t>
            </a:r>
            <a:r>
              <a:rPr lang="en-US" sz="1600" b="1" dirty="0" smtClean="0"/>
              <a:t>Kali Linux</a:t>
            </a:r>
            <a:r>
              <a:rPr lang="en-US" sz="1600" dirty="0" smtClean="0"/>
              <a:t> inside a virtual machine. </a:t>
            </a:r>
          </a:p>
          <a:p>
            <a:r>
              <a:rPr lang="en-US" sz="1600" dirty="0" smtClean="0"/>
              <a:t>Both Windows and Kali Linux can run at the same time.</a:t>
            </a:r>
          </a:p>
          <a:p>
            <a:endParaRPr lang="en-US" sz="1600" dirty="0"/>
          </a:p>
        </p:txBody>
      </p:sp>
      <p:pic>
        <p:nvPicPr>
          <p:cNvPr id="6" name="Picture 5"/>
          <p:cNvPicPr/>
          <p:nvPr/>
        </p:nvPicPr>
        <p:blipFill>
          <a:blip r:embed="rId2"/>
          <a:srcRect/>
          <a:stretch>
            <a:fillRect/>
          </a:stretch>
        </p:blipFill>
        <p:spPr bwMode="auto">
          <a:xfrm>
            <a:off x="1447800" y="2971800"/>
            <a:ext cx="6477000" cy="2708082"/>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52401"/>
            <a:ext cx="8229600" cy="2819400"/>
          </a:xfrm>
        </p:spPr>
        <p:txBody>
          <a:bodyPr>
            <a:normAutofit/>
          </a:bodyPr>
          <a:lstStyle/>
          <a:p>
            <a:pPr>
              <a:buNone/>
            </a:pPr>
            <a:r>
              <a:rPr lang="en-US" sz="1600" b="1" dirty="0" smtClean="0"/>
              <a:t>Kali Linux</a:t>
            </a:r>
          </a:p>
          <a:p>
            <a:r>
              <a:rPr lang="en-US" sz="1600" dirty="0" smtClean="0"/>
              <a:t>Kali Linux is a Linux-based operating system designed for </a:t>
            </a:r>
            <a:r>
              <a:rPr lang="en-US" sz="1600" dirty="0" err="1" smtClean="0"/>
              <a:t>cybersecurity</a:t>
            </a:r>
            <a:r>
              <a:rPr lang="en-US" sz="1600" dirty="0" smtClean="0"/>
              <a:t> professionals, penetration testers, and ethical hackers.</a:t>
            </a:r>
          </a:p>
          <a:p>
            <a:r>
              <a:rPr lang="en-US" sz="1600" dirty="0" smtClean="0"/>
              <a:t>It comes with hundreds of pre-installed security tools, such as:</a:t>
            </a:r>
          </a:p>
          <a:p>
            <a:r>
              <a:rPr lang="en-US" sz="1600" dirty="0" err="1" smtClean="0"/>
              <a:t>Nmap</a:t>
            </a:r>
            <a:r>
              <a:rPr lang="en-US" sz="1600" dirty="0" smtClean="0"/>
              <a:t> – Network scanning </a:t>
            </a:r>
          </a:p>
          <a:p>
            <a:r>
              <a:rPr lang="en-US" sz="1600" dirty="0" err="1" smtClean="0"/>
              <a:t>Wireshark</a:t>
            </a:r>
            <a:r>
              <a:rPr lang="en-US" sz="1600" dirty="0" smtClean="0"/>
              <a:t> – Network traffic analysis </a:t>
            </a:r>
          </a:p>
          <a:p>
            <a:r>
              <a:rPr lang="en-US" sz="1600" dirty="0" err="1" smtClean="0"/>
              <a:t>Metasploit</a:t>
            </a:r>
            <a:r>
              <a:rPr lang="en-US" sz="1600" dirty="0" smtClean="0"/>
              <a:t> Framework – Penetration testing </a:t>
            </a:r>
          </a:p>
          <a:p>
            <a:r>
              <a:rPr lang="en-US" sz="1600" dirty="0" smtClean="0"/>
              <a:t>John the Ripper – Password auditing </a:t>
            </a:r>
          </a:p>
          <a:p>
            <a:r>
              <a:rPr lang="en-US" sz="1600" dirty="0" smtClean="0"/>
              <a:t>Burp Suite – Web application security testing</a:t>
            </a:r>
          </a:p>
          <a:p>
            <a:endParaRPr lang="en-US" sz="1600" dirty="0"/>
          </a:p>
        </p:txBody>
      </p:sp>
      <p:pic>
        <p:nvPicPr>
          <p:cNvPr id="4" name="Picture 3"/>
          <p:cNvPicPr/>
          <p:nvPr/>
        </p:nvPicPr>
        <p:blipFill>
          <a:blip r:embed="rId2"/>
          <a:srcRect/>
          <a:stretch>
            <a:fillRect/>
          </a:stretch>
        </p:blipFill>
        <p:spPr bwMode="auto">
          <a:xfrm>
            <a:off x="838200" y="2971800"/>
            <a:ext cx="7239000" cy="320040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2400" dirty="0" smtClean="0"/>
              <a:t>Cryptography:-</a:t>
            </a:r>
            <a:r>
              <a:rPr lang="en-US" sz="2400" b="1" dirty="0" smtClean="0"/>
              <a:t> Cryptography</a:t>
            </a:r>
            <a:r>
              <a:rPr lang="en-US" sz="2400" dirty="0" smtClean="0"/>
              <a:t> is the science of protecting information by converting readable data (plaintext) into an unreadable form (</a:t>
            </a:r>
            <a:r>
              <a:rPr lang="en-US" sz="2400" dirty="0" err="1" smtClean="0"/>
              <a:t>ciphertext</a:t>
            </a:r>
            <a:r>
              <a:rPr lang="en-US" sz="2400" dirty="0" smtClean="0"/>
              <a:t>) using mathematical algorithms and keys.</a:t>
            </a:r>
            <a:endParaRPr lang="en-US" sz="2400" dirty="0"/>
          </a:p>
        </p:txBody>
      </p:sp>
      <p:pic>
        <p:nvPicPr>
          <p:cNvPr id="2050" name="Picture 2"/>
          <p:cNvPicPr>
            <a:picLocks noGrp="1" noChangeAspect="1" noChangeArrowheads="1"/>
          </p:cNvPicPr>
          <p:nvPr>
            <p:ph idx="1"/>
          </p:nvPr>
        </p:nvPicPr>
        <p:blipFill>
          <a:blip r:embed="rId2"/>
          <a:srcRect/>
          <a:stretch>
            <a:fillRect/>
          </a:stretch>
        </p:blipFill>
        <p:spPr bwMode="auto">
          <a:xfrm>
            <a:off x="457200" y="1906305"/>
            <a:ext cx="8229600" cy="3913752"/>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143000"/>
          </a:xfrm>
        </p:spPr>
        <p:txBody>
          <a:bodyPr/>
          <a:lstStyle/>
          <a:p>
            <a:r>
              <a:rPr lang="en-US" dirty="0" smtClean="0"/>
              <a:t>Week 1</a:t>
            </a:r>
            <a:endParaRPr lang="en-US" dirty="0"/>
          </a:p>
        </p:txBody>
      </p:sp>
      <p:sp>
        <p:nvSpPr>
          <p:cNvPr id="3" name="Subtitle 2"/>
          <p:cNvSpPr>
            <a:spLocks noGrp="1"/>
          </p:cNvSpPr>
          <p:nvPr>
            <p:ph type="subTitle" idx="1"/>
          </p:nvPr>
        </p:nvSpPr>
        <p:spPr>
          <a:xfrm>
            <a:off x="609600" y="2057400"/>
            <a:ext cx="7772400" cy="3429000"/>
          </a:xfrm>
        </p:spPr>
        <p:txBody>
          <a:bodyPr>
            <a:normAutofit/>
          </a:bodyPr>
          <a:lstStyle/>
          <a:p>
            <a:r>
              <a:rPr lang="en-US" b="1" dirty="0">
                <a:solidFill>
                  <a:schemeClr val="tx1"/>
                </a:solidFill>
              </a:rPr>
              <a:t>Cryptanalysis of Caesar Cipher using frequency analysis</a:t>
            </a:r>
            <a:r>
              <a:rPr lang="en-US" b="1" dirty="0" smtClean="0">
                <a:solidFill>
                  <a:schemeClr val="tx1"/>
                </a:solidFill>
              </a:rPr>
              <a:t>.</a:t>
            </a:r>
          </a:p>
          <a:p>
            <a:pPr algn="l"/>
            <a:r>
              <a:rPr lang="en-US" b="1" dirty="0" smtClean="0">
                <a:solidFill>
                  <a:schemeClr val="tx1"/>
                </a:solidFill>
              </a:rPr>
              <a:t>Aim:-</a:t>
            </a:r>
          </a:p>
          <a:p>
            <a:pPr algn="just"/>
            <a:r>
              <a:rPr lang="en-US" sz="2000" dirty="0" smtClean="0">
                <a:solidFill>
                  <a:schemeClr val="tx1"/>
                </a:solidFill>
              </a:rPr>
              <a:t>To perform cryptanalysis of Caesar Cipher using frequency analysis technique and recover the original plaintext without knowing the secret key</a:t>
            </a:r>
            <a:r>
              <a:rPr lang="en-US" sz="2000" dirty="0" smtClean="0"/>
              <a:t>.</a:t>
            </a:r>
          </a:p>
          <a:p>
            <a:endParaRPr lang="en-US" b="1"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8077200" cy="6248400"/>
          </a:xfrm>
        </p:spPr>
        <p:txBody>
          <a:bodyPr>
            <a:normAutofit fontScale="90000"/>
          </a:bodyPr>
          <a:lstStyle/>
          <a:p>
            <a:pPr algn="l"/>
            <a:r>
              <a:rPr lang="en-US" sz="1800" b="1" dirty="0" smtClean="0"/>
              <a:t/>
            </a:r>
            <a:br>
              <a:rPr lang="en-US" sz="1800" b="1" dirty="0" smtClean="0"/>
            </a:br>
            <a:r>
              <a:rPr lang="en-US" sz="2700" b="1" dirty="0" smtClean="0"/>
              <a:t>Introduction:-</a:t>
            </a:r>
            <a:r>
              <a:rPr lang="en-US" sz="1800" b="1" dirty="0"/>
              <a:t/>
            </a:r>
            <a:br>
              <a:rPr lang="en-US" sz="1800" b="1" dirty="0"/>
            </a:br>
            <a:r>
              <a:rPr lang="en-US" sz="2000" b="1" dirty="0" smtClean="0"/>
              <a:t>Cryptanalysis</a:t>
            </a:r>
            <a:r>
              <a:rPr lang="en-US" sz="2000" dirty="0" smtClean="0"/>
              <a:t> means analyzing encrypted data to break the encryption and find the original message without knowing the key.</a:t>
            </a:r>
            <a:r>
              <a:rPr lang="en-US" sz="1800" dirty="0" smtClean="0"/>
              <a:t/>
            </a:r>
            <a:br>
              <a:rPr lang="en-US" sz="1800" dirty="0" smtClean="0"/>
            </a:br>
            <a:r>
              <a:rPr lang="en-US" sz="2000" dirty="0" smtClean="0"/>
              <a:t/>
            </a:r>
            <a:br>
              <a:rPr lang="en-US" sz="2000" dirty="0" smtClean="0"/>
            </a:br>
            <a:r>
              <a:rPr lang="en-US" sz="2000" dirty="0" smtClean="0"/>
              <a:t>A </a:t>
            </a:r>
            <a:r>
              <a:rPr lang="en-US" sz="2000" b="1" dirty="0" smtClean="0"/>
              <a:t>Caesar Cipher</a:t>
            </a:r>
            <a:r>
              <a:rPr lang="en-US" sz="2000" dirty="0" smtClean="0"/>
              <a:t> is a substitution encryption technique where each letter in the plaintext is shifted by a fixed number of positions in the alphabet.</a:t>
            </a:r>
            <a:br>
              <a:rPr lang="en-US" sz="2000" dirty="0" smtClean="0"/>
            </a:br>
            <a:r>
              <a:rPr lang="en-US" sz="2000" dirty="0" smtClean="0"/>
              <a:t>Example:</a:t>
            </a:r>
            <a:br>
              <a:rPr lang="en-US" sz="2000" dirty="0" smtClean="0"/>
            </a:br>
            <a:r>
              <a:rPr lang="en-US" sz="2000" dirty="0" smtClean="0"/>
              <a:t>Plaintext: </a:t>
            </a:r>
            <a:r>
              <a:rPr lang="en-US" sz="2000" b="1" dirty="0" smtClean="0"/>
              <a:t>HELLO</a:t>
            </a:r>
            <a:r>
              <a:rPr lang="en-US" sz="2000" dirty="0" smtClean="0"/>
              <a:t/>
            </a:r>
            <a:br>
              <a:rPr lang="en-US" sz="2000" dirty="0" smtClean="0"/>
            </a:br>
            <a:r>
              <a:rPr lang="en-US" sz="2000" dirty="0" smtClean="0"/>
              <a:t>Key = 3 (shift right by 3)</a:t>
            </a:r>
            <a:br>
              <a:rPr lang="en-US" sz="2000" dirty="0" smtClean="0"/>
            </a:br>
            <a:r>
              <a:rPr lang="en-US" sz="2000" dirty="0" smtClean="0"/>
              <a:t>H → K</a:t>
            </a:r>
            <a:br>
              <a:rPr lang="en-US" sz="2000" dirty="0" smtClean="0"/>
            </a:br>
            <a:r>
              <a:rPr lang="en-US" sz="2000" dirty="0" smtClean="0"/>
              <a:t>E → H</a:t>
            </a:r>
            <a:br>
              <a:rPr lang="en-US" sz="2000" dirty="0" smtClean="0"/>
            </a:br>
            <a:r>
              <a:rPr lang="en-US" sz="2000" dirty="0" smtClean="0"/>
              <a:t>L → O</a:t>
            </a:r>
            <a:br>
              <a:rPr lang="en-US" sz="2000" dirty="0" smtClean="0"/>
            </a:br>
            <a:r>
              <a:rPr lang="en-US" sz="2000" dirty="0" smtClean="0"/>
              <a:t>L → O</a:t>
            </a:r>
            <a:br>
              <a:rPr lang="en-US" sz="2000" dirty="0" smtClean="0"/>
            </a:br>
            <a:r>
              <a:rPr lang="en-US" sz="2000" dirty="0" smtClean="0"/>
              <a:t>O → R</a:t>
            </a:r>
            <a:br>
              <a:rPr lang="en-US" sz="2000" dirty="0" smtClean="0"/>
            </a:br>
            <a:r>
              <a:rPr lang="en-US" sz="2000" dirty="0" err="1" smtClean="0"/>
              <a:t>Ciphertext</a:t>
            </a:r>
            <a:r>
              <a:rPr lang="en-US" sz="2000" dirty="0" smtClean="0"/>
              <a:t>: </a:t>
            </a:r>
            <a:r>
              <a:rPr lang="en-US" sz="2000" b="1" dirty="0" smtClean="0"/>
              <a:t>KHOOR</a:t>
            </a:r>
            <a:br>
              <a:rPr lang="en-US" sz="2000" b="1" dirty="0" smtClean="0"/>
            </a:br>
            <a:r>
              <a:rPr lang="en-US" sz="2000" b="1" dirty="0"/>
              <a:t/>
            </a:r>
            <a:br>
              <a:rPr lang="en-US" sz="2000" b="1" dirty="0"/>
            </a:br>
            <a:r>
              <a:rPr lang="en-US" sz="2200" b="1" dirty="0" smtClean="0"/>
              <a:t>Algorithm:</a:t>
            </a:r>
            <a:r>
              <a:rPr lang="en-US" sz="1400" dirty="0" smtClean="0"/>
              <a:t/>
            </a:r>
            <a:br>
              <a:rPr lang="en-US" sz="1400" dirty="0" smtClean="0"/>
            </a:br>
            <a:r>
              <a:rPr lang="en-US" sz="1800" b="1" dirty="0" smtClean="0"/>
              <a:t>1. Read </a:t>
            </a:r>
            <a:r>
              <a:rPr lang="en-US" sz="1800" b="1" dirty="0" err="1" smtClean="0"/>
              <a:t>ciphertext</a:t>
            </a:r>
            <a:r>
              <a:rPr lang="en-US" sz="1800" b="1" dirty="0" smtClean="0"/>
              <a:t>. </a:t>
            </a:r>
            <a:br>
              <a:rPr lang="en-US" sz="1800" b="1" dirty="0" smtClean="0"/>
            </a:br>
            <a:r>
              <a:rPr lang="en-US" sz="1800" b="1" dirty="0" smtClean="0"/>
              <a:t>2. Calculate frequency of each alphabet. </a:t>
            </a:r>
            <a:br>
              <a:rPr lang="en-US" sz="1800" b="1" dirty="0" smtClean="0"/>
            </a:br>
            <a:r>
              <a:rPr lang="en-US" sz="1800" b="1" dirty="0" smtClean="0"/>
              <a:t>3. Find most frequent character. </a:t>
            </a:r>
            <a:br>
              <a:rPr lang="en-US" sz="1800" b="1" dirty="0" smtClean="0"/>
            </a:br>
            <a:r>
              <a:rPr lang="en-US" sz="1800" b="1" dirty="0" smtClean="0"/>
              <a:t>4. Compare with English letter frequency. </a:t>
            </a:r>
            <a:br>
              <a:rPr lang="en-US" sz="1800" b="1" dirty="0" smtClean="0"/>
            </a:br>
            <a:r>
              <a:rPr lang="en-US" sz="1800" b="1" dirty="0" smtClean="0"/>
              <a:t>5. Estimate Caesar shift key. </a:t>
            </a:r>
            <a:br>
              <a:rPr lang="en-US" sz="1800" b="1" dirty="0" smtClean="0"/>
            </a:br>
            <a:r>
              <a:rPr lang="en-US" sz="1800" b="1" dirty="0" smtClean="0"/>
              <a:t>6. Apply reverse shift. </a:t>
            </a:r>
            <a:br>
              <a:rPr lang="en-US" sz="1800" b="1" dirty="0" smtClean="0"/>
            </a:br>
            <a:r>
              <a:rPr lang="en-US" sz="1800" b="1" dirty="0" smtClean="0"/>
              <a:t>7. Display plaintext.</a:t>
            </a:r>
            <a:r>
              <a:rPr lang="en-US" sz="1400" dirty="0" smtClean="0"/>
              <a:t/>
            </a:r>
            <a:br>
              <a:rPr lang="en-US" sz="1400" dirty="0" smtClean="0"/>
            </a:br>
            <a:r>
              <a:rPr lang="en-US" sz="1600" dirty="0" smtClean="0"/>
              <a:t/>
            </a:r>
            <a:br>
              <a:rPr lang="en-US" sz="1600" dirty="0" smtClean="0"/>
            </a:br>
            <a:r>
              <a:rPr lang="en-US" sz="1600" dirty="0" smtClean="0"/>
              <a:t/>
            </a:r>
            <a:br>
              <a:rPr lang="en-US" sz="1600" dirty="0" smtClean="0"/>
            </a:b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5334000" cy="685799"/>
          </a:xfrm>
        </p:spPr>
        <p:txBody>
          <a:bodyPr>
            <a:normAutofit fontScale="90000"/>
          </a:bodyPr>
          <a:lstStyle/>
          <a:p>
            <a:pPr algn="l"/>
            <a:r>
              <a:rPr lang="en-US" sz="2400" dirty="0" smtClean="0"/>
              <a:t>Example </a:t>
            </a:r>
            <a:r>
              <a:rPr lang="en-US" sz="2400" b="1" dirty="0" err="1" smtClean="0"/>
              <a:t>Ciphertext</a:t>
            </a:r>
            <a:r>
              <a:rPr lang="en-US" sz="2400" b="1" dirty="0" smtClean="0"/>
              <a:t>:- </a:t>
            </a:r>
            <a:br>
              <a:rPr lang="en-US" sz="2400" b="1" dirty="0" smtClean="0"/>
            </a:br>
            <a:r>
              <a:rPr lang="en-US" sz="2400" b="1" dirty="0" smtClean="0"/>
              <a:t>Step1:- Read </a:t>
            </a:r>
            <a:r>
              <a:rPr lang="en-US" sz="2400" b="1" dirty="0" err="1" smtClean="0"/>
              <a:t>ciphertext</a:t>
            </a:r>
            <a:endParaRPr lang="en-US" sz="2400" dirty="0"/>
          </a:p>
        </p:txBody>
      </p:sp>
      <p:sp>
        <p:nvSpPr>
          <p:cNvPr id="3" name="Subtitle 2"/>
          <p:cNvSpPr>
            <a:spLocks noGrp="1"/>
          </p:cNvSpPr>
          <p:nvPr>
            <p:ph type="subTitle" idx="1"/>
          </p:nvPr>
        </p:nvSpPr>
        <p:spPr>
          <a:xfrm>
            <a:off x="533400" y="1371600"/>
            <a:ext cx="7772400" cy="3886200"/>
          </a:xfrm>
        </p:spPr>
        <p:txBody>
          <a:bodyPr>
            <a:noAutofit/>
          </a:bodyPr>
          <a:lstStyle/>
          <a:p>
            <a:pPr algn="just"/>
            <a:r>
              <a:rPr lang="en-US" sz="1400" b="1" dirty="0">
                <a:solidFill>
                  <a:schemeClr val="tx1"/>
                </a:solidFill>
              </a:rPr>
              <a:t>GFS WMY OG LGDVS MF SFNKYHOSU ESLLMRS, PC WS BFGW POL DMFRQMRS, </a:t>
            </a:r>
            <a:endParaRPr lang="en-US" sz="1400" b="1" dirty="0" smtClean="0">
              <a:solidFill>
                <a:schemeClr val="tx1"/>
              </a:solidFill>
            </a:endParaRPr>
          </a:p>
          <a:p>
            <a:pPr algn="just"/>
            <a:r>
              <a:rPr lang="en-US" sz="1400" b="1" dirty="0">
                <a:solidFill>
                  <a:schemeClr val="tx1"/>
                </a:solidFill>
              </a:rPr>
              <a:t>PL OG CPFU MUPCCSKSFO HDMPFOSXO GC OIS LMES DMFRQMRS DGFR SFGQRI </a:t>
            </a:r>
            <a:endParaRPr lang="en-US" sz="1400" b="1" dirty="0" smtClean="0">
              <a:solidFill>
                <a:schemeClr val="tx1"/>
              </a:solidFill>
            </a:endParaRPr>
          </a:p>
          <a:p>
            <a:pPr algn="just"/>
            <a:r>
              <a:rPr lang="en-US" sz="1400" b="1" dirty="0">
                <a:solidFill>
                  <a:schemeClr val="tx1"/>
                </a:solidFill>
              </a:rPr>
              <a:t>OG CPDD GFS LISSO GK LG, MFU OISF WS NGQFO OIS GNNQKKSFNSL GC SMNI </a:t>
            </a:r>
            <a:endParaRPr lang="en-US" sz="1400" b="1" dirty="0" smtClean="0">
              <a:solidFill>
                <a:schemeClr val="tx1"/>
              </a:solidFill>
            </a:endParaRPr>
          </a:p>
          <a:p>
            <a:pPr algn="just"/>
            <a:r>
              <a:rPr lang="en-US" sz="1400" b="1" dirty="0">
                <a:solidFill>
                  <a:schemeClr val="tx1"/>
                </a:solidFill>
              </a:rPr>
              <a:t>DSOOSK. WS NMDD OIS EGLO CKSJQSFODY GNNQKKPFR DSOOSK OIS 'CPKLO', </a:t>
            </a:r>
            <a:endParaRPr lang="en-US" sz="1400" b="1" dirty="0" smtClean="0">
              <a:solidFill>
                <a:schemeClr val="tx1"/>
              </a:solidFill>
            </a:endParaRPr>
          </a:p>
          <a:p>
            <a:pPr algn="just"/>
            <a:r>
              <a:rPr lang="en-US" sz="1400" b="1" dirty="0">
                <a:solidFill>
                  <a:schemeClr val="tx1"/>
                </a:solidFill>
              </a:rPr>
              <a:t>OIS FSXO EGLO GNNQKKPFR DSOOSK OIS 'LSNGFU' OIS CGDDGWPFR EGLO </a:t>
            </a:r>
            <a:endParaRPr lang="en-US" sz="1400" b="1" dirty="0" smtClean="0">
              <a:solidFill>
                <a:schemeClr val="tx1"/>
              </a:solidFill>
            </a:endParaRPr>
          </a:p>
          <a:p>
            <a:pPr algn="just"/>
            <a:r>
              <a:rPr lang="en-US" sz="1400" b="1" dirty="0">
                <a:solidFill>
                  <a:schemeClr val="tx1"/>
                </a:solidFill>
              </a:rPr>
              <a:t>GNNQKKPFR DSOOSK OIS 'OIPKU', MFU LG GF, QFOPD WS MNNGQFO CGK MDD </a:t>
            </a:r>
            <a:endParaRPr lang="en-US" sz="1400" b="1" dirty="0" smtClean="0">
              <a:solidFill>
                <a:schemeClr val="tx1"/>
              </a:solidFill>
            </a:endParaRPr>
          </a:p>
          <a:p>
            <a:pPr algn="just"/>
            <a:r>
              <a:rPr lang="en-US" sz="1400" b="1" dirty="0">
                <a:solidFill>
                  <a:schemeClr val="tx1"/>
                </a:solidFill>
              </a:rPr>
              <a:t>OIS UPCCSKSFO DSOOSKL PF OIS HDMPFOSXO LMEHDS. OISF WS DGGB MO OIS </a:t>
            </a:r>
            <a:endParaRPr lang="en-US" sz="1400" b="1" dirty="0" smtClean="0">
              <a:solidFill>
                <a:schemeClr val="tx1"/>
              </a:solidFill>
            </a:endParaRPr>
          </a:p>
          <a:p>
            <a:pPr algn="just"/>
            <a:r>
              <a:rPr lang="en-US" sz="1400" b="1" dirty="0">
                <a:solidFill>
                  <a:schemeClr val="tx1"/>
                </a:solidFill>
              </a:rPr>
              <a:t>NPHISK OSXO WS WMFO OG LGDVS MFU WS MDLG NDMLLPCY POL LYEAGDL. </a:t>
            </a:r>
            <a:endParaRPr lang="en-US" sz="1400" b="1" dirty="0" smtClean="0">
              <a:solidFill>
                <a:schemeClr val="tx1"/>
              </a:solidFill>
            </a:endParaRPr>
          </a:p>
          <a:p>
            <a:pPr algn="just"/>
            <a:r>
              <a:rPr lang="en-US" sz="1400" b="1" dirty="0">
                <a:solidFill>
                  <a:schemeClr val="tx1"/>
                </a:solidFill>
              </a:rPr>
              <a:t>WS CPFU OIS EGLO GNNQKKPFR LYEAGD MFU NIMFRS PO OG OIS CGKE GC OIS </a:t>
            </a:r>
            <a:endParaRPr lang="en-US" sz="1400" b="1" dirty="0" smtClean="0">
              <a:solidFill>
                <a:schemeClr val="tx1"/>
              </a:solidFill>
            </a:endParaRPr>
          </a:p>
          <a:p>
            <a:pPr algn="just"/>
            <a:r>
              <a:rPr lang="en-US" sz="1400" b="1" dirty="0">
                <a:solidFill>
                  <a:schemeClr val="tx1"/>
                </a:solidFill>
              </a:rPr>
              <a:t>'CPKLO' DSOOSK GC OIS HDMPFOSXO LMEHDS, OIS FSXO EGLO NGEEGF </a:t>
            </a:r>
            <a:endParaRPr lang="en-US" sz="1400" b="1" dirty="0" smtClean="0">
              <a:solidFill>
                <a:schemeClr val="tx1"/>
              </a:solidFill>
            </a:endParaRPr>
          </a:p>
          <a:p>
            <a:pPr algn="just"/>
            <a:r>
              <a:rPr lang="en-US" sz="1400" b="1" dirty="0">
                <a:solidFill>
                  <a:schemeClr val="tx1"/>
                </a:solidFill>
              </a:rPr>
              <a:t>LYEAGD PL NIMFRSU OG OIS CGKE GC OIS 'LSNGFU' DSOOSK, MFU OIS </a:t>
            </a:r>
            <a:endParaRPr lang="en-US" sz="1400" b="1" dirty="0" smtClean="0">
              <a:solidFill>
                <a:schemeClr val="tx1"/>
              </a:solidFill>
            </a:endParaRPr>
          </a:p>
          <a:p>
            <a:pPr algn="just"/>
            <a:r>
              <a:rPr lang="en-US" sz="1400" b="1" dirty="0">
                <a:solidFill>
                  <a:schemeClr val="tx1"/>
                </a:solidFill>
              </a:rPr>
              <a:t>CGDDGWPFR EGLO NGEEGF LYEAGD PL NIMFRSU OG OIS CGKE GC OIS 'OIPKU' </a:t>
            </a:r>
            <a:endParaRPr lang="en-US" sz="1400" b="1" dirty="0" smtClean="0">
              <a:solidFill>
                <a:schemeClr val="tx1"/>
              </a:solidFill>
            </a:endParaRPr>
          </a:p>
          <a:p>
            <a:pPr algn="just"/>
            <a:r>
              <a:rPr lang="en-US" sz="1400" b="1" dirty="0">
                <a:solidFill>
                  <a:schemeClr val="tx1"/>
                </a:solidFill>
              </a:rPr>
              <a:t>DSOOSK, MFU LG GF, QFOPD WS MNNGQFO CGK MDD LYEAGDL GC OIS </a:t>
            </a:r>
            <a:endParaRPr lang="en-US" sz="1400" b="1" dirty="0" smtClean="0">
              <a:solidFill>
                <a:schemeClr val="tx1"/>
              </a:solidFill>
            </a:endParaRPr>
          </a:p>
          <a:p>
            <a:pPr algn="just"/>
            <a:r>
              <a:rPr lang="en-US" sz="1400" b="1" dirty="0">
                <a:solidFill>
                  <a:schemeClr val="tx1"/>
                </a:solidFill>
              </a:rPr>
              <a:t>NKYHOGRKME WS WMFO OG LGDVS.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304800" y="1143000"/>
            <a:ext cx="7620000" cy="3884612"/>
          </a:xfrm>
          <a:prstGeom prst="rect">
            <a:avLst/>
          </a:prstGeom>
          <a:noFill/>
          <a:ln w="9525">
            <a:noFill/>
            <a:miter lim="800000"/>
            <a:headEnd/>
            <a:tailEnd/>
          </a:ln>
          <a:effectLst/>
        </p:spPr>
      </p:pic>
      <p:sp>
        <p:nvSpPr>
          <p:cNvPr id="5" name="TextBox 4"/>
          <p:cNvSpPr txBox="1"/>
          <p:nvPr/>
        </p:nvSpPr>
        <p:spPr>
          <a:xfrm>
            <a:off x="304800" y="304800"/>
            <a:ext cx="5486400" cy="369332"/>
          </a:xfrm>
          <a:prstGeom prst="rect">
            <a:avLst/>
          </a:prstGeom>
          <a:noFill/>
        </p:spPr>
        <p:txBody>
          <a:bodyPr wrap="square" rtlCol="0">
            <a:spAutoFit/>
          </a:bodyPr>
          <a:lstStyle/>
          <a:p>
            <a:r>
              <a:rPr lang="en-US" b="1" dirty="0" smtClean="0"/>
              <a:t>Step 2:-Calculate </a:t>
            </a:r>
            <a:r>
              <a:rPr lang="en-US" b="1" dirty="0"/>
              <a:t>frequency of each alphabet.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1"/>
            <a:ext cx="7772400" cy="1219200"/>
          </a:xfrm>
        </p:spPr>
        <p:txBody>
          <a:bodyPr>
            <a:noAutofit/>
          </a:bodyPr>
          <a:lstStyle/>
          <a:p>
            <a:pPr algn="l"/>
            <a:r>
              <a:rPr lang="en-US" sz="2400" b="1" dirty="0" smtClean="0"/>
              <a:t>Step 3:- Find most frequent character. </a:t>
            </a:r>
            <a:br>
              <a:rPr lang="en-US" sz="2400" b="1" dirty="0" smtClean="0"/>
            </a:br>
            <a:r>
              <a:rPr lang="en-US" sz="2400" b="1" dirty="0" smtClean="0"/>
              <a:t>Step 4.:-Compare with English letter frequency.</a:t>
            </a:r>
            <a:endParaRPr lang="en-US" sz="2400" dirty="0"/>
          </a:p>
        </p:txBody>
      </p:sp>
      <p:pic>
        <p:nvPicPr>
          <p:cNvPr id="5122" name="Picture 2"/>
          <p:cNvPicPr>
            <a:picLocks noChangeAspect="1" noChangeArrowheads="1"/>
          </p:cNvPicPr>
          <p:nvPr/>
        </p:nvPicPr>
        <p:blipFill>
          <a:blip r:embed="rId2"/>
          <a:srcRect/>
          <a:stretch>
            <a:fillRect/>
          </a:stretch>
        </p:blipFill>
        <p:spPr bwMode="auto">
          <a:xfrm>
            <a:off x="1143000" y="1676400"/>
            <a:ext cx="2047875" cy="3457575"/>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4038600" y="1371600"/>
            <a:ext cx="4000500" cy="446722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229600" cy="1143000"/>
          </a:xfrm>
        </p:spPr>
        <p:txBody>
          <a:bodyPr>
            <a:noAutofit/>
          </a:bodyPr>
          <a:lstStyle/>
          <a:p>
            <a:pPr algn="l"/>
            <a:r>
              <a:rPr lang="en-US" sz="2400" b="1" dirty="0" smtClean="0"/>
              <a:t>5.Estimate Caesar shift key. </a:t>
            </a:r>
            <a:br>
              <a:rPr lang="en-US" sz="2400" b="1" dirty="0" smtClean="0"/>
            </a:br>
            <a:r>
              <a:rPr lang="en-US" sz="2400" b="1" dirty="0" smtClean="0"/>
              <a:t>6. Apply reverse shift. </a:t>
            </a:r>
            <a:r>
              <a:rPr lang="en-US" sz="1800" b="1" dirty="0" smtClean="0"/>
              <a:t>(</a:t>
            </a:r>
            <a:r>
              <a:rPr lang="en-US" sz="1800" b="1" dirty="0" err="1"/>
              <a:t>C</a:t>
            </a:r>
            <a:r>
              <a:rPr lang="en-US" sz="1800" b="1" dirty="0" err="1" smtClean="0"/>
              <a:t>trl+F</a:t>
            </a:r>
            <a:r>
              <a:rPr lang="en-US" sz="1800" b="1" dirty="0" smtClean="0"/>
              <a:t>)</a:t>
            </a:r>
            <a:r>
              <a:rPr lang="en-US" sz="2400" b="1" dirty="0" smtClean="0"/>
              <a:t/>
            </a:r>
            <a:br>
              <a:rPr lang="en-US" sz="2400" b="1" dirty="0" smtClean="0"/>
            </a:br>
            <a:r>
              <a:rPr lang="en-US" sz="2400" b="1" dirty="0" smtClean="0"/>
              <a:t>7. Display plaintext.</a:t>
            </a:r>
            <a:endParaRPr lang="en-US" sz="2400" dirty="0"/>
          </a:p>
        </p:txBody>
      </p:sp>
      <p:pic>
        <p:nvPicPr>
          <p:cNvPr id="6146" name="Picture 2"/>
          <p:cNvPicPr>
            <a:picLocks noChangeAspect="1" noChangeArrowheads="1"/>
          </p:cNvPicPr>
          <p:nvPr/>
        </p:nvPicPr>
        <p:blipFill>
          <a:blip r:embed="rId2"/>
          <a:srcRect/>
          <a:stretch>
            <a:fillRect/>
          </a:stretch>
        </p:blipFill>
        <p:spPr bwMode="auto">
          <a:xfrm>
            <a:off x="457200" y="2590800"/>
            <a:ext cx="5783263" cy="3629025"/>
          </a:xfrm>
          <a:prstGeom prst="rect">
            <a:avLst/>
          </a:prstGeom>
          <a:noFill/>
          <a:ln w="9525">
            <a:noFill/>
            <a:miter lim="800000"/>
            <a:headEnd/>
            <a:tailEnd/>
          </a:ln>
          <a:effectLst/>
        </p:spPr>
      </p:pic>
      <p:pic>
        <p:nvPicPr>
          <p:cNvPr id="5" name="Picture 4" descr="IMG20260620123849.jpg"/>
          <p:cNvPicPr>
            <a:picLocks noChangeAspect="1"/>
          </p:cNvPicPr>
          <p:nvPr/>
        </p:nvPicPr>
        <p:blipFill>
          <a:blip r:embed="rId3" cstate="print"/>
          <a:srcRect l="14444" t="10000" r="33704" b="15556"/>
          <a:stretch>
            <a:fillRect/>
          </a:stretch>
        </p:blipFill>
        <p:spPr>
          <a:xfrm rot="16200000">
            <a:off x="5257800" y="-838200"/>
            <a:ext cx="2667000" cy="5105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386</Words>
  <Application>Microsoft Office PowerPoint</Application>
  <PresentationFormat>On-screen Show (4:3)</PresentationFormat>
  <Paragraphs>38</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Slide 1</vt:lpstr>
      <vt:lpstr>Slide 2</vt:lpstr>
      <vt:lpstr>Slide 3</vt:lpstr>
      <vt:lpstr>Slide 4</vt:lpstr>
      <vt:lpstr>Cryptography:- Cryptography is the science of protecting information by converting readable data (plaintext) into an unreadable form (ciphertext) using mathematical algorithms and keys.</vt:lpstr>
      <vt:lpstr>Week 1</vt:lpstr>
      <vt:lpstr> Introduction:- Cryptanalysis means analyzing encrypted data to break the encryption and find the original message without knowing the key.  A Caesar Cipher is a substitution encryption technique where each letter in the plaintext is shifted by a fixed number of positions in the alphabet. Example: Plaintext: HELLO Key = 3 (shift right by 3) H → K E → H L → O L → O O → R Ciphertext: KHOOR  Algorithm: 1. Read ciphertext.  2. Calculate frequency of each alphabet.  3. Find most frequent character.  4. Compare with English letter frequency.  5. Estimate Caesar shift key.  6. Apply reverse shift.  7. Display plaintext.   </vt:lpstr>
      <vt:lpstr>Example Ciphertext:-  Step1:- Read ciphertext</vt:lpstr>
      <vt:lpstr>Slide 9</vt:lpstr>
      <vt:lpstr>Step 3:- Find most frequent character.  Step 4.:-Compare with English letter frequency.</vt:lpstr>
      <vt:lpstr>5.Estimate Caesar shift key.  6. Apply reverse shift. (Ctrl+F) 7. Display plaintext.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student</dc:creator>
  <cp:lastModifiedBy>student</cp:lastModifiedBy>
  <cp:revision>10</cp:revision>
  <dcterms:created xsi:type="dcterms:W3CDTF">2026-06-20T06:40:20Z</dcterms:created>
  <dcterms:modified xsi:type="dcterms:W3CDTF">2026-07-09T02:16:53Z</dcterms:modified>
</cp:coreProperties>
</file>