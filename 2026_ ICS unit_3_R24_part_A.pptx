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550" y="515238"/>
            <a:ext cx="563308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1031" y="1283779"/>
            <a:ext cx="5317490" cy="3550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earth.google.com/" TargetMode="External"/><Relationship Id="rId3" Type="http://schemas.openxmlformats.org/officeDocument/2006/relationships/hyperlink" Target="http://www.archive.org/" TargetMode="External"/><Relationship Id="rId4" Type="http://schemas.openxmlformats.org/officeDocument/2006/relationships/hyperlink" Target="http://www.whitepagesinc.com/" TargetMode="External"/><Relationship Id="rId5" Type="http://schemas.openxmlformats.org/officeDocument/2006/relationships/hyperlink" Target="http://www.namedroppers.com/" TargetMode="External"/><Relationship Id="rId6" Type="http://schemas.openxmlformats.org/officeDocument/2006/relationships/hyperlink" Target="http://www.whois.net/" TargetMode="External"/><Relationship Id="rId7" Type="http://schemas.openxmlformats.org/officeDocument/2006/relationships/hyperlink" Target="http://www.nslookup.downloadsoftware4free.com/" TargetMode="External"/><Relationship Id="rId8" Type="http://schemas.openxmlformats.org/officeDocument/2006/relationships/hyperlink" Target="http://www.emailtrackerpro.com/" TargetMode="External"/><Relationship Id="rId9" Type="http://schemas.openxmlformats.org/officeDocument/2006/relationships/hyperlink" Target="http://www.httrack.com/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insecure.org/nmap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ancharsaathi.gov.in/sfc/" TargetMode="Externa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Financial%20Fraud%20Brochures%20final.pdf" TargetMode="Externa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85722" y="140284"/>
            <a:ext cx="5970270" cy="94106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UNIT</a:t>
            </a:r>
            <a:r>
              <a:rPr dirty="0" sz="3000" spc="-40"/>
              <a:t> </a:t>
            </a:r>
            <a:r>
              <a:rPr dirty="0" sz="3000" spc="-50"/>
              <a:t>3</a:t>
            </a:r>
            <a:endParaRPr sz="3000"/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3000" b="1">
                <a:latin typeface="Calibri"/>
                <a:cs typeface="Calibri"/>
              </a:rPr>
              <a:t>Cyber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Offences</a:t>
            </a:r>
            <a:r>
              <a:rPr dirty="0" sz="3000" spc="-8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and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Countermeasures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7424" y="1200911"/>
            <a:ext cx="6284976" cy="16581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Course</a:t>
            </a:r>
            <a:r>
              <a:rPr dirty="0" spc="-105"/>
              <a:t> </a:t>
            </a:r>
            <a:r>
              <a:rPr dirty="0"/>
              <a:t>Outcomes</a:t>
            </a:r>
            <a:r>
              <a:rPr dirty="0" spc="-120"/>
              <a:t> </a:t>
            </a:r>
            <a:r>
              <a:rPr dirty="0" spc="-20"/>
              <a:t>(COs)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41297"/>
            <a:ext cx="7179309" cy="754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Upon completion</a:t>
            </a:r>
            <a:r>
              <a:rPr dirty="0" sz="1800" spc="-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course</a:t>
            </a:r>
            <a:r>
              <a:rPr dirty="0" sz="18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the students</a:t>
            </a:r>
            <a:r>
              <a:rPr dirty="0" sz="18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will</a:t>
            </a:r>
            <a:r>
              <a:rPr dirty="0" sz="1800" spc="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able</a:t>
            </a:r>
            <a:r>
              <a:rPr dirty="0" sz="1800" spc="-25">
                <a:solidFill>
                  <a:srgbClr val="585858"/>
                </a:solidFill>
                <a:latin typeface="Microsoft Sans Serif"/>
                <a:cs typeface="Microsoft Sans Serif"/>
              </a:rPr>
              <a:t> to</a:t>
            </a: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1415"/>
              </a:spcBef>
              <a:buFont typeface="Microsoft Sans Serif"/>
              <a:buChar char="●"/>
              <a:tabLst>
                <a:tab pos="353695" algn="l"/>
              </a:tabLst>
            </a:pP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analyze</a:t>
            </a:r>
            <a:r>
              <a:rPr dirty="0" sz="1800" spc="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cyber</a:t>
            </a:r>
            <a:r>
              <a:rPr dirty="0" sz="1800" spc="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offences</a:t>
            </a:r>
            <a:r>
              <a:rPr dirty="0" sz="1800" spc="-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implement</a:t>
            </a:r>
            <a:r>
              <a:rPr dirty="0" sz="1800" spc="-9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18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countermeasures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97326" y="343661"/>
            <a:ext cx="2153920" cy="5302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0"/>
              <a:t>Introduction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36244" y="1178763"/>
            <a:ext cx="8077834" cy="317309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267335" marR="8890" indent="-255270">
              <a:lnSpc>
                <a:spcPts val="2590"/>
              </a:lnSpc>
              <a:spcBef>
                <a:spcPts val="43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rapid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growth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computers,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smartphones,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Internet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114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transformed</a:t>
            </a:r>
            <a:r>
              <a:rPr dirty="0" sz="2400" spc="12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communication,</a:t>
            </a:r>
            <a:r>
              <a:rPr dirty="0" sz="2400" spc="12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business,</a:t>
            </a:r>
            <a:r>
              <a:rPr dirty="0" sz="2400" spc="114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education,</a:t>
            </a:r>
            <a:r>
              <a:rPr dirty="0" sz="2400" spc="120">
                <a:latin typeface="Calibri"/>
                <a:cs typeface="Calibri"/>
              </a:rPr>
              <a:t> 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government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services.</a:t>
            </a:r>
            <a:endParaRPr sz="2400">
              <a:latin typeface="Calibri"/>
              <a:cs typeface="Calibri"/>
            </a:endParaRPr>
          </a:p>
          <a:p>
            <a:pPr algn="just" marL="267335" marR="5080" indent="-255270">
              <a:lnSpc>
                <a:spcPts val="2590"/>
              </a:lnSpc>
              <a:spcBef>
                <a:spcPts val="58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digital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transformation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led</a:t>
            </a:r>
            <a:r>
              <a:rPr dirty="0" sz="2400" spc="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increase</a:t>
            </a:r>
            <a:r>
              <a:rPr dirty="0" sz="2400" spc="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illegal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activities</a:t>
            </a:r>
            <a:r>
              <a:rPr dirty="0" sz="2400" spc="57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conducted</a:t>
            </a:r>
            <a:r>
              <a:rPr dirty="0" sz="2400" spc="57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through</a:t>
            </a:r>
            <a:r>
              <a:rPr dirty="0" sz="2400" spc="57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cyberspace.</a:t>
            </a:r>
            <a:r>
              <a:rPr dirty="0" sz="2400" spc="58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These</a:t>
            </a:r>
            <a:r>
              <a:rPr dirty="0" sz="2400" spc="585">
                <a:latin typeface="Calibri"/>
                <a:cs typeface="Calibri"/>
              </a:rPr>
              <a:t>  </a:t>
            </a:r>
            <a:r>
              <a:rPr dirty="0" sz="2400" spc="-10">
                <a:latin typeface="Calibri"/>
                <a:cs typeface="Calibri"/>
              </a:rPr>
              <a:t>illegal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activities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known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cyber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offences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cybercrime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algn="just" marL="267335" marR="8890" indent="-255270">
              <a:lnSpc>
                <a:spcPts val="2590"/>
              </a:lnSpc>
              <a:spcBef>
                <a:spcPts val="59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4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pose</a:t>
            </a:r>
            <a:r>
              <a:rPr dirty="0" sz="2400" spc="5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serious</a:t>
            </a:r>
            <a:r>
              <a:rPr dirty="0" sz="2400" spc="4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threats</a:t>
            </a:r>
            <a:r>
              <a:rPr dirty="0" sz="2400" spc="4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4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individuals,</a:t>
            </a:r>
            <a:r>
              <a:rPr dirty="0" sz="2400" spc="45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organizations,</a:t>
            </a:r>
            <a:r>
              <a:rPr dirty="0" sz="2400" spc="4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governments</a:t>
            </a:r>
            <a:r>
              <a:rPr dirty="0" sz="2400" spc="3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4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compromising</a:t>
            </a:r>
            <a:r>
              <a:rPr dirty="0" sz="2400" spc="3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confidentiality,</a:t>
            </a:r>
            <a:r>
              <a:rPr dirty="0" sz="2400" spc="4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integrity,</a:t>
            </a:r>
            <a:r>
              <a:rPr dirty="0" sz="2400" spc="409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availability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61917" y="140284"/>
            <a:ext cx="182245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latin typeface="Calibri"/>
                <a:cs typeface="Calibri"/>
              </a:rPr>
              <a:t>Cybercrime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934669"/>
            <a:ext cx="8020050" cy="35496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68605" indent="-255904">
              <a:lnSpc>
                <a:spcPts val="2510"/>
              </a:lnSpc>
              <a:spcBef>
                <a:spcPts val="11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 spc="-10" b="1">
                <a:latin typeface="Calibri"/>
                <a:cs typeface="Calibri"/>
              </a:rPr>
              <a:t>Definition:</a:t>
            </a:r>
            <a:endParaRPr sz="2200">
              <a:latin typeface="Calibri"/>
              <a:cs typeface="Calibri"/>
            </a:endParaRPr>
          </a:p>
          <a:p>
            <a:pPr marL="268605">
              <a:lnSpc>
                <a:spcPts val="2380"/>
              </a:lnSpc>
            </a:pPr>
            <a:r>
              <a:rPr dirty="0" sz="2200">
                <a:latin typeface="Calibri"/>
                <a:cs typeface="Calibri"/>
              </a:rPr>
              <a:t>Cybercrime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criminal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activity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computer,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network,</a:t>
            </a:r>
            <a:r>
              <a:rPr dirty="0" sz="2200" spc="-25">
                <a:latin typeface="Calibri"/>
                <a:cs typeface="Calibri"/>
              </a:rPr>
              <a:t> or</a:t>
            </a:r>
            <a:endParaRPr sz="2200">
              <a:latin typeface="Calibri"/>
              <a:cs typeface="Calibri"/>
            </a:endParaRPr>
          </a:p>
          <a:p>
            <a:pPr marL="268605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digital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device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tool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target</a:t>
            </a:r>
            <a:r>
              <a:rPr dirty="0" sz="2200" spc="-10">
                <a:latin typeface="Calibri"/>
                <a:cs typeface="Calibri"/>
              </a:rPr>
              <a:t>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both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commit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offence.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 spc="-10" b="1">
                <a:latin typeface="Calibri"/>
                <a:cs typeface="Calibri"/>
              </a:rPr>
              <a:t>Examples: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Hacking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company's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database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Online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banking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fraud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Identity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theft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 spc="-10">
                <a:latin typeface="Calibri"/>
                <a:cs typeface="Calibri"/>
              </a:rPr>
              <a:t>Ransomware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attacks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7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Phishing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emails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Spreading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computer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viruses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39414" y="140284"/>
            <a:ext cx="226758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Calibri"/>
                <a:cs typeface="Calibri"/>
              </a:rPr>
              <a:t>Cyber</a:t>
            </a:r>
            <a:r>
              <a:rPr dirty="0" sz="3000" spc="-6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Offence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154379"/>
            <a:ext cx="8075930" cy="324802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algn="just" marL="268605" marR="5080" indent="-256540">
              <a:lnSpc>
                <a:spcPts val="2110"/>
              </a:lnSpc>
              <a:spcBef>
                <a:spcPts val="62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cyber</a:t>
            </a:r>
            <a:r>
              <a:rPr dirty="0" sz="2200" spc="7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offence</a:t>
            </a:r>
            <a:r>
              <a:rPr dirty="0" sz="2200" spc="5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any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violates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cyber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laws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committed </a:t>
            </a:r>
            <a:r>
              <a:rPr dirty="0" sz="2200">
                <a:latin typeface="Calibri"/>
                <a:cs typeface="Calibri"/>
              </a:rPr>
              <a:t>using</a:t>
            </a:r>
            <a:r>
              <a:rPr dirty="0" sz="2200" spc="4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computers,</a:t>
            </a:r>
            <a:r>
              <a:rPr dirty="0" sz="2200" spc="4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communication</a:t>
            </a:r>
            <a:r>
              <a:rPr dirty="0" sz="2200" spc="4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networks,</a:t>
            </a:r>
            <a:r>
              <a:rPr dirty="0" sz="2200" spc="3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40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electronic</a:t>
            </a:r>
            <a:r>
              <a:rPr dirty="0" sz="2200" spc="4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devices. </a:t>
            </a:r>
            <a:r>
              <a:rPr dirty="0" sz="2200">
                <a:latin typeface="Calibri"/>
                <a:cs typeface="Calibri"/>
              </a:rPr>
              <a:t>Every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cyber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offence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punishable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under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applicable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cyber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laws.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3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 b="1">
                <a:latin typeface="Calibri"/>
                <a:cs typeface="Calibri"/>
              </a:rPr>
              <a:t>Examples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cyber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offences: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buFont typeface="Microsoft Sans Serif"/>
              <a:buChar char="•"/>
              <a:tabLst>
                <a:tab pos="268605" algn="l"/>
              </a:tabLst>
            </a:pPr>
            <a:r>
              <a:rPr dirty="0" sz="2200" spc="-10">
                <a:latin typeface="Calibri"/>
                <a:cs typeface="Calibri"/>
              </a:rPr>
              <a:t>Unauthorized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computer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systems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theft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Email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spoofing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buFont typeface="Microsoft Sans Serif"/>
              <a:buChar char="•"/>
              <a:tabLst>
                <a:tab pos="268605" algn="l"/>
              </a:tabLst>
            </a:pPr>
            <a:r>
              <a:rPr dirty="0" sz="2200" spc="-10">
                <a:latin typeface="Calibri"/>
                <a:cs typeface="Calibri"/>
              </a:rPr>
              <a:t>Cyberstalking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buFont typeface="Microsoft Sans Serif"/>
              <a:buChar char="•"/>
              <a:tabLst>
                <a:tab pos="268605" algn="l"/>
              </a:tabLst>
            </a:pPr>
            <a:r>
              <a:rPr dirty="0" sz="2200" spc="-10">
                <a:latin typeface="Calibri"/>
                <a:cs typeface="Calibri"/>
              </a:rPr>
              <a:t>Website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defacement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Distribution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malicious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software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55951" y="343661"/>
            <a:ext cx="4834255" cy="5302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b="1">
                <a:latin typeface="Calibri"/>
                <a:cs typeface="Calibri"/>
              </a:rPr>
              <a:t>Classification</a:t>
            </a:r>
            <a:r>
              <a:rPr dirty="0" sz="3300" spc="-135" b="1">
                <a:latin typeface="Calibri"/>
                <a:cs typeface="Calibri"/>
              </a:rPr>
              <a:t> </a:t>
            </a:r>
            <a:r>
              <a:rPr dirty="0" sz="3300" b="1">
                <a:latin typeface="Calibri"/>
                <a:cs typeface="Calibri"/>
              </a:rPr>
              <a:t>of</a:t>
            </a:r>
            <a:r>
              <a:rPr dirty="0" sz="3300" spc="-45" b="1">
                <a:latin typeface="Calibri"/>
                <a:cs typeface="Calibri"/>
              </a:rPr>
              <a:t> </a:t>
            </a:r>
            <a:r>
              <a:rPr dirty="0" sz="3300" spc="-10" b="1">
                <a:latin typeface="Calibri"/>
                <a:cs typeface="Calibri"/>
              </a:rPr>
              <a:t>Cybercrime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142299"/>
            <a:ext cx="4009390" cy="178244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12420" indent="-2997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12420" algn="l"/>
              </a:tabLst>
            </a:pPr>
            <a:r>
              <a:rPr dirty="0" sz="2400" b="1">
                <a:latin typeface="Calibri"/>
                <a:cs typeface="Calibri"/>
              </a:rPr>
              <a:t>Crimes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Against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Individuals</a:t>
            </a:r>
            <a:endParaRPr sz="2400">
              <a:latin typeface="Calibri"/>
              <a:cs typeface="Calibri"/>
            </a:endParaRPr>
          </a:p>
          <a:p>
            <a:pPr marL="312420" indent="-29972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12420" algn="l"/>
              </a:tabLst>
            </a:pPr>
            <a:r>
              <a:rPr dirty="0" sz="2400" b="1">
                <a:latin typeface="Calibri"/>
                <a:cs typeface="Calibri"/>
              </a:rPr>
              <a:t>Crimes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Against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Property</a:t>
            </a:r>
            <a:endParaRPr sz="2400">
              <a:latin typeface="Calibri"/>
              <a:cs typeface="Calibri"/>
            </a:endParaRPr>
          </a:p>
          <a:p>
            <a:pPr marL="312420" indent="-29972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12420" algn="l"/>
              </a:tabLst>
            </a:pPr>
            <a:r>
              <a:rPr dirty="0" sz="2400" b="1">
                <a:latin typeface="Calibri"/>
                <a:cs typeface="Calibri"/>
              </a:rPr>
              <a:t>Crimes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Against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Organizations</a:t>
            </a:r>
            <a:endParaRPr sz="2400">
              <a:latin typeface="Calibri"/>
              <a:cs typeface="Calibri"/>
            </a:endParaRPr>
          </a:p>
          <a:p>
            <a:pPr marL="312420" indent="-2997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12420" algn="l"/>
              </a:tabLst>
            </a:pPr>
            <a:r>
              <a:rPr dirty="0" sz="2400" b="1">
                <a:latin typeface="Calibri"/>
                <a:cs typeface="Calibri"/>
              </a:rPr>
              <a:t>Crimes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Against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Government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9666" y="140284"/>
            <a:ext cx="534987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Calibri"/>
                <a:cs typeface="Calibri"/>
              </a:rPr>
              <a:t>Common</a:t>
            </a:r>
            <a:r>
              <a:rPr dirty="0" sz="3000" spc="-7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Types</a:t>
            </a:r>
            <a:r>
              <a:rPr dirty="0" sz="3000" spc="-5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of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Cyber</a:t>
            </a:r>
            <a:r>
              <a:rPr dirty="0" sz="3000" spc="-6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Offences</a:t>
            </a:r>
            <a:endParaRPr sz="3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2437" y="874331"/>
          <a:ext cx="8315325" cy="3884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48577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Cyber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Offence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90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Description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90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Hacking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Gaining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unauthorized</a:t>
                      </a:r>
                      <a:r>
                        <a:rPr dirty="0" sz="120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1200" spc="-8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computer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network.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Phishing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651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Sending</a:t>
                      </a:r>
                      <a:r>
                        <a:rPr dirty="0" sz="12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fake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emails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websites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steal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personal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information.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39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Identity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Theft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Misusing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another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person's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personal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information.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Malware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Creating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spreading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malicious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software.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2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Ransomware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marR="482600">
                        <a:lnSpc>
                          <a:spcPts val="1540"/>
                        </a:lnSpc>
                        <a:spcBef>
                          <a:spcPts val="1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Encrypting</a:t>
                      </a:r>
                      <a:r>
                        <a:rPr dirty="0" sz="12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files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demanding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payment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their release.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Cyberstalking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Repeated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online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harassment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intimidation.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Email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Spoofing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8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Sending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emails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fake</a:t>
                      </a:r>
                      <a:r>
                        <a:rPr dirty="0" sz="12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sender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identity.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89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Theft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Stealing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confidential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sensitive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information.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89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Website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Defacement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84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Altering</a:t>
                      </a:r>
                      <a:r>
                        <a:rPr dirty="0" sz="12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appearance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content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website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without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authorization.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9525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69183" y="140284"/>
            <a:ext cx="3411854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Calibri"/>
                <a:cs typeface="Calibri"/>
              </a:rPr>
              <a:t>Causes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of</a:t>
            </a:r>
            <a:r>
              <a:rPr dirty="0" sz="3000" spc="-10" b="1">
                <a:latin typeface="Calibri"/>
                <a:cs typeface="Calibri"/>
              </a:rPr>
              <a:t> Cybercrime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142298"/>
            <a:ext cx="4380865" cy="324612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390"/>
              </a:spcBef>
              <a:buFont typeface="Microsoft Sans Serif"/>
              <a:buChar char="•"/>
              <a:tabLst>
                <a:tab pos="267970" algn="l"/>
              </a:tabLst>
            </a:pPr>
            <a:r>
              <a:rPr dirty="0" sz="2400">
                <a:latin typeface="Calibri"/>
                <a:cs typeface="Calibri"/>
              </a:rPr>
              <a:t>Weak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passwords</a:t>
            </a:r>
            <a:endParaRPr sz="2400">
              <a:latin typeface="Calibri"/>
              <a:cs typeface="Calibri"/>
            </a:endParaRPr>
          </a:p>
          <a:p>
            <a:pPr marL="267970" indent="-255270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267970" algn="l"/>
              </a:tabLst>
            </a:pPr>
            <a:r>
              <a:rPr dirty="0" sz="2400">
                <a:latin typeface="Calibri"/>
                <a:cs typeface="Calibri"/>
              </a:rPr>
              <a:t>Lack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0">
                <a:latin typeface="Calibri"/>
                <a:cs typeface="Calibri"/>
              </a:rPr>
              <a:t> cybersecurity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awareness</a:t>
            </a:r>
            <a:endParaRPr sz="24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400">
                <a:latin typeface="Calibri"/>
                <a:cs typeface="Calibri"/>
              </a:rPr>
              <a:t>Software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vulnerabilities</a:t>
            </a:r>
            <a:endParaRPr sz="24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400">
                <a:latin typeface="Calibri"/>
                <a:cs typeface="Calibri"/>
              </a:rPr>
              <a:t>Poor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security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policies</a:t>
            </a:r>
            <a:endParaRPr sz="2400">
              <a:latin typeface="Calibri"/>
              <a:cs typeface="Calibri"/>
            </a:endParaRPr>
          </a:p>
          <a:p>
            <a:pPr marL="267970" indent="-255270">
              <a:lnSpc>
                <a:spcPct val="100000"/>
              </a:lnSpc>
              <a:spcBef>
                <a:spcPts val="285"/>
              </a:spcBef>
              <a:buFont typeface="Microsoft Sans Serif"/>
              <a:buChar char="•"/>
              <a:tabLst>
                <a:tab pos="267970" algn="l"/>
              </a:tabLst>
            </a:pPr>
            <a:r>
              <a:rPr dirty="0" sz="2400">
                <a:latin typeface="Calibri"/>
                <a:cs typeface="Calibri"/>
              </a:rPr>
              <a:t>Financial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gain</a:t>
            </a:r>
            <a:endParaRPr sz="2400">
              <a:latin typeface="Calibri"/>
              <a:cs typeface="Calibri"/>
            </a:endParaRPr>
          </a:p>
          <a:p>
            <a:pPr marL="267970" indent="-255270">
              <a:lnSpc>
                <a:spcPct val="100000"/>
              </a:lnSpc>
              <a:spcBef>
                <a:spcPts val="295"/>
              </a:spcBef>
              <a:buFont typeface="Microsoft Sans Serif"/>
              <a:buChar char="•"/>
              <a:tabLst>
                <a:tab pos="267970" algn="l"/>
              </a:tabLst>
            </a:pPr>
            <a:r>
              <a:rPr dirty="0" sz="2400" spc="-10">
                <a:latin typeface="Calibri"/>
                <a:cs typeface="Calibri"/>
              </a:rPr>
              <a:t>Revenge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personal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motives</a:t>
            </a:r>
            <a:endParaRPr sz="2400">
              <a:latin typeface="Calibri"/>
              <a:cs typeface="Calibri"/>
            </a:endParaRPr>
          </a:p>
          <a:p>
            <a:pPr marL="267970" indent="-255270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267970" algn="l"/>
              </a:tabLst>
            </a:pPr>
            <a:r>
              <a:rPr dirty="0" sz="2400">
                <a:latin typeface="Calibri"/>
                <a:cs typeface="Calibri"/>
              </a:rPr>
              <a:t>Political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ideological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reasons</a:t>
            </a:r>
            <a:endParaRPr sz="24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9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400">
                <a:latin typeface="Calibri"/>
                <a:cs typeface="Calibri"/>
              </a:rPr>
              <a:t>Rapid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growth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Internet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services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49144" y="140284"/>
            <a:ext cx="404812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latin typeface="Calibri"/>
                <a:cs typeface="Calibri"/>
              </a:rPr>
              <a:t>Prevention</a:t>
            </a:r>
            <a:r>
              <a:rPr dirty="0" sz="3000" spc="-4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of</a:t>
            </a:r>
            <a:r>
              <a:rPr dirty="0" sz="3000" spc="-6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Cybercrime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149614"/>
            <a:ext cx="5897880" cy="334708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36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Use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strong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unique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passwords.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7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Enable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Multi-Factor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Authentication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(MFA).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Update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operating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systems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software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regularly.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Install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antivirus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firewall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protection.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Avoid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clicking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suspicious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emails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links.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Encrypt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sensitive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7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Back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important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files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regularly.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6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Conduct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cybersecurity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awareness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training.</a:t>
            </a:r>
            <a:endParaRPr sz="2200">
              <a:latin typeface="Calibri"/>
              <a:cs typeface="Calibri"/>
            </a:endParaRPr>
          </a:p>
          <a:p>
            <a:pPr marL="268605" indent="-255904">
              <a:lnSpc>
                <a:spcPct val="100000"/>
              </a:lnSpc>
              <a:spcBef>
                <a:spcPts val="270"/>
              </a:spcBef>
              <a:buFont typeface="Microsoft Sans Serif"/>
              <a:buChar char="•"/>
              <a:tabLst>
                <a:tab pos="268605" algn="l"/>
              </a:tabLst>
            </a:pPr>
            <a:r>
              <a:rPr dirty="0" sz="2200">
                <a:latin typeface="Calibri"/>
                <a:cs typeface="Calibri"/>
              </a:rPr>
              <a:t>Monitor</a:t>
            </a:r>
            <a:r>
              <a:rPr dirty="0" sz="2200" spc="-1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unusual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activities.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0550" y="319862"/>
            <a:ext cx="3492500" cy="3295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b="1">
                <a:latin typeface="Times New Roman"/>
                <a:cs typeface="Times New Roman"/>
              </a:rPr>
              <a:t>How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Criminals plan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attack?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8566" y="742264"/>
            <a:ext cx="8241030" cy="4224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41630" indent="-328930">
              <a:lnSpc>
                <a:spcPts val="1825"/>
              </a:lnSpc>
              <a:spcBef>
                <a:spcPts val="110"/>
              </a:spcBef>
              <a:buChar char="•"/>
              <a:tabLst>
                <a:tab pos="341630" algn="l"/>
              </a:tabLst>
            </a:pPr>
            <a:r>
              <a:rPr dirty="0" sz="1600">
                <a:latin typeface="Times New Roman"/>
                <a:cs typeface="Times New Roman"/>
              </a:rPr>
              <a:t>Criminals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many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methods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tools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identify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vulnerabilities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their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target.</a:t>
            </a:r>
            <a:endParaRPr sz="1600">
              <a:latin typeface="Times New Roman"/>
              <a:cs typeface="Times New Roman"/>
            </a:endParaRPr>
          </a:p>
          <a:p>
            <a:pPr marL="341630" indent="-328930">
              <a:lnSpc>
                <a:spcPts val="1730"/>
              </a:lnSpc>
              <a:buChar char="•"/>
              <a:tabLst>
                <a:tab pos="341630" algn="l"/>
              </a:tabLst>
            </a:pPr>
            <a:r>
              <a:rPr dirty="0" sz="1600">
                <a:latin typeface="Times New Roman"/>
                <a:cs typeface="Times New Roman"/>
              </a:rPr>
              <a:t>Criminals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plan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attacks</a:t>
            </a:r>
            <a:r>
              <a:rPr dirty="0" sz="1600" spc="-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were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categorised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into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 spc="-10">
                <a:latin typeface="Times New Roman"/>
                <a:cs typeface="Times New Roman"/>
              </a:rPr>
              <a:t>Active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 spc="-10">
                <a:latin typeface="Times New Roman"/>
                <a:cs typeface="Times New Roman"/>
              </a:rPr>
              <a:t>Passive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 spc="-10">
                <a:latin typeface="Times New Roman"/>
                <a:cs typeface="Times New Roman"/>
              </a:rPr>
              <a:t>Inside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 spc="-10">
                <a:latin typeface="Times New Roman"/>
                <a:cs typeface="Times New Roman"/>
              </a:rPr>
              <a:t>Outside</a:t>
            </a:r>
            <a:endParaRPr sz="1600">
              <a:latin typeface="Times New Roman"/>
              <a:cs typeface="Times New Roman"/>
            </a:endParaRPr>
          </a:p>
          <a:p>
            <a:pPr marL="341630" indent="-328930">
              <a:lnSpc>
                <a:spcPts val="1730"/>
              </a:lnSpc>
              <a:buFont typeface="Times New Roman"/>
              <a:buChar char="•"/>
              <a:tabLst>
                <a:tab pos="341630" algn="l"/>
              </a:tabLst>
            </a:pPr>
            <a:r>
              <a:rPr dirty="0" sz="1600" b="1">
                <a:latin typeface="Times New Roman"/>
                <a:cs typeface="Times New Roman"/>
              </a:rPr>
              <a:t>Active</a:t>
            </a:r>
            <a:r>
              <a:rPr dirty="0" sz="1600" spc="-5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Attacks: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>
                <a:latin typeface="Times New Roman"/>
                <a:cs typeface="Times New Roman"/>
              </a:rPr>
              <a:t>Def: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alter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>
                <a:latin typeface="Times New Roman"/>
                <a:cs typeface="Times New Roman"/>
              </a:rPr>
              <a:t>Affects: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Availability,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Integrity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authenticity</a:t>
            </a:r>
            <a:r>
              <a:rPr dirty="0" sz="1600" spc="-1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data.</a:t>
            </a:r>
            <a:endParaRPr sz="1600">
              <a:latin typeface="Times New Roman"/>
              <a:cs typeface="Times New Roman"/>
            </a:endParaRPr>
          </a:p>
          <a:p>
            <a:pPr marL="341630" indent="-328930">
              <a:lnSpc>
                <a:spcPts val="1730"/>
              </a:lnSpc>
              <a:buFont typeface="Times New Roman"/>
              <a:buChar char="•"/>
              <a:tabLst>
                <a:tab pos="341630" algn="l"/>
              </a:tabLst>
            </a:pPr>
            <a:r>
              <a:rPr dirty="0" sz="1600" b="1">
                <a:latin typeface="Times New Roman"/>
                <a:cs typeface="Times New Roman"/>
              </a:rPr>
              <a:t>Passive</a:t>
            </a:r>
            <a:r>
              <a:rPr dirty="0" sz="1600" spc="-5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Attacks: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>
                <a:latin typeface="Times New Roman"/>
                <a:cs typeface="Times New Roman"/>
              </a:rPr>
              <a:t>Def: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gain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about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target.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>
                <a:latin typeface="Times New Roman"/>
                <a:cs typeface="Times New Roman"/>
              </a:rPr>
              <a:t>Affects: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Confidentiality</a:t>
            </a:r>
            <a:endParaRPr sz="1600">
              <a:latin typeface="Times New Roman"/>
              <a:cs typeface="Times New Roman"/>
            </a:endParaRPr>
          </a:p>
          <a:p>
            <a:pPr marL="341630" indent="-328930">
              <a:lnSpc>
                <a:spcPts val="1730"/>
              </a:lnSpc>
              <a:buFont typeface="Times New Roman"/>
              <a:buChar char="•"/>
              <a:tabLst>
                <a:tab pos="341630" algn="l"/>
              </a:tabLst>
            </a:pPr>
            <a:r>
              <a:rPr dirty="0" sz="1600" b="1">
                <a:latin typeface="Times New Roman"/>
                <a:cs typeface="Times New Roman"/>
              </a:rPr>
              <a:t>Inside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Attack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>
                <a:latin typeface="Times New Roman"/>
                <a:cs typeface="Times New Roman"/>
              </a:rPr>
              <a:t>Def: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Attempted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within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security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perimeter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organisation.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>
                <a:latin typeface="Times New Roman"/>
                <a:cs typeface="Times New Roman"/>
              </a:rPr>
              <a:t>Affects: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Access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resources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than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expected.</a:t>
            </a:r>
            <a:endParaRPr sz="1600">
              <a:latin typeface="Times New Roman"/>
              <a:cs typeface="Times New Roman"/>
            </a:endParaRPr>
          </a:p>
          <a:p>
            <a:pPr marL="341630" indent="-328930">
              <a:lnSpc>
                <a:spcPts val="1730"/>
              </a:lnSpc>
              <a:buFont typeface="Times New Roman"/>
              <a:buChar char="•"/>
              <a:tabLst>
                <a:tab pos="341630" algn="l"/>
              </a:tabLst>
            </a:pPr>
            <a:r>
              <a:rPr dirty="0" sz="1600" b="1">
                <a:latin typeface="Times New Roman"/>
                <a:cs typeface="Times New Roman"/>
              </a:rPr>
              <a:t>Outside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attack: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730"/>
              </a:lnSpc>
              <a:buChar char="–"/>
              <a:tabLst>
                <a:tab pos="798830" algn="l"/>
              </a:tabLst>
            </a:pPr>
            <a:r>
              <a:rPr dirty="0" sz="1600">
                <a:latin typeface="Times New Roman"/>
                <a:cs typeface="Times New Roman"/>
              </a:rPr>
              <a:t>Def:</a:t>
            </a:r>
            <a:r>
              <a:rPr dirty="0" sz="1600" spc="43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Attempted</a:t>
            </a:r>
            <a:r>
              <a:rPr dirty="0" sz="1600" spc="4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4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43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source</a:t>
            </a:r>
            <a:r>
              <a:rPr dirty="0" sz="1600" spc="43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outside</a:t>
            </a:r>
            <a:r>
              <a:rPr dirty="0" sz="1600" spc="4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security</a:t>
            </a:r>
            <a:r>
              <a:rPr dirty="0" sz="1600" spc="4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perimeter</a:t>
            </a:r>
            <a:r>
              <a:rPr dirty="0" sz="1600" spc="4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(insider/outsider)</a:t>
            </a:r>
            <a:r>
              <a:rPr dirty="0" sz="1600" spc="4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who</a:t>
            </a:r>
            <a:r>
              <a:rPr dirty="0" sz="1600" spc="44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is</a:t>
            </a:r>
            <a:endParaRPr sz="1600">
              <a:latin typeface="Times New Roman"/>
              <a:cs typeface="Times New Roman"/>
            </a:endParaRPr>
          </a:p>
          <a:p>
            <a:pPr marL="798830">
              <a:lnSpc>
                <a:spcPts val="1730"/>
              </a:lnSpc>
            </a:pPr>
            <a:r>
              <a:rPr dirty="0" sz="1600">
                <a:latin typeface="Times New Roman"/>
                <a:cs typeface="Times New Roman"/>
              </a:rPr>
              <a:t>indirectly</a:t>
            </a:r>
            <a:r>
              <a:rPr dirty="0" sz="1600" spc="3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associated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organisation.</a:t>
            </a:r>
            <a:endParaRPr sz="1600">
              <a:latin typeface="Times New Roman"/>
              <a:cs typeface="Times New Roman"/>
            </a:endParaRPr>
          </a:p>
          <a:p>
            <a:pPr lvl="1" marL="798830" indent="-328930">
              <a:lnSpc>
                <a:spcPts val="1825"/>
              </a:lnSpc>
              <a:buChar char="–"/>
              <a:tabLst>
                <a:tab pos="798830" algn="l"/>
              </a:tabLst>
            </a:pPr>
            <a:r>
              <a:rPr dirty="0" sz="1600">
                <a:latin typeface="Times New Roman"/>
                <a:cs typeface="Times New Roman"/>
              </a:rPr>
              <a:t>Sources: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Either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internet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remote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access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connection.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762" y="199466"/>
            <a:ext cx="5806440" cy="2359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latin typeface="Times New Roman"/>
                <a:cs typeface="Times New Roman"/>
              </a:rPr>
              <a:t>Phases</a:t>
            </a:r>
            <a:r>
              <a:rPr dirty="0" sz="1700" spc="-5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to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plan</a:t>
            </a:r>
            <a:r>
              <a:rPr dirty="0" sz="1700" spc="-1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cyber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 spc="-20" b="1">
                <a:latin typeface="Times New Roman"/>
                <a:cs typeface="Times New Roman"/>
              </a:rPr>
              <a:t>crime</a:t>
            </a:r>
            <a:endParaRPr sz="1700">
              <a:latin typeface="Times New Roman"/>
              <a:cs typeface="Times New Roman"/>
            </a:endParaRPr>
          </a:p>
          <a:p>
            <a:pPr marL="927100" indent="-335280">
              <a:lnSpc>
                <a:spcPct val="100000"/>
              </a:lnSpc>
              <a:buChar char="•"/>
              <a:tabLst>
                <a:tab pos="927100" algn="l"/>
              </a:tabLst>
            </a:pPr>
            <a:r>
              <a:rPr dirty="0" sz="1700">
                <a:latin typeface="Times New Roman"/>
                <a:cs typeface="Times New Roman"/>
              </a:rPr>
              <a:t>Information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gathering.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(passive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attack)</a:t>
            </a:r>
            <a:endParaRPr sz="1700">
              <a:latin typeface="Times New Roman"/>
              <a:cs typeface="Times New Roman"/>
            </a:endParaRPr>
          </a:p>
          <a:p>
            <a:pPr marL="927100" indent="-335280">
              <a:lnSpc>
                <a:spcPct val="100000"/>
              </a:lnSpc>
              <a:buChar char="•"/>
              <a:tabLst>
                <a:tab pos="927100" algn="l"/>
              </a:tabLst>
            </a:pPr>
            <a:r>
              <a:rPr dirty="0" sz="1700">
                <a:latin typeface="Times New Roman"/>
                <a:cs typeface="Times New Roman"/>
              </a:rPr>
              <a:t>Reconnaissance</a:t>
            </a:r>
            <a:r>
              <a:rPr dirty="0" sz="1700" spc="3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: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gain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information about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enemy</a:t>
            </a:r>
            <a:r>
              <a:rPr dirty="0" sz="1700" spc="15">
                <a:latin typeface="Times New Roman"/>
                <a:cs typeface="Times New Roman"/>
              </a:rPr>
              <a:t> </a:t>
            </a:r>
            <a:r>
              <a:rPr dirty="0" sz="1700" spc="-5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  <a:p>
            <a:pPr marL="927100" indent="-335280">
              <a:lnSpc>
                <a:spcPct val="100000"/>
              </a:lnSpc>
              <a:spcBef>
                <a:spcPts val="5"/>
              </a:spcBef>
              <a:buChar char="•"/>
              <a:tabLst>
                <a:tab pos="927100" algn="l"/>
              </a:tabLst>
            </a:pPr>
            <a:r>
              <a:rPr dirty="0" sz="1700">
                <a:latin typeface="Times New Roman"/>
                <a:cs typeface="Times New Roman"/>
              </a:rPr>
              <a:t>Starts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Foot</a:t>
            </a:r>
            <a:r>
              <a:rPr dirty="0" sz="1700" spc="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printing.</a:t>
            </a:r>
            <a:endParaRPr sz="1700">
              <a:latin typeface="Times New Roman"/>
              <a:cs typeface="Times New Roman"/>
            </a:endParaRPr>
          </a:p>
          <a:p>
            <a:pPr marL="469900" indent="-33528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dirty="0" sz="1700">
                <a:latin typeface="Times New Roman"/>
                <a:cs typeface="Times New Roman"/>
              </a:rPr>
              <a:t>Scanning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scrutinizing</a:t>
            </a:r>
            <a:r>
              <a:rPr dirty="0" sz="1700" spc="-6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information.</a:t>
            </a:r>
            <a:endParaRPr sz="1700">
              <a:latin typeface="Times New Roman"/>
              <a:cs typeface="Times New Roman"/>
            </a:endParaRPr>
          </a:p>
          <a:p>
            <a:pPr lvl="1" marL="927100" indent="-335280">
              <a:lnSpc>
                <a:spcPct val="100000"/>
              </a:lnSpc>
              <a:buChar char="•"/>
              <a:tabLst>
                <a:tab pos="927100" algn="l"/>
              </a:tabLst>
            </a:pP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validity of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information.</a:t>
            </a:r>
            <a:endParaRPr sz="1700">
              <a:latin typeface="Times New Roman"/>
              <a:cs typeface="Times New Roman"/>
            </a:endParaRPr>
          </a:p>
          <a:p>
            <a:pPr lvl="1" marL="927100" indent="-335280">
              <a:lnSpc>
                <a:spcPct val="100000"/>
              </a:lnSpc>
              <a:buChar char="•"/>
              <a:tabLst>
                <a:tab pos="927100" algn="l"/>
              </a:tabLst>
            </a:pP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identify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existing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vulnerabilities.</a:t>
            </a:r>
            <a:endParaRPr sz="1700">
              <a:latin typeface="Times New Roman"/>
              <a:cs typeface="Times New Roman"/>
            </a:endParaRPr>
          </a:p>
          <a:p>
            <a:pPr marL="469900" indent="-33528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1700">
                <a:latin typeface="Times New Roman"/>
                <a:cs typeface="Times New Roman"/>
              </a:rPr>
              <a:t>Launching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attack</a:t>
            </a:r>
            <a:endParaRPr sz="1700">
              <a:latin typeface="Times New Roman"/>
              <a:cs typeface="Times New Roman"/>
            </a:endParaRPr>
          </a:p>
          <a:p>
            <a:pPr lvl="1" marL="927100" indent="-335280">
              <a:lnSpc>
                <a:spcPct val="100000"/>
              </a:lnSpc>
              <a:buChar char="•"/>
              <a:tabLst>
                <a:tab pos="927100" algn="l"/>
              </a:tabLst>
            </a:pPr>
            <a:r>
              <a:rPr dirty="0" sz="1700">
                <a:latin typeface="Times New Roman"/>
                <a:cs typeface="Times New Roman"/>
              </a:rPr>
              <a:t>Gaining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maintaining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system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access.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54051"/>
            <a:ext cx="8992870" cy="5039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475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Passive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Attack</a:t>
            </a:r>
            <a:endParaRPr sz="1300">
              <a:latin typeface="Times New Roman"/>
              <a:cs typeface="Times New Roman"/>
            </a:endParaRPr>
          </a:p>
          <a:p>
            <a:pPr marL="469900" indent="-311150">
              <a:lnSpc>
                <a:spcPts val="1405"/>
              </a:lnSpc>
              <a:buChar char="•"/>
              <a:tabLst>
                <a:tab pos="469900" algn="l"/>
              </a:tabLst>
            </a:pPr>
            <a:r>
              <a:rPr dirty="0" sz="1300">
                <a:latin typeface="Times New Roman"/>
                <a:cs typeface="Times New Roman"/>
              </a:rPr>
              <a:t>Information</a:t>
            </a:r>
            <a:r>
              <a:rPr dirty="0" sz="1300" spc="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gathering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about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target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without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their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knowledge.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Ex: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Watching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building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identify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employees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entering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time</a:t>
            </a:r>
            <a:endParaRPr sz="1300">
              <a:latin typeface="Times New Roman"/>
              <a:cs typeface="Times New Roman"/>
            </a:endParaRPr>
          </a:p>
          <a:p>
            <a:pPr marL="469900" indent="-311150">
              <a:lnSpc>
                <a:spcPts val="1405"/>
              </a:lnSpc>
              <a:buChar char="•"/>
              <a:tabLst>
                <a:tab pos="469900" algn="l"/>
              </a:tabLst>
            </a:pPr>
            <a:r>
              <a:rPr dirty="0" sz="1300">
                <a:latin typeface="Times New Roman"/>
                <a:cs typeface="Times New Roman"/>
              </a:rPr>
              <a:t>It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done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using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internet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search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or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googling</a:t>
            </a:r>
            <a:r>
              <a:rPr dirty="0" sz="1300" spc="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gain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individual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or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company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information.</a:t>
            </a:r>
            <a:endParaRPr sz="1300">
              <a:latin typeface="Times New Roman"/>
              <a:cs typeface="Times New Roman"/>
            </a:endParaRPr>
          </a:p>
          <a:p>
            <a:pPr marL="469900" indent="-311150">
              <a:lnSpc>
                <a:spcPts val="1405"/>
              </a:lnSpc>
              <a:buChar char="•"/>
              <a:tabLst>
                <a:tab pos="469900" algn="l"/>
              </a:tabLst>
            </a:pPr>
            <a:r>
              <a:rPr dirty="0" sz="1300">
                <a:latin typeface="Times New Roman"/>
                <a:cs typeface="Times New Roman"/>
              </a:rPr>
              <a:t>Google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or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Yahoo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search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locate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information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about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employees.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 spc="-10">
                <a:latin typeface="Times New Roman"/>
                <a:cs typeface="Times New Roman"/>
              </a:rPr>
              <a:t>Tools: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Font typeface="Times New Roman"/>
              <a:buChar char="–"/>
              <a:tabLst>
                <a:tab pos="927100" algn="l"/>
              </a:tabLst>
            </a:pPr>
            <a:r>
              <a:rPr dirty="0" sz="1300" b="1" i="1">
                <a:latin typeface="Times New Roman"/>
                <a:cs typeface="Times New Roman"/>
              </a:rPr>
              <a:t>GOOGLE</a:t>
            </a:r>
            <a:r>
              <a:rPr dirty="0" sz="1300" spc="310" b="1" i="1">
                <a:latin typeface="Times New Roman"/>
                <a:cs typeface="Times New Roman"/>
              </a:rPr>
              <a:t> </a:t>
            </a:r>
            <a:r>
              <a:rPr dirty="0" sz="1300" b="1" i="1">
                <a:latin typeface="Times New Roman"/>
                <a:cs typeface="Times New Roman"/>
              </a:rPr>
              <a:t>EARTH</a:t>
            </a:r>
            <a:r>
              <a:rPr dirty="0" sz="1300" i="1">
                <a:latin typeface="Times New Roman"/>
                <a:cs typeface="Times New Roman"/>
              </a:rPr>
              <a:t>:</a:t>
            </a:r>
            <a:r>
              <a:rPr dirty="0" sz="1300" spc="3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It</a:t>
            </a:r>
            <a:r>
              <a:rPr dirty="0" sz="1300" spc="3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is</a:t>
            </a:r>
            <a:r>
              <a:rPr dirty="0" sz="1300" spc="3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</a:t>
            </a:r>
            <a:r>
              <a:rPr dirty="0" sz="1300" spc="3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virtual</a:t>
            </a:r>
            <a:r>
              <a:rPr dirty="0" sz="1300" spc="3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map</a:t>
            </a:r>
            <a:r>
              <a:rPr dirty="0" sz="1300" spc="3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of</a:t>
            </a:r>
            <a:r>
              <a:rPr dirty="0" sz="1300" spc="3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globe</a:t>
            </a:r>
            <a:r>
              <a:rPr dirty="0" sz="1300" spc="3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and</a:t>
            </a:r>
            <a:r>
              <a:rPr dirty="0" sz="1300" spc="315" i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geographic</a:t>
            </a:r>
            <a:r>
              <a:rPr dirty="0" sz="1300" spc="3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information</a:t>
            </a:r>
            <a:r>
              <a:rPr dirty="0" sz="1300" spc="30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program.</a:t>
            </a:r>
            <a:r>
              <a:rPr dirty="0" sz="1300" spc="3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It</a:t>
            </a:r>
            <a:r>
              <a:rPr dirty="0" sz="1300" spc="3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maps</a:t>
            </a:r>
            <a:r>
              <a:rPr dirty="0" sz="1300" spc="30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3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earth</a:t>
            </a:r>
            <a:r>
              <a:rPr dirty="0" sz="1300" spc="3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by</a:t>
            </a:r>
            <a:r>
              <a:rPr dirty="0" sz="1300" spc="31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the</a:t>
            </a:r>
            <a:endParaRPr sz="1300">
              <a:latin typeface="Times New Roman"/>
              <a:cs typeface="Times New Roman"/>
            </a:endParaRPr>
          </a:p>
          <a:p>
            <a:pPr marL="676910" marR="1193800" indent="249554">
              <a:lnSpc>
                <a:spcPts val="1420"/>
              </a:lnSpc>
              <a:spcBef>
                <a:spcPts val="85"/>
              </a:spcBef>
            </a:pPr>
            <a:r>
              <a:rPr dirty="0" sz="1300">
                <a:latin typeface="Times New Roman"/>
                <a:cs typeface="Times New Roman"/>
              </a:rPr>
              <a:t>superimposition of</a:t>
            </a:r>
            <a:r>
              <a:rPr dirty="0" sz="1300" spc="-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images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obtained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from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satellite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imagery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provides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aerial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photography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globe </a:t>
            </a:r>
            <a:r>
              <a:rPr dirty="0" sz="1300">
                <a:latin typeface="Times New Roman"/>
                <a:cs typeface="Times New Roman"/>
              </a:rPr>
              <a:t>Ex:</a:t>
            </a:r>
            <a:r>
              <a:rPr dirty="0" sz="1300" spc="-10">
                <a:latin typeface="Times New Roman"/>
                <a:cs typeface="Times New Roman"/>
              </a:rPr>
              <a:t> (</a:t>
            </a:r>
            <a:r>
              <a:rPr dirty="0" sz="1300" spc="-10">
                <a:latin typeface="Times New Roman"/>
                <a:cs typeface="Times New Roman"/>
                <a:hlinkClick r:id="rId2"/>
              </a:rPr>
              <a:t>www.earth.google.com</a:t>
            </a:r>
            <a:r>
              <a:rPr dirty="0" sz="1300" spc="-10">
                <a:latin typeface="Times New Roman"/>
                <a:cs typeface="Times New Roman"/>
              </a:rPr>
              <a:t>).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295"/>
              </a:lnSpc>
              <a:buFont typeface="Times New Roman"/>
              <a:buChar char="–"/>
              <a:tabLst>
                <a:tab pos="927100" algn="l"/>
              </a:tabLst>
            </a:pPr>
            <a:r>
              <a:rPr dirty="0" sz="1300" b="1" i="1">
                <a:latin typeface="Times New Roman"/>
                <a:cs typeface="Times New Roman"/>
              </a:rPr>
              <a:t>INTERNET</a:t>
            </a:r>
            <a:r>
              <a:rPr dirty="0" sz="1300" spc="114" b="1" i="1">
                <a:latin typeface="Times New Roman"/>
                <a:cs typeface="Times New Roman"/>
              </a:rPr>
              <a:t> </a:t>
            </a:r>
            <a:r>
              <a:rPr dirty="0" sz="1300" b="1" i="1">
                <a:latin typeface="Times New Roman"/>
                <a:cs typeface="Times New Roman"/>
              </a:rPr>
              <a:t>ARCHIVE</a:t>
            </a:r>
            <a:r>
              <a:rPr dirty="0" sz="1300" i="1">
                <a:latin typeface="Times New Roman"/>
                <a:cs typeface="Times New Roman"/>
              </a:rPr>
              <a:t>:</a:t>
            </a:r>
            <a:r>
              <a:rPr dirty="0" sz="1300" spc="114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The</a:t>
            </a:r>
            <a:r>
              <a:rPr dirty="0" sz="1300" spc="114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internet</a:t>
            </a:r>
            <a:r>
              <a:rPr dirty="0" sz="1300" spc="1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archive</a:t>
            </a:r>
            <a:r>
              <a:rPr dirty="0" sz="1300" spc="12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is</a:t>
            </a:r>
            <a:r>
              <a:rPr dirty="0" sz="1300" spc="9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an</a:t>
            </a:r>
            <a:r>
              <a:rPr dirty="0" sz="1300" spc="114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internet</a:t>
            </a:r>
            <a:r>
              <a:rPr dirty="0" sz="1300" spc="95" i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library</a:t>
            </a:r>
            <a:r>
              <a:rPr dirty="0" sz="1300" spc="1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with</a:t>
            </a:r>
            <a:r>
              <a:rPr dirty="0" sz="1300" spc="9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114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purpose</a:t>
            </a:r>
            <a:r>
              <a:rPr dirty="0" sz="1300" spc="9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114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offering</a:t>
            </a:r>
            <a:r>
              <a:rPr dirty="0" sz="1300" spc="9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permanent</a:t>
            </a:r>
            <a:r>
              <a:rPr dirty="0" sz="1300" spc="114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access</a:t>
            </a:r>
            <a:r>
              <a:rPr dirty="0" sz="1300" spc="10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for</a:t>
            </a:r>
            <a:endParaRPr sz="1300">
              <a:latin typeface="Times New Roman"/>
              <a:cs typeface="Times New Roman"/>
            </a:endParaRPr>
          </a:p>
          <a:p>
            <a:pPr marL="927100" marR="11430">
              <a:lnSpc>
                <a:spcPts val="1390"/>
              </a:lnSpc>
              <a:spcBef>
                <a:spcPts val="114"/>
              </a:spcBef>
            </a:pPr>
            <a:r>
              <a:rPr dirty="0" sz="1300">
                <a:latin typeface="Times New Roman"/>
                <a:cs typeface="Times New Roman"/>
              </a:rPr>
              <a:t>researchers,</a:t>
            </a:r>
            <a:r>
              <a:rPr dirty="0" sz="1300" spc="8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historians</a:t>
            </a:r>
            <a:r>
              <a:rPr dirty="0" sz="1300" spc="7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scholars</a:t>
            </a:r>
            <a:r>
              <a:rPr dirty="0" sz="1300" spc="7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historical</a:t>
            </a:r>
            <a:r>
              <a:rPr dirty="0" sz="1300" spc="7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collections</a:t>
            </a:r>
            <a:r>
              <a:rPr dirty="0" sz="1300" spc="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that</a:t>
            </a:r>
            <a:r>
              <a:rPr dirty="0" sz="1300" spc="7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exist</a:t>
            </a:r>
            <a:r>
              <a:rPr dirty="0" sz="1300" spc="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</a:t>
            </a:r>
            <a:r>
              <a:rPr dirty="0" sz="1300" spc="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digital</a:t>
            </a:r>
            <a:r>
              <a:rPr dirty="0" sz="1300" spc="9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format</a:t>
            </a:r>
            <a:r>
              <a:rPr dirty="0" sz="1300" spc="7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(Ramot</a:t>
            </a:r>
            <a:r>
              <a:rPr dirty="0" sz="1300" spc="70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et</a:t>
            </a:r>
            <a:r>
              <a:rPr dirty="0" sz="1300" spc="9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al.,</a:t>
            </a:r>
            <a:r>
              <a:rPr dirty="0" sz="1300" spc="80" i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2003).</a:t>
            </a:r>
            <a:r>
              <a:rPr dirty="0" sz="1300" spc="8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It</a:t>
            </a:r>
            <a:r>
              <a:rPr dirty="0" sz="1300" spc="7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includes </a:t>
            </a:r>
            <a:r>
              <a:rPr dirty="0" sz="1300">
                <a:latin typeface="Times New Roman"/>
                <a:cs typeface="Times New Roman"/>
              </a:rPr>
              <a:t>texts,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Audio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moving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images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software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as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well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as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archived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web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pages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our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collections.</a:t>
            </a:r>
            <a:endParaRPr sz="1300">
              <a:latin typeface="Times New Roman"/>
              <a:cs typeface="Times New Roman"/>
            </a:endParaRPr>
          </a:p>
          <a:p>
            <a:pPr marL="676910">
              <a:lnSpc>
                <a:spcPts val="1315"/>
              </a:lnSpc>
            </a:pPr>
            <a:r>
              <a:rPr dirty="0" sz="1300">
                <a:latin typeface="Times New Roman"/>
                <a:cs typeface="Times New Roman"/>
              </a:rPr>
              <a:t>Ex: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(</a:t>
            </a:r>
            <a:r>
              <a:rPr dirty="0" sz="1300" spc="-10">
                <a:latin typeface="Times New Roman"/>
                <a:cs typeface="Times New Roman"/>
                <a:hlinkClick r:id="rId3"/>
              </a:rPr>
              <a:t>www.archive.org</a:t>
            </a:r>
            <a:r>
              <a:rPr dirty="0" sz="1300" spc="-10">
                <a:latin typeface="Times New Roman"/>
                <a:cs typeface="Times New Roman"/>
              </a:rPr>
              <a:t>).</a:t>
            </a:r>
            <a:endParaRPr sz="1300">
              <a:latin typeface="Times New Roman"/>
              <a:cs typeface="Times New Roman"/>
            </a:endParaRPr>
          </a:p>
          <a:p>
            <a:pPr lvl="1" marL="927100" marR="5080" indent="-311150">
              <a:lnSpc>
                <a:spcPts val="1420"/>
              </a:lnSpc>
              <a:spcBef>
                <a:spcPts val="80"/>
              </a:spcBef>
              <a:buFont typeface="Times New Roman"/>
              <a:buChar char="–"/>
              <a:tabLst>
                <a:tab pos="927100" algn="l"/>
              </a:tabLst>
            </a:pPr>
            <a:r>
              <a:rPr dirty="0" sz="1300" b="1" i="1">
                <a:latin typeface="Times New Roman"/>
                <a:cs typeface="Times New Roman"/>
              </a:rPr>
              <a:t>PEOPLE</a:t>
            </a:r>
            <a:r>
              <a:rPr dirty="0" sz="1300" spc="-5" b="1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SEARCH</a:t>
            </a:r>
            <a:r>
              <a:rPr dirty="0" sz="1300" b="1" i="1">
                <a:latin typeface="Times New Roman"/>
                <a:cs typeface="Times New Roman"/>
              </a:rPr>
              <a:t>:</a:t>
            </a:r>
            <a:r>
              <a:rPr dirty="0" sz="1300" spc="-5" b="1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People search</a:t>
            </a:r>
            <a:r>
              <a:rPr dirty="0" sz="1300" spc="-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provides</a:t>
            </a:r>
            <a:r>
              <a:rPr dirty="0" sz="1300" spc="-2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details</a:t>
            </a:r>
            <a:r>
              <a:rPr dirty="0" sz="1300" spc="-5" i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about personal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information,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date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 birth,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residential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address,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contact </a:t>
            </a:r>
            <a:r>
              <a:rPr dirty="0" sz="1300">
                <a:latin typeface="Times New Roman"/>
                <a:cs typeface="Times New Roman"/>
              </a:rPr>
              <a:t>number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etc.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Ex: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(</a:t>
            </a:r>
            <a:r>
              <a:rPr dirty="0" sz="1300" spc="-10">
                <a:latin typeface="Times New Roman"/>
                <a:cs typeface="Times New Roman"/>
                <a:hlinkClick r:id="rId4"/>
              </a:rPr>
              <a:t>www.whitepagesinc.com</a:t>
            </a:r>
            <a:r>
              <a:rPr dirty="0" sz="1300" spc="-10">
                <a:latin typeface="Times New Roman"/>
                <a:cs typeface="Times New Roman"/>
              </a:rPr>
              <a:t>).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295"/>
              </a:lnSpc>
              <a:buFont typeface="Times New Roman"/>
              <a:buChar char="–"/>
              <a:tabLst>
                <a:tab pos="927100" algn="l"/>
              </a:tabLst>
            </a:pPr>
            <a:r>
              <a:rPr dirty="0" sz="1300" b="1" i="1">
                <a:latin typeface="Times New Roman"/>
                <a:cs typeface="Times New Roman"/>
              </a:rPr>
              <a:t>DOMAIN</a:t>
            </a:r>
            <a:r>
              <a:rPr dirty="0" sz="1300" spc="125" b="1" i="1">
                <a:latin typeface="Times New Roman"/>
                <a:cs typeface="Times New Roman"/>
              </a:rPr>
              <a:t> </a:t>
            </a:r>
            <a:r>
              <a:rPr dirty="0" sz="1300" b="1" i="1">
                <a:latin typeface="Times New Roman"/>
                <a:cs typeface="Times New Roman"/>
              </a:rPr>
              <a:t>NAME</a:t>
            </a:r>
            <a:r>
              <a:rPr dirty="0" sz="1300" spc="125" b="1" i="1">
                <a:latin typeface="Times New Roman"/>
                <a:cs typeface="Times New Roman"/>
              </a:rPr>
              <a:t> </a:t>
            </a:r>
            <a:r>
              <a:rPr dirty="0" sz="1300" b="1" i="1">
                <a:latin typeface="Times New Roman"/>
                <a:cs typeface="Times New Roman"/>
              </a:rPr>
              <a:t>CONFIRMATION:</a:t>
            </a:r>
            <a:r>
              <a:rPr dirty="0" sz="1300" spc="125" b="1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To</a:t>
            </a:r>
            <a:r>
              <a:rPr dirty="0" sz="1300" spc="12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perform</a:t>
            </a:r>
            <a:r>
              <a:rPr dirty="0" sz="1300" spc="12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searches</a:t>
            </a:r>
            <a:r>
              <a:rPr dirty="0" sz="1300" spc="125" i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1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domain</a:t>
            </a:r>
            <a:r>
              <a:rPr dirty="0" sz="1300" spc="1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names</a:t>
            </a:r>
            <a:r>
              <a:rPr dirty="0" sz="1300" spc="1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using</a:t>
            </a:r>
            <a:r>
              <a:rPr dirty="0" sz="1300" spc="1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multiple</a:t>
            </a:r>
            <a:r>
              <a:rPr dirty="0" sz="1300" spc="1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keywords,</a:t>
            </a:r>
            <a:r>
              <a:rPr dirty="0" sz="1300" spc="1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1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helps</a:t>
            </a:r>
            <a:r>
              <a:rPr dirty="0" sz="1300" spc="12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to</a:t>
            </a:r>
            <a:endParaRPr sz="1300">
              <a:latin typeface="Times New Roman"/>
              <a:cs typeface="Times New Roman"/>
            </a:endParaRPr>
          </a:p>
          <a:p>
            <a:pPr marL="927100">
              <a:lnSpc>
                <a:spcPts val="1405"/>
              </a:lnSpc>
            </a:pPr>
            <a:r>
              <a:rPr dirty="0" sz="1300">
                <a:latin typeface="Times New Roman"/>
                <a:cs typeface="Times New Roman"/>
              </a:rPr>
              <a:t>find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every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registered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domain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name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</a:t>
            </a:r>
            <a:r>
              <a:rPr dirty="0" sz="1300" spc="-6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“com”,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“net”,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“org”,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“edu”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(</a:t>
            </a:r>
            <a:r>
              <a:rPr dirty="0" u="sng" sz="1300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imes New Roman"/>
                <a:cs typeface="Times New Roman"/>
                <a:hlinkClick r:id="rId5"/>
              </a:rPr>
              <a:t>www.namedroppers.com</a:t>
            </a:r>
            <a:r>
              <a:rPr dirty="0" sz="1300" spc="-10">
                <a:latin typeface="Times New Roman"/>
                <a:cs typeface="Times New Roman"/>
              </a:rPr>
              <a:t>).</a:t>
            </a:r>
            <a:endParaRPr sz="1300">
              <a:latin typeface="Times New Roman"/>
              <a:cs typeface="Times New Roman"/>
            </a:endParaRPr>
          </a:p>
          <a:p>
            <a:pPr algn="just" lvl="1" marL="925830" marR="8255" indent="-309880">
              <a:lnSpc>
                <a:spcPct val="90300"/>
              </a:lnSpc>
              <a:spcBef>
                <a:spcPts val="70"/>
              </a:spcBef>
              <a:buFont typeface="Times New Roman"/>
              <a:buChar char="–"/>
              <a:tabLst>
                <a:tab pos="927100" algn="l"/>
              </a:tabLst>
            </a:pPr>
            <a:r>
              <a:rPr dirty="0" sz="1300" b="1" i="1">
                <a:latin typeface="Times New Roman"/>
                <a:cs typeface="Times New Roman"/>
              </a:rPr>
              <a:t>WHOIS:</a:t>
            </a:r>
            <a:r>
              <a:rPr dirty="0" sz="1300" spc="45" b="1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This</a:t>
            </a:r>
            <a:r>
              <a:rPr dirty="0" sz="1300" spc="4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is</a:t>
            </a:r>
            <a:r>
              <a:rPr dirty="0" sz="1300" spc="2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</a:t>
            </a:r>
            <a:r>
              <a:rPr dirty="0" sz="1300" spc="4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domain</a:t>
            </a:r>
            <a:r>
              <a:rPr dirty="0" sz="1300" spc="2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registration</a:t>
            </a:r>
            <a:r>
              <a:rPr dirty="0" sz="1300" spc="5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lookup</a:t>
            </a:r>
            <a:r>
              <a:rPr dirty="0" sz="1300" spc="4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tool.</a:t>
            </a:r>
            <a:r>
              <a:rPr dirty="0" sz="1300" spc="55" i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utility</a:t>
            </a:r>
            <a:r>
              <a:rPr dirty="0" sz="1300" spc="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used</a:t>
            </a:r>
            <a:r>
              <a:rPr dirty="0" sz="1300" spc="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communicating</a:t>
            </a:r>
            <a:r>
              <a:rPr dirty="0" sz="1300" spc="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with</a:t>
            </a:r>
            <a:r>
              <a:rPr dirty="0" sz="1300" spc="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WHOIS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servers</a:t>
            </a:r>
            <a:r>
              <a:rPr dirty="0" sz="1300" spc="4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located </a:t>
            </a:r>
            <a:r>
              <a:rPr dirty="0" sz="1300" spc="-1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around</a:t>
            </a:r>
            <a:r>
              <a:rPr dirty="0" sz="1300" spc="229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229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world</a:t>
            </a:r>
            <a:r>
              <a:rPr dirty="0" sz="1300" spc="2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2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obtain</a:t>
            </a:r>
            <a:r>
              <a:rPr dirty="0" sz="1300" spc="229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domain</a:t>
            </a:r>
            <a:r>
              <a:rPr dirty="0" sz="1300" spc="2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registration</a:t>
            </a:r>
            <a:r>
              <a:rPr dirty="0" sz="1300" spc="2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information.</a:t>
            </a:r>
            <a:r>
              <a:rPr dirty="0" sz="1300" spc="2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WHOIS</a:t>
            </a:r>
            <a:r>
              <a:rPr dirty="0" sz="1300" spc="204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supports</a:t>
            </a:r>
            <a:r>
              <a:rPr dirty="0" sz="1300" spc="2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IP</a:t>
            </a:r>
            <a:r>
              <a:rPr dirty="0" sz="1300" spc="229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address</a:t>
            </a:r>
            <a:r>
              <a:rPr dirty="0" sz="1300" spc="229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queries</a:t>
            </a:r>
            <a:r>
              <a:rPr dirty="0" sz="1300" spc="229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21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automatically </a:t>
            </a:r>
            <a:r>
              <a:rPr dirty="0" sz="1300" spc="-1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selects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appropriate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server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16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IP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address.</a:t>
            </a:r>
            <a:r>
              <a:rPr dirty="0" sz="1300" spc="18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tool</a:t>
            </a:r>
            <a:r>
              <a:rPr dirty="0" sz="1300" spc="16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will</a:t>
            </a:r>
            <a:r>
              <a:rPr dirty="0" sz="1300" spc="16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lookup</a:t>
            </a:r>
            <a:r>
              <a:rPr dirty="0" sz="1300" spc="16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information</a:t>
            </a:r>
            <a:r>
              <a:rPr dirty="0" sz="1300" spc="17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on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domain</a:t>
            </a:r>
            <a:r>
              <a:rPr dirty="0" sz="1300" spc="16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IP</a:t>
            </a:r>
            <a:r>
              <a:rPr dirty="0" sz="1300" spc="17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address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or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17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domain </a:t>
            </a:r>
            <a:r>
              <a:rPr dirty="0" sz="1300" spc="-1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registration server or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you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can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use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default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option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which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will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select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server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28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you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(</a:t>
            </a:r>
            <a:r>
              <a:rPr dirty="0" u="sng" sz="1300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imes New Roman"/>
                <a:cs typeface="Times New Roman"/>
                <a:hlinkClick r:id="rId6"/>
              </a:rPr>
              <a:t>www.whois.net</a:t>
            </a:r>
            <a:r>
              <a:rPr dirty="0" sz="1300" spc="-10">
                <a:latin typeface="Times New Roman"/>
                <a:cs typeface="Times New Roman"/>
              </a:rPr>
              <a:t>).</a:t>
            </a:r>
            <a:endParaRPr sz="1300">
              <a:latin typeface="Times New Roman"/>
              <a:cs typeface="Times New Roman"/>
            </a:endParaRPr>
          </a:p>
          <a:p>
            <a:pPr algn="r" lvl="1" marL="310515" marR="6350" indent="-310515">
              <a:lnSpc>
                <a:spcPts val="1320"/>
              </a:lnSpc>
              <a:buFont typeface="Times New Roman"/>
              <a:buChar char="–"/>
              <a:tabLst>
                <a:tab pos="310515" algn="l"/>
              </a:tabLst>
            </a:pPr>
            <a:r>
              <a:rPr dirty="0" sz="1300" b="1" i="1">
                <a:latin typeface="Times New Roman"/>
                <a:cs typeface="Times New Roman"/>
              </a:rPr>
              <a:t>NSLOOKUP:</a:t>
            </a:r>
            <a:r>
              <a:rPr dirty="0" sz="1300" spc="45" b="1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The</a:t>
            </a:r>
            <a:r>
              <a:rPr dirty="0" sz="1300" spc="5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name</a:t>
            </a:r>
            <a:r>
              <a:rPr dirty="0" sz="1300" spc="4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nslookup</a:t>
            </a:r>
            <a:r>
              <a:rPr dirty="0" sz="1300" spc="3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means</a:t>
            </a:r>
            <a:r>
              <a:rPr dirty="0" sz="1300" spc="2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“name</a:t>
            </a:r>
            <a:r>
              <a:rPr dirty="0" sz="1300" spc="5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server</a:t>
            </a:r>
            <a:r>
              <a:rPr dirty="0" sz="1300" spc="45" i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lookup”,</a:t>
            </a:r>
            <a:r>
              <a:rPr dirty="0" sz="1300" spc="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tool</a:t>
            </a:r>
            <a:r>
              <a:rPr dirty="0" sz="1300" spc="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used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on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windows</a:t>
            </a:r>
            <a:r>
              <a:rPr dirty="0" sz="1300" spc="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Unix</a:t>
            </a:r>
            <a:r>
              <a:rPr dirty="0" sz="1300" spc="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query</a:t>
            </a:r>
            <a:r>
              <a:rPr dirty="0" sz="1300" spc="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details,</a:t>
            </a:r>
            <a:endParaRPr sz="1300">
              <a:latin typeface="Times New Roman"/>
              <a:cs typeface="Times New Roman"/>
            </a:endParaRPr>
          </a:p>
          <a:p>
            <a:pPr algn="r" marR="11430">
              <a:lnSpc>
                <a:spcPts val="1405"/>
              </a:lnSpc>
            </a:pPr>
            <a:r>
              <a:rPr dirty="0" sz="1300">
                <a:latin typeface="Times New Roman"/>
                <a:cs typeface="Times New Roman"/>
              </a:rPr>
              <a:t>including</a:t>
            </a:r>
            <a:r>
              <a:rPr dirty="0" sz="1300" spc="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ip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addresses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particular</a:t>
            </a:r>
            <a:r>
              <a:rPr dirty="0" sz="1300" spc="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computer</a:t>
            </a:r>
            <a:r>
              <a:rPr dirty="0" sz="1300" spc="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other</a:t>
            </a:r>
            <a:r>
              <a:rPr dirty="0" sz="1300" spc="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technical</a:t>
            </a:r>
            <a:r>
              <a:rPr dirty="0" sz="1300" spc="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details</a:t>
            </a:r>
            <a:r>
              <a:rPr dirty="0" sz="1300" spc="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such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as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mail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exchanger</a:t>
            </a:r>
            <a:r>
              <a:rPr dirty="0" sz="1300" spc="8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records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domain</a:t>
            </a:r>
            <a:endParaRPr sz="1300">
              <a:latin typeface="Times New Roman"/>
              <a:cs typeface="Times New Roman"/>
            </a:endParaRPr>
          </a:p>
          <a:p>
            <a:pPr marL="927100">
              <a:lnSpc>
                <a:spcPts val="1405"/>
              </a:lnSpc>
            </a:pP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name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severs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domain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(</a:t>
            </a:r>
            <a:r>
              <a:rPr dirty="0" u="sng" sz="1300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imes New Roman"/>
                <a:cs typeface="Times New Roman"/>
                <a:hlinkClick r:id="rId7"/>
              </a:rPr>
              <a:t>www.nslookup.downloadsoftware4free.com</a:t>
            </a:r>
            <a:r>
              <a:rPr dirty="0" sz="1300" spc="-10">
                <a:latin typeface="Times New Roman"/>
                <a:cs typeface="Times New Roman"/>
              </a:rPr>
              <a:t>).</a:t>
            </a:r>
            <a:endParaRPr sz="1300">
              <a:latin typeface="Times New Roman"/>
              <a:cs typeface="Times New Roman"/>
            </a:endParaRPr>
          </a:p>
          <a:p>
            <a:pPr lvl="1" marL="927100" marR="11430" indent="-311150">
              <a:lnSpc>
                <a:spcPts val="1390"/>
              </a:lnSpc>
              <a:spcBef>
                <a:spcPts val="114"/>
              </a:spcBef>
              <a:buFont typeface="Times New Roman"/>
              <a:buChar char="–"/>
              <a:tabLst>
                <a:tab pos="927100" algn="l"/>
              </a:tabLst>
            </a:pPr>
            <a:r>
              <a:rPr dirty="0" sz="1300" i="1">
                <a:latin typeface="Times New Roman"/>
                <a:cs typeface="Times New Roman"/>
              </a:rPr>
              <a:t>eMailTrackerPro:</a:t>
            </a:r>
            <a:r>
              <a:rPr dirty="0" sz="1300" spc="5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eMailTrackerPro</a:t>
            </a:r>
            <a:r>
              <a:rPr dirty="0" sz="1300" spc="5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analyzes</a:t>
            </a:r>
            <a:r>
              <a:rPr dirty="0" sz="1300" spc="6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the</a:t>
            </a:r>
            <a:r>
              <a:rPr dirty="0" sz="1300" spc="50" i="1">
                <a:latin typeface="Times New Roman"/>
                <a:cs typeface="Times New Roman"/>
              </a:rPr>
              <a:t> </a:t>
            </a:r>
            <a:r>
              <a:rPr dirty="0" sz="1300" spc="-20" i="1">
                <a:latin typeface="Times New Roman"/>
                <a:cs typeface="Times New Roman"/>
              </a:rPr>
              <a:t>E-</a:t>
            </a:r>
            <a:r>
              <a:rPr dirty="0" sz="1300" i="1">
                <a:latin typeface="Times New Roman"/>
                <a:cs typeface="Times New Roman"/>
              </a:rPr>
              <a:t>mail</a:t>
            </a:r>
            <a:r>
              <a:rPr dirty="0" sz="1300" spc="55" i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header</a:t>
            </a:r>
            <a:r>
              <a:rPr dirty="0" sz="1300" spc="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provides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8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IP</a:t>
            </a:r>
            <a:r>
              <a:rPr dirty="0" sz="1300" spc="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address</a:t>
            </a:r>
            <a:r>
              <a:rPr dirty="0" sz="1300" spc="7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system</a:t>
            </a:r>
            <a:r>
              <a:rPr dirty="0" sz="1300" spc="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that</a:t>
            </a:r>
            <a:r>
              <a:rPr dirty="0" sz="1300" spc="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send</a:t>
            </a:r>
            <a:r>
              <a:rPr dirty="0" sz="1300" spc="50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the </a:t>
            </a:r>
            <a:r>
              <a:rPr dirty="0" sz="1300">
                <a:latin typeface="Times New Roman"/>
                <a:cs typeface="Times New Roman"/>
              </a:rPr>
              <a:t>mail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(</a:t>
            </a:r>
            <a:r>
              <a:rPr dirty="0" u="sng" sz="1300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imes New Roman"/>
                <a:cs typeface="Times New Roman"/>
                <a:hlinkClick r:id="rId8"/>
              </a:rPr>
              <a:t>www.emailtrackerpro.com</a:t>
            </a:r>
            <a:r>
              <a:rPr dirty="0" sz="1300" spc="-10">
                <a:latin typeface="Times New Roman"/>
                <a:cs typeface="Times New Roman"/>
              </a:rPr>
              <a:t>).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315"/>
              </a:lnSpc>
              <a:buFont typeface="Times New Roman"/>
              <a:buChar char="–"/>
              <a:tabLst>
                <a:tab pos="927100" algn="l"/>
              </a:tabLst>
            </a:pPr>
            <a:r>
              <a:rPr dirty="0" sz="1300" b="1" i="1">
                <a:latin typeface="Times New Roman"/>
                <a:cs typeface="Times New Roman"/>
              </a:rPr>
              <a:t>HTTrack:</a:t>
            </a:r>
            <a:r>
              <a:rPr dirty="0" sz="1300" spc="5" b="1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This</a:t>
            </a:r>
            <a:r>
              <a:rPr dirty="0" sz="1300" spc="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tool</a:t>
            </a:r>
            <a:r>
              <a:rPr dirty="0" sz="1300" spc="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acts</a:t>
            </a:r>
            <a:r>
              <a:rPr dirty="0" sz="1300" spc="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like</a:t>
            </a:r>
            <a:r>
              <a:rPr dirty="0" sz="1300" spc="10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an</a:t>
            </a:r>
            <a:r>
              <a:rPr dirty="0" sz="1300" spc="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offline</a:t>
            </a:r>
            <a:r>
              <a:rPr dirty="0" sz="1300" spc="1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browser.</a:t>
            </a:r>
            <a:r>
              <a:rPr dirty="0" sz="1300" spc="2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It</a:t>
            </a:r>
            <a:r>
              <a:rPr dirty="0" sz="1300" spc="5" i="1">
                <a:latin typeface="Times New Roman"/>
                <a:cs typeface="Times New Roman"/>
              </a:rPr>
              <a:t> </a:t>
            </a:r>
            <a:r>
              <a:rPr dirty="0" sz="1300" i="1">
                <a:latin typeface="Times New Roman"/>
                <a:cs typeface="Times New Roman"/>
              </a:rPr>
              <a:t>can</a:t>
            </a:r>
            <a:r>
              <a:rPr dirty="0" sz="1300" spc="10" i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mirror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entire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website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desktop.</a:t>
            </a:r>
            <a:r>
              <a:rPr dirty="0" sz="1300" spc="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One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can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analyze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entire</a:t>
            </a:r>
            <a:endParaRPr sz="1300">
              <a:latin typeface="Times New Roman"/>
              <a:cs typeface="Times New Roman"/>
            </a:endParaRPr>
          </a:p>
          <a:p>
            <a:pPr marL="927100">
              <a:lnSpc>
                <a:spcPts val="1475"/>
              </a:lnSpc>
            </a:pPr>
            <a:r>
              <a:rPr dirty="0" sz="1300">
                <a:latin typeface="Times New Roman"/>
                <a:cs typeface="Times New Roman"/>
              </a:rPr>
              <a:t>websites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by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being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offline</a:t>
            </a:r>
            <a:r>
              <a:rPr dirty="0" sz="1300" spc="-10">
                <a:latin typeface="Times New Roman"/>
                <a:cs typeface="Times New Roman"/>
              </a:rPr>
              <a:t> (</a:t>
            </a:r>
            <a:r>
              <a:rPr dirty="0" sz="1300" spc="-10">
                <a:latin typeface="Times New Roman"/>
                <a:cs typeface="Times New Roman"/>
                <a:hlinkClick r:id="rId9"/>
              </a:rPr>
              <a:t>www.httrack.com</a:t>
            </a:r>
            <a:r>
              <a:rPr dirty="0" sz="1300" spc="-10">
                <a:latin typeface="Times New Roman"/>
                <a:cs typeface="Times New Roman"/>
              </a:rPr>
              <a:t>).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094" y="54051"/>
            <a:ext cx="8779510" cy="450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475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Active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Attacks</a:t>
            </a:r>
            <a:endParaRPr sz="1300">
              <a:latin typeface="Times New Roman"/>
              <a:cs typeface="Times New Roman"/>
            </a:endParaRPr>
          </a:p>
          <a:p>
            <a:pPr marL="469265" indent="-310515">
              <a:lnSpc>
                <a:spcPts val="1405"/>
              </a:lnSpc>
              <a:buChar char="•"/>
              <a:tabLst>
                <a:tab pos="469265" algn="l"/>
              </a:tabLst>
            </a:pPr>
            <a:r>
              <a:rPr dirty="0" sz="1300">
                <a:latin typeface="Times New Roman"/>
                <a:cs typeface="Times New Roman"/>
              </a:rPr>
              <a:t>ARPING: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network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tool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that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Broadcasts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arp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packets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receive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replies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similar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“ping”.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It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good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mapping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local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network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finding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used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IP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space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It broadcasts,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who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has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arp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packet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on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network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prints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answers.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It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very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useful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when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trying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pick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unused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IP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net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which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routing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does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not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exist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as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yet</a:t>
            </a:r>
            <a:endParaRPr sz="1300">
              <a:latin typeface="Times New Roman"/>
              <a:cs typeface="Times New Roman"/>
            </a:endParaRPr>
          </a:p>
          <a:p>
            <a:pPr marL="469265" indent="-310515">
              <a:lnSpc>
                <a:spcPts val="1405"/>
              </a:lnSpc>
              <a:buChar char="•"/>
              <a:tabLst>
                <a:tab pos="469265" algn="l"/>
              </a:tabLst>
            </a:pPr>
            <a:r>
              <a:rPr dirty="0" sz="1300">
                <a:latin typeface="Times New Roman"/>
                <a:cs typeface="Times New Roman"/>
              </a:rPr>
              <a:t>Bing: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tool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used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pinging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bandwidth.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It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one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point-to-</a:t>
            </a:r>
            <a:r>
              <a:rPr dirty="0" sz="1300">
                <a:latin typeface="Times New Roman"/>
                <a:cs typeface="Times New Roman"/>
              </a:rPr>
              <a:t>point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bandwidth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measurement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tool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It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can</a:t>
            </a:r>
            <a:r>
              <a:rPr dirty="0" sz="1300" spc="-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calculate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blank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throughput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between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any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couple</a:t>
            </a:r>
            <a:r>
              <a:rPr dirty="0" sz="1300" spc="-6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networks. </a:t>
            </a:r>
            <a:r>
              <a:rPr dirty="0" sz="1300" spc="-10">
                <a:latin typeface="Times New Roman"/>
                <a:cs typeface="Times New Roman"/>
              </a:rPr>
              <a:t>(htttp:ai3.asti.dost.gov.ph/sat/bing.html).</a:t>
            </a:r>
            <a:endParaRPr sz="1300">
              <a:latin typeface="Times New Roman"/>
              <a:cs typeface="Times New Roman"/>
            </a:endParaRPr>
          </a:p>
          <a:p>
            <a:pPr marL="469265" indent="-310515">
              <a:lnSpc>
                <a:spcPts val="1405"/>
              </a:lnSpc>
              <a:buChar char="•"/>
              <a:tabLst>
                <a:tab pos="469265" algn="l"/>
              </a:tabLst>
            </a:pPr>
            <a:r>
              <a:rPr dirty="0" sz="1300">
                <a:latin typeface="Times New Roman"/>
                <a:cs typeface="Times New Roman"/>
              </a:rPr>
              <a:t>It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also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called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“Rattling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doorknobs”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or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“Active</a:t>
            </a:r>
            <a:r>
              <a:rPr dirty="0" sz="1300" spc="3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reconnaissance”</a:t>
            </a:r>
            <a:endParaRPr sz="1300">
              <a:latin typeface="Times New Roman"/>
              <a:cs typeface="Times New Roman"/>
            </a:endParaRPr>
          </a:p>
          <a:p>
            <a:pPr marL="469265" indent="-310515">
              <a:lnSpc>
                <a:spcPts val="1475"/>
              </a:lnSpc>
              <a:buChar char="•"/>
              <a:tabLst>
                <a:tab pos="469265" algn="l"/>
              </a:tabLst>
            </a:pPr>
            <a:r>
              <a:rPr dirty="0" sz="1300">
                <a:latin typeface="Times New Roman"/>
                <a:cs typeface="Times New Roman"/>
              </a:rPr>
              <a:t>It can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provide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confirmation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attacker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about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security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measures in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place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 spc="-5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1490"/>
              </a:lnSpc>
              <a:spcBef>
                <a:spcPts val="1250"/>
              </a:spcBef>
            </a:pPr>
            <a:r>
              <a:rPr dirty="0" sz="1300" spc="-10" b="1">
                <a:latin typeface="Times New Roman"/>
                <a:cs typeface="Times New Roman"/>
              </a:rPr>
              <a:t>Tools:</a:t>
            </a:r>
            <a:endParaRPr sz="1300">
              <a:latin typeface="Times New Roman"/>
              <a:cs typeface="Times New Roman"/>
            </a:endParaRPr>
          </a:p>
          <a:p>
            <a:pPr marL="469265" indent="-310515">
              <a:lnSpc>
                <a:spcPts val="1405"/>
              </a:lnSpc>
              <a:buFont typeface="Times New Roman"/>
              <a:buChar char="•"/>
              <a:tabLst>
                <a:tab pos="469265" algn="l"/>
              </a:tabLst>
            </a:pPr>
            <a:r>
              <a:rPr dirty="0" sz="1300" b="1">
                <a:latin typeface="Times New Roman"/>
                <a:cs typeface="Times New Roman"/>
              </a:rPr>
              <a:t>Dsniff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: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network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auditing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tool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capture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username,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password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authentication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information</a:t>
            </a:r>
            <a:r>
              <a:rPr dirty="0" sz="1300" spc="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on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5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local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subnet.</a:t>
            </a:r>
            <a:endParaRPr sz="1300">
              <a:latin typeface="Times New Roman"/>
              <a:cs typeface="Times New Roman"/>
            </a:endParaRPr>
          </a:p>
          <a:p>
            <a:pPr marL="469265" indent="-310515">
              <a:lnSpc>
                <a:spcPts val="1405"/>
              </a:lnSpc>
              <a:buFont typeface="Times New Roman"/>
              <a:buChar char="•"/>
              <a:tabLst>
                <a:tab pos="469265" algn="l"/>
              </a:tabLst>
            </a:pPr>
            <a:r>
              <a:rPr dirty="0" sz="1300" b="1">
                <a:latin typeface="Times New Roman"/>
                <a:cs typeface="Times New Roman"/>
              </a:rPr>
              <a:t>DNStracer</a:t>
            </a:r>
            <a:r>
              <a:rPr dirty="0" sz="1300">
                <a:latin typeface="Times New Roman"/>
                <a:cs typeface="Times New Roman"/>
              </a:rPr>
              <a:t>: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tool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used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for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determining</a:t>
            </a:r>
            <a:r>
              <a:rPr dirty="0" sz="1300" spc="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data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source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</a:t>
            </a:r>
            <a:r>
              <a:rPr dirty="0" sz="1300" spc="-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DNS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server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Notifies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continuous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process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DNS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server</a:t>
            </a:r>
            <a:endParaRPr sz="1300">
              <a:latin typeface="Times New Roman"/>
              <a:cs typeface="Times New Roman"/>
            </a:endParaRPr>
          </a:p>
          <a:p>
            <a:pPr marL="469265" indent="-310515">
              <a:lnSpc>
                <a:spcPts val="1405"/>
              </a:lnSpc>
              <a:buFont typeface="Times New Roman"/>
              <a:buChar char="•"/>
              <a:tabLst>
                <a:tab pos="469265" algn="l"/>
              </a:tabLst>
            </a:pPr>
            <a:r>
              <a:rPr dirty="0" sz="1300" b="1">
                <a:latin typeface="Times New Roman"/>
                <a:cs typeface="Times New Roman"/>
              </a:rPr>
              <a:t>Hmap</a:t>
            </a:r>
            <a:r>
              <a:rPr dirty="0" sz="1300">
                <a:latin typeface="Times New Roman"/>
                <a:cs typeface="Times New Roman"/>
              </a:rPr>
              <a:t>:</a:t>
            </a:r>
            <a:r>
              <a:rPr dirty="0" sz="1300" spc="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tool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used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get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fingerprinting</a:t>
            </a:r>
            <a:r>
              <a:rPr dirty="0" sz="1300" spc="2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web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servers</a:t>
            </a:r>
            <a:endParaRPr sz="1300">
              <a:latin typeface="Times New Roman"/>
              <a:cs typeface="Times New Roman"/>
            </a:endParaRPr>
          </a:p>
          <a:p>
            <a:pPr lvl="2" marL="1384300" indent="-311150">
              <a:lnSpc>
                <a:spcPts val="1405"/>
              </a:lnSpc>
              <a:buChar char="•"/>
              <a:tabLst>
                <a:tab pos="1384300" algn="l"/>
              </a:tabLst>
            </a:pP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identify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version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server,</a:t>
            </a:r>
            <a:r>
              <a:rPr dirty="0" sz="1300" spc="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vender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server,</a:t>
            </a:r>
            <a:r>
              <a:rPr dirty="0" sz="1300" spc="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model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server</a:t>
            </a:r>
            <a:r>
              <a:rPr dirty="0" sz="1300" spc="-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and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more</a:t>
            </a:r>
            <a:endParaRPr sz="1300">
              <a:latin typeface="Times New Roman"/>
              <a:cs typeface="Times New Roman"/>
            </a:endParaRPr>
          </a:p>
          <a:p>
            <a:pPr marL="469265" indent="-310515">
              <a:lnSpc>
                <a:spcPts val="1405"/>
              </a:lnSpc>
              <a:buFont typeface="Times New Roman"/>
              <a:buChar char="•"/>
              <a:tabLst>
                <a:tab pos="469265" algn="l"/>
              </a:tabLst>
            </a:pPr>
            <a:r>
              <a:rPr dirty="0" sz="1300" b="1">
                <a:latin typeface="Times New Roman"/>
                <a:cs typeface="Times New Roman"/>
              </a:rPr>
              <a:t>Nmap</a:t>
            </a:r>
            <a:r>
              <a:rPr dirty="0" sz="1300">
                <a:latin typeface="Times New Roman"/>
                <a:cs typeface="Times New Roman"/>
              </a:rPr>
              <a:t>:</a:t>
            </a:r>
            <a:r>
              <a:rPr dirty="0" sz="1300" spc="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This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tool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is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20">
                <a:latin typeface="Times New Roman"/>
                <a:cs typeface="Times New Roman"/>
              </a:rPr>
              <a:t>used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</a:tabLst>
            </a:pPr>
            <a:r>
              <a:rPr dirty="0" sz="1300">
                <a:latin typeface="Times New Roman"/>
                <a:cs typeface="Times New Roman"/>
              </a:rPr>
              <a:t>to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scan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1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port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address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of</a:t>
            </a:r>
            <a:r>
              <a:rPr dirty="0" sz="1300" spc="-1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the</a:t>
            </a:r>
            <a:r>
              <a:rPr dirty="0" sz="1300" spc="-10">
                <a:latin typeface="Times New Roman"/>
                <a:cs typeface="Times New Roman"/>
              </a:rPr>
              <a:t> network,</a:t>
            </a:r>
            <a:endParaRPr sz="1300">
              <a:latin typeface="Times New Roman"/>
              <a:cs typeface="Times New Roman"/>
            </a:endParaRPr>
          </a:p>
          <a:p>
            <a:pPr lvl="1" marL="927100" indent="-311150">
              <a:lnSpc>
                <a:spcPts val="1405"/>
              </a:lnSpc>
              <a:buChar char="–"/>
              <a:tabLst>
                <a:tab pos="927100" algn="l"/>
                <a:tab pos="1174115" algn="l"/>
                <a:tab pos="1661795" algn="l"/>
                <a:tab pos="2012314" algn="l"/>
                <a:tab pos="2866390" algn="l"/>
                <a:tab pos="3152775" algn="l"/>
                <a:tab pos="3924300" algn="l"/>
                <a:tab pos="4530725" algn="l"/>
                <a:tab pos="5205095" algn="l"/>
                <a:tab pos="5817870" algn="l"/>
                <a:tab pos="6205220" algn="l"/>
                <a:tab pos="6445885" algn="l"/>
                <a:tab pos="6823709" algn="l"/>
                <a:tab pos="7263130" algn="l"/>
                <a:tab pos="7613650" algn="l"/>
                <a:tab pos="8299450" algn="l"/>
              </a:tabLst>
            </a:pPr>
            <a:r>
              <a:rPr dirty="0" sz="1300" spc="-25">
                <a:latin typeface="Times New Roman"/>
                <a:cs typeface="Times New Roman"/>
              </a:rPr>
              <a:t>It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takes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25">
                <a:latin typeface="Times New Roman"/>
                <a:cs typeface="Times New Roman"/>
              </a:rPr>
              <a:t>the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fingerprint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25">
                <a:latin typeface="Times New Roman"/>
                <a:cs typeface="Times New Roman"/>
              </a:rPr>
              <a:t>of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operating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system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version,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service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25">
                <a:latin typeface="Times New Roman"/>
                <a:cs typeface="Times New Roman"/>
              </a:rPr>
              <a:t>and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25">
                <a:latin typeface="Times New Roman"/>
                <a:cs typeface="Times New Roman"/>
              </a:rPr>
              <a:t>it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25">
                <a:latin typeface="Times New Roman"/>
                <a:cs typeface="Times New Roman"/>
              </a:rPr>
              <a:t>can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20">
                <a:latin typeface="Times New Roman"/>
                <a:cs typeface="Times New Roman"/>
              </a:rPr>
              <a:t>scan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25">
                <a:latin typeface="Times New Roman"/>
                <a:cs typeface="Times New Roman"/>
              </a:rPr>
              <a:t>the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network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 spc="-10">
                <a:latin typeface="Times New Roman"/>
                <a:cs typeface="Times New Roman"/>
              </a:rPr>
              <a:t>rapidly</a:t>
            </a:r>
            <a:endParaRPr sz="1300">
              <a:latin typeface="Times New Roman"/>
              <a:cs typeface="Times New Roman"/>
            </a:endParaRPr>
          </a:p>
          <a:p>
            <a:pPr marL="927100">
              <a:lnSpc>
                <a:spcPts val="1490"/>
              </a:lnSpc>
            </a:pPr>
            <a:r>
              <a:rPr dirty="0" sz="1300" spc="-10">
                <a:latin typeface="Times New Roman"/>
                <a:cs typeface="Times New Roman"/>
              </a:rPr>
              <a:t>(</a:t>
            </a:r>
            <a:r>
              <a:rPr dirty="0" sz="1300" spc="-10">
                <a:latin typeface="Times New Roman"/>
                <a:cs typeface="Times New Roman"/>
                <a:hlinkClick r:id="rId2"/>
              </a:rPr>
              <a:t>http://insecure.org/nmap</a:t>
            </a:r>
            <a:r>
              <a:rPr dirty="0" sz="1300" spc="-10">
                <a:latin typeface="Times New Roman"/>
                <a:cs typeface="Times New Roman"/>
              </a:rPr>
              <a:t>).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04100" y="2993644"/>
          <a:ext cx="7839709" cy="1918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3475"/>
                <a:gridCol w="2403475"/>
                <a:gridCol w="2944495"/>
              </a:tblGrid>
              <a:tr h="320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 spc="-20" b="1">
                          <a:latin typeface="Times New Roman"/>
                          <a:cs typeface="Times New Roman"/>
                        </a:rPr>
                        <a:t>S.No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Port</a:t>
                      </a:r>
                      <a:r>
                        <a:rPr dirty="0" sz="15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Number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Port</a:t>
                      </a:r>
                      <a:r>
                        <a:rPr dirty="0" sz="15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Description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TCP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Port service</a:t>
                      </a:r>
                      <a:r>
                        <a:rPr dirty="0" sz="15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Multiplexer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18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Message</a:t>
                      </a:r>
                      <a:r>
                        <a:rPr dirty="0" sz="15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send</a:t>
                      </a:r>
                      <a:r>
                        <a:rPr dirty="0" sz="15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protocol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FTP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data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25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SMTP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43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WHOIS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5374" y="221106"/>
            <a:ext cx="7751445" cy="25431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latin typeface="Times New Roman"/>
                <a:cs typeface="Times New Roman"/>
              </a:rPr>
              <a:t>Scanning</a:t>
            </a:r>
            <a:r>
              <a:rPr dirty="0" sz="1500" spc="-2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and</a:t>
            </a:r>
            <a:r>
              <a:rPr dirty="0" sz="1500" spc="-1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scrutinizing</a:t>
            </a:r>
            <a:r>
              <a:rPr dirty="0" sz="1500" spc="-7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gathered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Information</a:t>
            </a:r>
            <a:endParaRPr sz="1500">
              <a:latin typeface="Times New Roman"/>
              <a:cs typeface="Times New Roman"/>
            </a:endParaRPr>
          </a:p>
          <a:p>
            <a:pPr marL="469900" indent="-323215">
              <a:lnSpc>
                <a:spcPct val="100000"/>
              </a:lnSpc>
              <a:buFont typeface="Times New Roman"/>
              <a:buChar char="•"/>
              <a:tabLst>
                <a:tab pos="469900" algn="l"/>
              </a:tabLst>
            </a:pPr>
            <a:r>
              <a:rPr dirty="0" sz="1500" b="1">
                <a:latin typeface="Times New Roman"/>
                <a:cs typeface="Times New Roman"/>
              </a:rPr>
              <a:t>Objectives</a:t>
            </a:r>
            <a:r>
              <a:rPr dirty="0" sz="1500" spc="-6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of</a:t>
            </a:r>
            <a:r>
              <a:rPr dirty="0" sz="1500" spc="2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scanning:</a:t>
            </a:r>
            <a:endParaRPr sz="1500">
              <a:latin typeface="Times New Roman"/>
              <a:cs typeface="Times New Roman"/>
            </a:endParaRPr>
          </a:p>
          <a:p>
            <a:pPr lvl="1" marL="927100" indent="-323215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500">
                <a:latin typeface="Times New Roman"/>
                <a:cs typeface="Times New Roman"/>
              </a:rPr>
              <a:t>Port Scanning</a:t>
            </a:r>
            <a:r>
              <a:rPr dirty="0" sz="1500" spc="-7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: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Where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information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goes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out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computer</a:t>
            </a:r>
            <a:endParaRPr sz="1500">
              <a:latin typeface="Times New Roman"/>
              <a:cs typeface="Times New Roman"/>
            </a:endParaRPr>
          </a:p>
          <a:p>
            <a:pPr lvl="1" marL="927100" indent="-323215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500">
                <a:latin typeface="Times New Roman"/>
                <a:cs typeface="Times New Roman"/>
              </a:rPr>
              <a:t>Identify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open/close</a:t>
            </a:r>
            <a:r>
              <a:rPr dirty="0" sz="1500" spc="-7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ports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services</a:t>
            </a:r>
            <a:endParaRPr sz="1500">
              <a:latin typeface="Times New Roman"/>
              <a:cs typeface="Times New Roman"/>
            </a:endParaRPr>
          </a:p>
          <a:p>
            <a:pPr lvl="1" marL="927100" indent="-323215">
              <a:lnSpc>
                <a:spcPct val="100000"/>
              </a:lnSpc>
              <a:spcBef>
                <a:spcPts val="5"/>
              </a:spcBef>
              <a:buChar char="–"/>
              <a:tabLst>
                <a:tab pos="927100" algn="l"/>
              </a:tabLst>
            </a:pPr>
            <a:r>
              <a:rPr dirty="0" sz="1500">
                <a:latin typeface="Times New Roman"/>
                <a:cs typeface="Times New Roman"/>
              </a:rPr>
              <a:t>Network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Scanning:</a:t>
            </a:r>
            <a:r>
              <a:rPr dirty="0" sz="1500" spc="-7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Understand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IP</a:t>
            </a:r>
            <a:r>
              <a:rPr dirty="0" sz="1500" spc="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addresses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computer</a:t>
            </a:r>
            <a:r>
              <a:rPr dirty="0" sz="1500" spc="-7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network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systems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information.</a:t>
            </a:r>
            <a:endParaRPr sz="1500">
              <a:latin typeface="Times New Roman"/>
              <a:cs typeface="Times New Roman"/>
            </a:endParaRPr>
          </a:p>
          <a:p>
            <a:pPr lvl="1" marL="927100" indent="-323215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500">
                <a:latin typeface="Times New Roman"/>
                <a:cs typeface="Times New Roman"/>
              </a:rPr>
              <a:t>Vulnerability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Scanning: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Understand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existing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weaknesses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system.</a:t>
            </a:r>
            <a:endParaRPr sz="1500">
              <a:latin typeface="Times New Roman"/>
              <a:cs typeface="Times New Roman"/>
            </a:endParaRPr>
          </a:p>
          <a:p>
            <a:pPr marL="469900" indent="-323215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1500">
                <a:latin typeface="Times New Roman"/>
                <a:cs typeface="Times New Roman"/>
              </a:rPr>
              <a:t>Scrutinizing</a:t>
            </a:r>
            <a:r>
              <a:rPr dirty="0" sz="1500" spc="-7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: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“Enumeration”</a:t>
            </a:r>
            <a:endParaRPr sz="1500">
              <a:latin typeface="Times New Roman"/>
              <a:cs typeface="Times New Roman"/>
            </a:endParaRPr>
          </a:p>
          <a:p>
            <a:pPr lvl="1" marL="927100" indent="-323215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500" spc="-10">
                <a:latin typeface="Times New Roman"/>
                <a:cs typeface="Times New Roman"/>
              </a:rPr>
              <a:t>Objectives:</a:t>
            </a:r>
            <a:endParaRPr sz="1500">
              <a:latin typeface="Times New Roman"/>
              <a:cs typeface="Times New Roman"/>
            </a:endParaRPr>
          </a:p>
          <a:p>
            <a:pPr lvl="1" marL="927100" indent="-323215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500">
                <a:latin typeface="Times New Roman"/>
                <a:cs typeface="Times New Roman"/>
              </a:rPr>
              <a:t>Valid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user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or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group</a:t>
            </a:r>
            <a:endParaRPr sz="1500">
              <a:latin typeface="Times New Roman"/>
              <a:cs typeface="Times New Roman"/>
            </a:endParaRPr>
          </a:p>
          <a:p>
            <a:pPr lvl="1" marL="927100" indent="-323215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500">
                <a:latin typeface="Times New Roman"/>
                <a:cs typeface="Times New Roman"/>
              </a:rPr>
              <a:t>Network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resources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/or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shared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resources</a:t>
            </a:r>
            <a:endParaRPr sz="1500">
              <a:latin typeface="Times New Roman"/>
              <a:cs typeface="Times New Roman"/>
            </a:endParaRPr>
          </a:p>
          <a:p>
            <a:pPr lvl="1" marL="927100" indent="-323215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500">
                <a:latin typeface="Times New Roman"/>
                <a:cs typeface="Times New Roman"/>
              </a:rPr>
              <a:t>OS</a:t>
            </a:r>
            <a:r>
              <a:rPr dirty="0" sz="1500" spc="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different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applications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that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are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running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on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OS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995" y="188467"/>
            <a:ext cx="8660130" cy="2466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b="1">
                <a:latin typeface="Times New Roman"/>
                <a:cs typeface="Times New Roman"/>
              </a:rPr>
              <a:t>Launch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the</a:t>
            </a:r>
            <a:r>
              <a:rPr dirty="0" sz="1600" spc="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Attack</a:t>
            </a:r>
            <a:endParaRPr sz="1600">
              <a:latin typeface="Times New Roman"/>
              <a:cs typeface="Times New Roman"/>
            </a:endParaRPr>
          </a:p>
          <a:p>
            <a:pPr marL="469900" indent="-32893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1600">
                <a:latin typeface="Times New Roman"/>
                <a:cs typeface="Times New Roman"/>
              </a:rPr>
              <a:t>After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enumeration,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attack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launched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following</a:t>
            </a:r>
            <a:r>
              <a:rPr dirty="0" sz="1600" spc="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steps:</a:t>
            </a:r>
            <a:endParaRPr sz="1600">
              <a:latin typeface="Times New Roman"/>
              <a:cs typeface="Times New Roman"/>
            </a:endParaRPr>
          </a:p>
          <a:p>
            <a:pPr lvl="1" marL="927100" indent="-328930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600">
                <a:latin typeface="Times New Roman"/>
                <a:cs typeface="Times New Roman"/>
              </a:rPr>
              <a:t>Crack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password</a:t>
            </a:r>
            <a:endParaRPr sz="1600">
              <a:latin typeface="Times New Roman"/>
              <a:cs typeface="Times New Roman"/>
            </a:endParaRPr>
          </a:p>
          <a:p>
            <a:pPr lvl="1" marL="927100" indent="-328930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600">
                <a:latin typeface="Times New Roman"/>
                <a:cs typeface="Times New Roman"/>
              </a:rPr>
              <a:t>Exploit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privileges</a:t>
            </a:r>
            <a:endParaRPr sz="1600">
              <a:latin typeface="Times New Roman"/>
              <a:cs typeface="Times New Roman"/>
            </a:endParaRPr>
          </a:p>
          <a:p>
            <a:pPr lvl="1" marL="927100" indent="-328930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600">
                <a:latin typeface="Times New Roman"/>
                <a:cs typeface="Times New Roman"/>
              </a:rPr>
              <a:t>Execute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malicious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commands/applications</a:t>
            </a:r>
            <a:endParaRPr sz="1600">
              <a:latin typeface="Times New Roman"/>
              <a:cs typeface="Times New Roman"/>
            </a:endParaRPr>
          </a:p>
          <a:p>
            <a:pPr lvl="1" marL="927100" indent="-328930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600">
                <a:latin typeface="Times New Roman"/>
                <a:cs typeface="Times New Roman"/>
              </a:rPr>
              <a:t>Hide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 </a:t>
            </a:r>
            <a:r>
              <a:rPr dirty="0" sz="1600" spc="-20">
                <a:latin typeface="Times New Roman"/>
                <a:cs typeface="Times New Roman"/>
              </a:rPr>
              <a:t>files</a:t>
            </a:r>
            <a:endParaRPr sz="1600">
              <a:latin typeface="Times New Roman"/>
              <a:cs typeface="Times New Roman"/>
            </a:endParaRPr>
          </a:p>
          <a:p>
            <a:pPr lvl="1" marL="927100" indent="-328930">
              <a:lnSpc>
                <a:spcPct val="100000"/>
              </a:lnSpc>
              <a:spcBef>
                <a:spcPts val="5"/>
              </a:spcBef>
              <a:buChar char="–"/>
              <a:tabLst>
                <a:tab pos="927100" algn="l"/>
              </a:tabLst>
            </a:pPr>
            <a:r>
              <a:rPr dirty="0" sz="1600">
                <a:latin typeface="Times New Roman"/>
                <a:cs typeface="Times New Roman"/>
              </a:rPr>
              <a:t>Cover the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tracks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like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delete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access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logs.</a:t>
            </a:r>
            <a:endParaRPr sz="1600">
              <a:latin typeface="Times New Roman"/>
              <a:cs typeface="Times New Roman"/>
            </a:endParaRPr>
          </a:p>
          <a:p>
            <a:pPr marL="469900" indent="-32893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dirty="0" sz="1600" spc="-10">
                <a:latin typeface="Times New Roman"/>
                <a:cs typeface="Times New Roman"/>
              </a:rPr>
              <a:t>Note:</a:t>
            </a:r>
            <a:endParaRPr sz="1600">
              <a:latin typeface="Times New Roman"/>
              <a:cs typeface="Times New Roman"/>
            </a:endParaRPr>
          </a:p>
          <a:p>
            <a:pPr lvl="1" marL="927100" indent="-328930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attackers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spend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90%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Reconnaissance,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Scanning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scrutinizing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target.</a:t>
            </a:r>
            <a:endParaRPr sz="1600">
              <a:latin typeface="Times New Roman"/>
              <a:cs typeface="Times New Roman"/>
            </a:endParaRPr>
          </a:p>
          <a:p>
            <a:pPr lvl="1" marL="927100" indent="-328930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600">
                <a:latin typeface="Times New Roman"/>
                <a:cs typeface="Times New Roman"/>
              </a:rPr>
              <a:t>Only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10%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launching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attack.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0258" y="151891"/>
            <a:ext cx="266954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Social</a:t>
            </a:r>
            <a:r>
              <a:rPr dirty="0" spc="-60">
                <a:latin typeface="Microsoft Sans Serif"/>
                <a:cs typeface="Microsoft Sans Serif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724916"/>
            <a:ext cx="8368665" cy="3683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69265" indent="-328930">
              <a:lnSpc>
                <a:spcPct val="100000"/>
              </a:lnSpc>
              <a:spcBef>
                <a:spcPts val="105"/>
              </a:spcBef>
              <a:buChar char="•"/>
              <a:tabLst>
                <a:tab pos="469265" algn="l"/>
              </a:tabLst>
            </a:pP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way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criminals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gain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access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systems.</a:t>
            </a:r>
            <a:endParaRPr sz="1600">
              <a:latin typeface="Times New Roman"/>
              <a:cs typeface="Times New Roman"/>
            </a:endParaRPr>
          </a:p>
          <a:p>
            <a:pPr algn="just" marL="469900" marR="6350" indent="-329565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4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purpose</a:t>
            </a:r>
            <a:r>
              <a:rPr dirty="0" sz="1600" spc="4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45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social</a:t>
            </a:r>
            <a:r>
              <a:rPr dirty="0" sz="1600" spc="4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engineering</a:t>
            </a:r>
            <a:r>
              <a:rPr dirty="0" sz="1600" spc="4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45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usually</a:t>
            </a:r>
            <a:r>
              <a:rPr dirty="0" sz="1600" spc="4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4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secretly</a:t>
            </a:r>
            <a:r>
              <a:rPr dirty="0" sz="1600" spc="43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install</a:t>
            </a:r>
            <a:r>
              <a:rPr dirty="0" sz="1600" spc="4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spyware,</a:t>
            </a:r>
            <a:r>
              <a:rPr dirty="0" sz="1600" spc="4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other</a:t>
            </a:r>
            <a:r>
              <a:rPr dirty="0" sz="1600" spc="459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malicious </a:t>
            </a:r>
            <a:r>
              <a:rPr dirty="0" sz="1600">
                <a:latin typeface="Times New Roman"/>
                <a:cs typeface="Times New Roman"/>
              </a:rPr>
              <a:t>software</a:t>
            </a:r>
            <a:r>
              <a:rPr dirty="0" sz="1600" spc="2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trick</a:t>
            </a:r>
            <a:r>
              <a:rPr dirty="0" sz="1600" spc="2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persons</a:t>
            </a:r>
            <a:r>
              <a:rPr dirty="0" sz="1600" spc="2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into</a:t>
            </a:r>
            <a:r>
              <a:rPr dirty="0" sz="1600" spc="2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handing</a:t>
            </a:r>
            <a:r>
              <a:rPr dirty="0" sz="1600" spc="2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over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passwords</a:t>
            </a:r>
            <a:r>
              <a:rPr dirty="0" sz="1600" spc="2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and/or</a:t>
            </a:r>
            <a:r>
              <a:rPr dirty="0" sz="1600" spc="2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other</a:t>
            </a:r>
            <a:r>
              <a:rPr dirty="0" sz="1600" spc="2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sensitive</a:t>
            </a:r>
            <a:r>
              <a:rPr dirty="0" sz="1600" spc="25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financial</a:t>
            </a:r>
            <a:r>
              <a:rPr dirty="0" sz="1600" spc="25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or </a:t>
            </a:r>
            <a:r>
              <a:rPr dirty="0" sz="1600">
                <a:latin typeface="Times New Roman"/>
                <a:cs typeface="Times New Roman"/>
              </a:rPr>
              <a:t>personal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information</a:t>
            </a:r>
            <a:endParaRPr sz="16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Times New Roman"/>
                <a:cs typeface="Times New Roman"/>
              </a:rPr>
              <a:t>What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are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they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looking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spc="-25" b="1">
                <a:latin typeface="Times New Roman"/>
                <a:cs typeface="Times New Roman"/>
              </a:rPr>
              <a:t>for</a:t>
            </a:r>
            <a:endParaRPr sz="1600">
              <a:latin typeface="Times New Roman"/>
              <a:cs typeface="Times New Roman"/>
            </a:endParaRPr>
          </a:p>
          <a:p>
            <a:pPr algn="just" marL="469265" indent="-32893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600">
                <a:latin typeface="Times New Roman"/>
                <a:cs typeface="Times New Roman"/>
              </a:rPr>
              <a:t>Obtaining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simple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such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pet's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name,</a:t>
            </a:r>
            <a:r>
              <a:rPr dirty="0" sz="1600" spc="20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where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you're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from,</a:t>
            </a:r>
            <a:r>
              <a:rPr dirty="0" sz="1600" spc="2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places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you've</a:t>
            </a:r>
            <a:endParaRPr sz="1600">
              <a:latin typeface="Times New Roman"/>
              <a:cs typeface="Times New Roman"/>
            </a:endParaRPr>
          </a:p>
          <a:p>
            <a:pPr algn="just" marL="4699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visited;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you'd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give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out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freely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-10">
                <a:latin typeface="Times New Roman"/>
                <a:cs typeface="Times New Roman"/>
              </a:rPr>
              <a:t> friends.</a:t>
            </a:r>
            <a:endParaRPr sz="1600">
              <a:latin typeface="Times New Roman"/>
              <a:cs typeface="Times New Roman"/>
            </a:endParaRPr>
          </a:p>
          <a:p>
            <a:pPr algn="just" marL="469900" marR="5080" indent="-329565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1600">
                <a:latin typeface="Times New Roman"/>
                <a:cs typeface="Times New Roman"/>
              </a:rPr>
              <a:t>Take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1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close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look</a:t>
            </a:r>
            <a:r>
              <a:rPr dirty="0" sz="1600" spc="1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at</a:t>
            </a:r>
            <a:r>
              <a:rPr dirty="0" sz="1600" spc="1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some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114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'secure'</a:t>
            </a:r>
            <a:r>
              <a:rPr dirty="0" sz="1600" spc="1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sites</a:t>
            </a:r>
            <a:r>
              <a:rPr dirty="0" sz="1600" spc="1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</a:t>
            </a:r>
            <a:r>
              <a:rPr dirty="0" sz="1600" spc="1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into.</a:t>
            </a:r>
            <a:r>
              <a:rPr dirty="0" sz="1600" spc="1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Some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have</a:t>
            </a:r>
            <a:r>
              <a:rPr dirty="0" sz="1600" spc="10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1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'secret</a:t>
            </a:r>
            <a:r>
              <a:rPr dirty="0" sz="1600" spc="1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question'</a:t>
            </a:r>
            <a:r>
              <a:rPr dirty="0" sz="1600" spc="13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you </a:t>
            </a:r>
            <a:r>
              <a:rPr dirty="0" sz="1600">
                <a:latin typeface="Times New Roman"/>
                <a:cs typeface="Times New Roman"/>
              </a:rPr>
              <a:t>have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answer,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if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cannot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remember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username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password.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questions seem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pretty </a:t>
            </a:r>
            <a:r>
              <a:rPr dirty="0" sz="1600">
                <a:latin typeface="Times New Roman"/>
                <a:cs typeface="Times New Roman"/>
              </a:rPr>
              <a:t>tough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 an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outsider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looking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into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trying to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hack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into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account.</a:t>
            </a:r>
            <a:endParaRPr sz="1600">
              <a:latin typeface="Times New Roman"/>
              <a:cs typeface="Times New Roman"/>
            </a:endParaRPr>
          </a:p>
          <a:p>
            <a:pPr lvl="1" marL="1841500" indent="-328930">
              <a:lnSpc>
                <a:spcPct val="100000"/>
              </a:lnSpc>
              <a:buChar char="•"/>
              <a:tabLst>
                <a:tab pos="1841500" algn="l"/>
              </a:tabLst>
            </a:pPr>
            <a:r>
              <a:rPr dirty="0" sz="1600">
                <a:latin typeface="Times New Roman"/>
                <a:cs typeface="Times New Roman"/>
              </a:rPr>
              <a:t>What's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name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first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pet?</a:t>
            </a:r>
            <a:endParaRPr sz="1600">
              <a:latin typeface="Times New Roman"/>
              <a:cs typeface="Times New Roman"/>
            </a:endParaRPr>
          </a:p>
          <a:p>
            <a:pPr lvl="1" marL="1841500" indent="-328930">
              <a:lnSpc>
                <a:spcPct val="100000"/>
              </a:lnSpc>
              <a:spcBef>
                <a:spcPts val="5"/>
              </a:spcBef>
              <a:buChar char="•"/>
              <a:tabLst>
                <a:tab pos="1841500" algn="l"/>
              </a:tabLst>
            </a:pPr>
            <a:r>
              <a:rPr dirty="0" sz="1600">
                <a:latin typeface="Times New Roman"/>
                <a:cs typeface="Times New Roman"/>
              </a:rPr>
              <a:t>What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maiden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name?</a:t>
            </a:r>
            <a:endParaRPr sz="1600">
              <a:latin typeface="Times New Roman"/>
              <a:cs typeface="Times New Roman"/>
            </a:endParaRPr>
          </a:p>
          <a:p>
            <a:pPr lvl="1" marL="1841500" indent="-328930">
              <a:lnSpc>
                <a:spcPct val="100000"/>
              </a:lnSpc>
              <a:buChar char="•"/>
              <a:tabLst>
                <a:tab pos="1841500" algn="l"/>
              </a:tabLst>
            </a:pPr>
            <a:r>
              <a:rPr dirty="0" sz="1600">
                <a:latin typeface="Times New Roman"/>
                <a:cs typeface="Times New Roman"/>
              </a:rPr>
              <a:t>When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was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mother/father</a:t>
            </a:r>
            <a:r>
              <a:rPr dirty="0" sz="1600" spc="-20">
                <a:latin typeface="Times New Roman"/>
                <a:cs typeface="Times New Roman"/>
              </a:rPr>
              <a:t> born?</a:t>
            </a:r>
            <a:endParaRPr sz="1600">
              <a:latin typeface="Times New Roman"/>
              <a:cs typeface="Times New Roman"/>
            </a:endParaRPr>
          </a:p>
          <a:p>
            <a:pPr lvl="1" marL="1841500" indent="-328930">
              <a:lnSpc>
                <a:spcPts val="1910"/>
              </a:lnSpc>
              <a:buChar char="•"/>
              <a:tabLst>
                <a:tab pos="1841500" algn="l"/>
              </a:tabLst>
            </a:pPr>
            <a:r>
              <a:rPr dirty="0" sz="1600">
                <a:latin typeface="Times New Roman"/>
                <a:cs typeface="Times New Roman"/>
              </a:rPr>
              <a:t>Where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were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born?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910"/>
              </a:lnSpc>
            </a:pPr>
            <a:r>
              <a:rPr dirty="0" sz="1600" b="1" i="1">
                <a:latin typeface="Times New Roman"/>
                <a:cs typeface="Times New Roman"/>
              </a:rPr>
              <a:t>Do</a:t>
            </a:r>
            <a:r>
              <a:rPr dirty="0" sz="1600" spc="-15" b="1" i="1">
                <a:latin typeface="Times New Roman"/>
                <a:cs typeface="Times New Roman"/>
              </a:rPr>
              <a:t> </a:t>
            </a:r>
            <a:r>
              <a:rPr dirty="0" sz="1600" b="1" i="1">
                <a:latin typeface="Times New Roman"/>
                <a:cs typeface="Times New Roman"/>
              </a:rPr>
              <a:t>these</a:t>
            </a:r>
            <a:r>
              <a:rPr dirty="0" sz="1600" spc="-20" b="1" i="1">
                <a:latin typeface="Times New Roman"/>
                <a:cs typeface="Times New Roman"/>
              </a:rPr>
              <a:t> </a:t>
            </a:r>
            <a:r>
              <a:rPr dirty="0" sz="1600" b="1" i="1">
                <a:latin typeface="Times New Roman"/>
                <a:cs typeface="Times New Roman"/>
              </a:rPr>
              <a:t>sound</a:t>
            </a:r>
            <a:r>
              <a:rPr dirty="0" sz="1600" spc="-30" b="1" i="1">
                <a:latin typeface="Times New Roman"/>
                <a:cs typeface="Times New Roman"/>
              </a:rPr>
              <a:t> </a:t>
            </a:r>
            <a:r>
              <a:rPr dirty="0" sz="1600" spc="-10" b="1" i="1">
                <a:latin typeface="Times New Roman"/>
                <a:cs typeface="Times New Roman"/>
              </a:rPr>
              <a:t>familiar?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0258" y="151891"/>
            <a:ext cx="266954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Social</a:t>
            </a:r>
            <a:r>
              <a:rPr dirty="0" spc="-60">
                <a:latin typeface="Microsoft Sans Serif"/>
                <a:cs typeface="Microsoft Sans Serif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718819"/>
            <a:ext cx="8209280" cy="37166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815" marR="54610" indent="-285750">
              <a:lnSpc>
                <a:spcPct val="100000"/>
              </a:lnSpc>
              <a:spcBef>
                <a:spcPts val="105"/>
              </a:spcBef>
              <a:buFont typeface="Segoe UI Symbol"/>
              <a:buChar char="⮚"/>
              <a:tabLst>
                <a:tab pos="299085" algn="l"/>
              </a:tabLst>
            </a:pP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“technique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influence”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“persuasion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deceive”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people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obtain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information </a:t>
            </a:r>
            <a:r>
              <a:rPr dirty="0" sz="1600" spc="-1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perform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some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action.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Segoe UI Symbol"/>
              <a:buChar char="⮚"/>
              <a:tabLst>
                <a:tab pos="298450" algn="l"/>
              </a:tabLst>
            </a:pPr>
            <a:r>
              <a:rPr dirty="0" sz="1600">
                <a:latin typeface="Calibri"/>
                <a:cs typeface="Calibri"/>
              </a:rPr>
              <a:t>Social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engineers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exploit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natural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tendency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person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trust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social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engineers’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word,</a:t>
            </a:r>
            <a:r>
              <a:rPr dirty="0" sz="1600" spc="-10">
                <a:latin typeface="Calibri"/>
                <a:cs typeface="Calibri"/>
              </a:rPr>
              <a:t> rather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Calibri"/>
                <a:cs typeface="Calibri"/>
              </a:rPr>
              <a:t>than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exploiting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computer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security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holes.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Segoe UI Symbol"/>
              <a:buChar char="⮚"/>
              <a:tabLst>
                <a:tab pos="298450" algn="l"/>
              </a:tabLst>
            </a:pPr>
            <a:r>
              <a:rPr dirty="0" sz="1600">
                <a:latin typeface="Calibri"/>
                <a:cs typeface="Calibri"/>
              </a:rPr>
              <a:t>Social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engineering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involves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gaining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sensitive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information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unauthorized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access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privileges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by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building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inappropriate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trust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relationships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insiders.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Segoe UI Symbol"/>
              <a:buChar char="⮚"/>
              <a:tabLst>
                <a:tab pos="298450" algn="l"/>
              </a:tabLst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sign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truly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successful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social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engineers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they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receive information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without</a:t>
            </a:r>
            <a:r>
              <a:rPr dirty="0" sz="1600" spc="-25">
                <a:latin typeface="Calibri"/>
                <a:cs typeface="Calibri"/>
              </a:rPr>
              <a:t> any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ts val="1914"/>
              </a:lnSpc>
              <a:spcBef>
                <a:spcPts val="30"/>
              </a:spcBef>
            </a:pPr>
            <a:r>
              <a:rPr dirty="0" sz="1600" spc="-10">
                <a:latin typeface="Calibri"/>
                <a:cs typeface="Calibri"/>
              </a:rPr>
              <a:t>suspicion.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2155"/>
              </a:lnSpc>
            </a:pPr>
            <a:r>
              <a:rPr dirty="0" sz="1800" b="1">
                <a:latin typeface="Calibri"/>
                <a:cs typeface="Calibri"/>
              </a:rPr>
              <a:t>Classification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Social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Engineering</a:t>
            </a:r>
            <a:endParaRPr sz="1800">
              <a:latin typeface="Calibri"/>
              <a:cs typeface="Calibri"/>
            </a:endParaRPr>
          </a:p>
          <a:p>
            <a:pPr marL="216535" indent="-203835">
              <a:lnSpc>
                <a:spcPts val="1910"/>
              </a:lnSpc>
              <a:spcBef>
                <a:spcPts val="10"/>
              </a:spcBef>
              <a:buFont typeface="Calibri"/>
              <a:buAutoNum type="arabicPeriod"/>
              <a:tabLst>
                <a:tab pos="216535" algn="l"/>
              </a:tabLst>
            </a:pPr>
            <a:r>
              <a:rPr dirty="0" sz="1600" spc="-10" b="1" i="1">
                <a:latin typeface="Calibri"/>
                <a:cs typeface="Calibri"/>
              </a:rPr>
              <a:t>Human-</a:t>
            </a:r>
            <a:r>
              <a:rPr dirty="0" sz="1600" b="1" i="1">
                <a:latin typeface="Calibri"/>
                <a:cs typeface="Calibri"/>
              </a:rPr>
              <a:t>Based</a:t>
            </a:r>
            <a:r>
              <a:rPr dirty="0" sz="1600" spc="-4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Social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Engineering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0"/>
              </a:lnSpc>
            </a:pPr>
            <a:r>
              <a:rPr dirty="0" sz="1600">
                <a:latin typeface="Calibri"/>
                <a:cs typeface="Calibri"/>
              </a:rPr>
              <a:t>Human-based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social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engineering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refers 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person-to-</a:t>
            </a:r>
            <a:r>
              <a:rPr dirty="0" sz="1600">
                <a:latin typeface="Calibri"/>
                <a:cs typeface="Calibri"/>
              </a:rPr>
              <a:t>person interaction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get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required/desired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600" spc="-10">
                <a:latin typeface="Calibri"/>
                <a:cs typeface="Calibri"/>
              </a:rPr>
              <a:t>information.</a:t>
            </a:r>
            <a:endParaRPr sz="1600">
              <a:latin typeface="Calibri"/>
              <a:cs typeface="Calibri"/>
            </a:endParaRPr>
          </a:p>
          <a:p>
            <a:pPr marL="215900" indent="-203200">
              <a:lnSpc>
                <a:spcPts val="1910"/>
              </a:lnSpc>
              <a:buFont typeface="Calibri"/>
              <a:buAutoNum type="arabicPeriod" startAt="2"/>
              <a:tabLst>
                <a:tab pos="215900" algn="l"/>
              </a:tabLst>
            </a:pPr>
            <a:r>
              <a:rPr dirty="0" sz="1600" spc="-10" b="1" i="1">
                <a:latin typeface="Calibri"/>
                <a:cs typeface="Calibri"/>
              </a:rPr>
              <a:t>Computer-</a:t>
            </a:r>
            <a:r>
              <a:rPr dirty="0" sz="1600" b="1" i="1">
                <a:latin typeface="Calibri"/>
                <a:cs typeface="Calibri"/>
              </a:rPr>
              <a:t>Based</a:t>
            </a:r>
            <a:r>
              <a:rPr dirty="0" sz="1600" spc="-3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Social</a:t>
            </a:r>
            <a:r>
              <a:rPr dirty="0" sz="1600" spc="1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Engineering</a:t>
            </a:r>
            <a:endParaRPr sz="1600">
              <a:latin typeface="Calibri"/>
              <a:cs typeface="Calibri"/>
            </a:endParaRPr>
          </a:p>
          <a:p>
            <a:pPr marL="12700" marR="738505">
              <a:lnSpc>
                <a:spcPts val="1920"/>
              </a:lnSpc>
              <a:spcBef>
                <a:spcPts val="55"/>
              </a:spcBef>
            </a:pPr>
            <a:r>
              <a:rPr dirty="0" sz="1600" spc="-10">
                <a:latin typeface="Calibri"/>
                <a:cs typeface="Calibri"/>
              </a:rPr>
              <a:t>Computer-</a:t>
            </a:r>
            <a:r>
              <a:rPr dirty="0" sz="1600">
                <a:latin typeface="Calibri"/>
                <a:cs typeface="Calibri"/>
              </a:rPr>
              <a:t>based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social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engineering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refers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attempt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made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get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required/desired </a:t>
            </a:r>
            <a:r>
              <a:rPr dirty="0" sz="1600">
                <a:latin typeface="Calibri"/>
                <a:cs typeface="Calibri"/>
              </a:rPr>
              <a:t>information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using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computer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software/Internet.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698" y="187197"/>
            <a:ext cx="5793105" cy="1306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6865" algn="l"/>
              </a:tabLst>
            </a:pPr>
            <a:r>
              <a:rPr dirty="0" sz="1200" b="1">
                <a:latin typeface="Times New Roman"/>
                <a:cs typeface="Times New Roman"/>
              </a:rPr>
              <a:t>Human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Based (Non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Technical)</a:t>
            </a:r>
            <a:endParaRPr sz="1200">
              <a:latin typeface="Times New Roman"/>
              <a:cs typeface="Times New Roman"/>
            </a:endParaRPr>
          </a:p>
          <a:p>
            <a:pPr lvl="1" marL="774700" indent="-304800">
              <a:lnSpc>
                <a:spcPct val="100000"/>
              </a:lnSpc>
              <a:buAutoNum type="arabicPeriod"/>
              <a:tabLst>
                <a:tab pos="774700" algn="l"/>
              </a:tabLst>
            </a:pPr>
            <a:r>
              <a:rPr dirty="0" sz="1200" spc="-10">
                <a:latin typeface="Times New Roman"/>
                <a:cs typeface="Times New Roman"/>
              </a:rPr>
              <a:t>Impersonating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employee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valid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Posing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employee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same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organisation.</a:t>
            </a:r>
            <a:endParaRPr sz="1200">
              <a:latin typeface="Times New Roman"/>
              <a:cs typeface="Times New Roman"/>
            </a:endParaRPr>
          </a:p>
          <a:p>
            <a:pPr lvl="1" marL="774700" indent="-304800">
              <a:lnSpc>
                <a:spcPct val="100000"/>
              </a:lnSpc>
              <a:buAutoNum type="arabicPeriod"/>
              <a:tabLst>
                <a:tab pos="774700" algn="l"/>
              </a:tabLst>
            </a:pPr>
            <a:r>
              <a:rPr dirty="0" sz="1200">
                <a:latin typeface="Times New Roman"/>
                <a:cs typeface="Times New Roman"/>
              </a:rPr>
              <a:t>Posing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important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Pretend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important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user</a:t>
            </a:r>
            <a:endParaRPr sz="1200">
              <a:latin typeface="Times New Roman"/>
              <a:cs typeface="Times New Roman"/>
            </a:endParaRPr>
          </a:p>
          <a:p>
            <a:pPr lvl="1" marL="774700" indent="-304800">
              <a:lnSpc>
                <a:spcPct val="100000"/>
              </a:lnSpc>
              <a:buAutoNum type="arabicPeriod"/>
              <a:tabLst>
                <a:tab pos="774700" algn="l"/>
              </a:tabLst>
            </a:pP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third person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authorised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 </a:t>
            </a:r>
            <a:r>
              <a:rPr dirty="0" sz="1200" spc="-1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lvl="1" marL="774700" indent="-3048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774700" algn="l"/>
              </a:tabLst>
            </a:pPr>
            <a:r>
              <a:rPr dirty="0" sz="1200" spc="-10">
                <a:latin typeface="Times New Roman"/>
                <a:cs typeface="Times New Roman"/>
              </a:rPr>
              <a:t>Calling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technical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desk</a:t>
            </a:r>
            <a:endParaRPr sz="1200">
              <a:latin typeface="Times New Roman"/>
              <a:cs typeface="Times New Roman"/>
            </a:endParaRPr>
          </a:p>
          <a:p>
            <a:pPr lvl="1" marL="774700" indent="-304800">
              <a:lnSpc>
                <a:spcPct val="100000"/>
              </a:lnSpc>
              <a:buAutoNum type="arabicPeriod"/>
              <a:tabLst>
                <a:tab pos="774700" algn="l"/>
              </a:tabLst>
            </a:pPr>
            <a:r>
              <a:rPr dirty="0" sz="1200">
                <a:latin typeface="Times New Roman"/>
                <a:cs typeface="Times New Roman"/>
              </a:rPr>
              <a:t>Shoulder </a:t>
            </a:r>
            <a:r>
              <a:rPr dirty="0" sz="1200" spc="-10">
                <a:latin typeface="Times New Roman"/>
                <a:cs typeface="Times New Roman"/>
              </a:rPr>
              <a:t>surfing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watching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person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shoulder</a:t>
            </a:r>
            <a:endParaRPr sz="1200">
              <a:latin typeface="Times New Roman"/>
              <a:cs typeface="Times New Roman"/>
            </a:endParaRPr>
          </a:p>
          <a:p>
            <a:pPr lvl="1" marL="774700" indent="-304800">
              <a:lnSpc>
                <a:spcPct val="100000"/>
              </a:lnSpc>
              <a:buAutoNum type="arabicPeriod"/>
              <a:tabLst>
                <a:tab pos="774700" algn="l"/>
              </a:tabLst>
            </a:pPr>
            <a:r>
              <a:rPr dirty="0" sz="1200">
                <a:latin typeface="Times New Roman"/>
                <a:cs typeface="Times New Roman"/>
              </a:rPr>
              <a:t>Dumpster</a:t>
            </a:r>
            <a:r>
              <a:rPr dirty="0" sz="1200" spc="-10">
                <a:latin typeface="Times New Roman"/>
                <a:cs typeface="Times New Roman"/>
              </a:rPr>
              <a:t> diving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Looking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trash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 descr="https://usercontent2.hubstatic.com/8844467_f260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0367" y="832103"/>
            <a:ext cx="2478024" cy="20177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2458" y="2225523"/>
            <a:ext cx="3817870" cy="21403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993" y="287527"/>
            <a:ext cx="5812790" cy="2830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165100" algn="l"/>
              </a:tabLst>
            </a:pPr>
            <a:r>
              <a:rPr dirty="0" sz="1200" b="1">
                <a:latin typeface="Times New Roman"/>
                <a:cs typeface="Times New Roman"/>
              </a:rPr>
              <a:t>Computer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Based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Social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Engineering</a:t>
            </a:r>
            <a:endParaRPr sz="1200">
              <a:latin typeface="Times New Roman"/>
              <a:cs typeface="Times New Roman"/>
            </a:endParaRPr>
          </a:p>
          <a:p>
            <a:pPr lvl="1" marL="927100" indent="-30480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1200">
                <a:latin typeface="Times New Roman"/>
                <a:cs typeface="Times New Roman"/>
              </a:rPr>
              <a:t>Fake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EMails</a:t>
            </a:r>
            <a:endParaRPr sz="1200">
              <a:latin typeface="Times New Roman"/>
              <a:cs typeface="Times New Roman"/>
            </a:endParaRPr>
          </a:p>
          <a:p>
            <a:pPr lvl="1" marL="927100" indent="-30480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1200">
                <a:latin typeface="Times New Roman"/>
                <a:cs typeface="Times New Roman"/>
              </a:rPr>
              <a:t>Email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Attachments</a:t>
            </a:r>
            <a:endParaRPr sz="1200">
              <a:latin typeface="Times New Roman"/>
              <a:cs typeface="Times New Roman"/>
            </a:endParaRPr>
          </a:p>
          <a:p>
            <a:pPr lvl="1" marL="927100" indent="-30480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1200">
                <a:latin typeface="Times New Roman"/>
                <a:cs typeface="Times New Roman"/>
              </a:rPr>
              <a:t>Pop-up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Windows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Protecting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Yourself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from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Social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Engineering</a:t>
            </a:r>
            <a:r>
              <a:rPr dirty="0" sz="1400" spc="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Attack</a:t>
            </a:r>
            <a:endParaRPr sz="1400">
              <a:latin typeface="Times New Roman"/>
              <a:cs typeface="Times New Roman"/>
            </a:endParaRPr>
          </a:p>
          <a:p>
            <a:pPr marL="469900" indent="-31686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defenses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repel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virus</a:t>
            </a:r>
            <a:endParaRPr sz="1400">
              <a:latin typeface="Times New Roman"/>
              <a:cs typeface="Times New Roman"/>
            </a:endParaRPr>
          </a:p>
          <a:p>
            <a:pPr lvl="1" marL="1384300" indent="-316865">
              <a:lnSpc>
                <a:spcPct val="100000"/>
              </a:lnSpc>
              <a:spcBef>
                <a:spcPts val="5"/>
              </a:spcBef>
              <a:buChar char="•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Virus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(McAfee,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Norton,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Symantec,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etc…)</a:t>
            </a:r>
            <a:endParaRPr sz="1400">
              <a:latin typeface="Times New Roman"/>
              <a:cs typeface="Times New Roman"/>
            </a:endParaRPr>
          </a:p>
          <a:p>
            <a:pPr lvl="1" marL="1384300" indent="-316865">
              <a:lnSpc>
                <a:spcPct val="100000"/>
              </a:lnSpc>
              <a:buChar char="•"/>
              <a:tabLst>
                <a:tab pos="1384300" algn="l"/>
              </a:tabLst>
            </a:pPr>
            <a:r>
              <a:rPr dirty="0" sz="1400">
                <a:latin typeface="Times New Roman"/>
                <a:cs typeface="Times New Roman"/>
              </a:rPr>
              <a:t>Email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attachment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scanning</a:t>
            </a:r>
            <a:endParaRPr sz="1400">
              <a:latin typeface="Times New Roman"/>
              <a:cs typeface="Times New Roman"/>
            </a:endParaRPr>
          </a:p>
          <a:p>
            <a:pPr lvl="1" marL="1384300" indent="-316865">
              <a:lnSpc>
                <a:spcPct val="100000"/>
              </a:lnSpc>
              <a:buChar char="•"/>
              <a:tabLst>
                <a:tab pos="1384300" algn="l"/>
              </a:tabLst>
            </a:pPr>
            <a:r>
              <a:rPr dirty="0" sz="1400" spc="-10">
                <a:latin typeface="Times New Roman"/>
                <a:cs typeface="Times New Roman"/>
              </a:rPr>
              <a:t>Firewalls,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etc…</a:t>
            </a:r>
            <a:endParaRPr sz="1400">
              <a:latin typeface="Times New Roman"/>
              <a:cs typeface="Times New Roman"/>
            </a:endParaRPr>
          </a:p>
          <a:p>
            <a:pPr marL="469900" indent="-31686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must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decide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sensitive</a:t>
            </a:r>
            <a:endParaRPr sz="1400">
              <a:latin typeface="Times New Roman"/>
              <a:cs typeface="Times New Roman"/>
            </a:endParaRPr>
          </a:p>
          <a:p>
            <a:pPr marL="469900" indent="-31686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must be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periodically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tested</a:t>
            </a:r>
            <a:endParaRPr sz="1400">
              <a:latin typeface="Times New Roman"/>
              <a:cs typeface="Times New Roman"/>
            </a:endParaRPr>
          </a:p>
          <a:p>
            <a:pPr marL="469900" indent="-3168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Contact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office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immediately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concerns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work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Cyber</a:t>
            </a:r>
            <a:r>
              <a:rPr dirty="0" spc="15">
                <a:latin typeface="Microsoft Sans Serif"/>
                <a:cs typeface="Microsoft Sans Serif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Stalking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3159632"/>
            <a:ext cx="970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Stalking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374" y="3433952"/>
            <a:ext cx="42221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330" algn="l"/>
              </a:tabLst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cyberstalker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relies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upon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anonymity </a:t>
            </a:r>
            <a:r>
              <a:rPr dirty="0" sz="1800">
                <a:latin typeface="Times New Roman"/>
                <a:cs typeface="Times New Roman"/>
              </a:rPr>
              <a:t>afforded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43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4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Internet</a:t>
            </a:r>
            <a:r>
              <a:rPr dirty="0" sz="1800" spc="45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allow</a:t>
            </a:r>
            <a:r>
              <a:rPr dirty="0" sz="1800" spc="45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them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8055" y="3982618"/>
            <a:ext cx="38811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1057910" algn="l"/>
                <a:tab pos="1679575" algn="l"/>
                <a:tab pos="2460625" algn="l"/>
                <a:tab pos="3359785" algn="l"/>
              </a:tabLst>
            </a:pPr>
            <a:r>
              <a:rPr dirty="0" sz="1800" spc="-25">
                <a:latin typeface="Times New Roman"/>
                <a:cs typeface="Times New Roman"/>
              </a:rPr>
              <a:t>to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 b="1">
                <a:latin typeface="Times New Roman"/>
                <a:cs typeface="Times New Roman"/>
              </a:rPr>
              <a:t>stalk</a:t>
            </a: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sz="1800" spc="-20">
                <a:latin typeface="Times New Roman"/>
                <a:cs typeface="Times New Roman"/>
              </a:rPr>
              <a:t>their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victim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without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being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8055" y="4260595"/>
            <a:ext cx="845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detected.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 descr="http://4.bp.blogspot.com/_0UK2c7vc80s/TNEW_UtTbMI/AAAAAAAAAPs/9hiHGtB39qM/s1600/stalking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3208" y="335279"/>
            <a:ext cx="3468624" cy="25161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0550" y="1223009"/>
            <a:ext cx="8418830" cy="19170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Definition::</a:t>
            </a:r>
            <a:endParaRPr sz="1800">
              <a:latin typeface="Times New Roman"/>
              <a:cs typeface="Times New Roman"/>
            </a:endParaRPr>
          </a:p>
          <a:p>
            <a:pPr algn="just" marL="469900" marR="4084320" indent="4572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3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3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crime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3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which</a:t>
            </a:r>
            <a:r>
              <a:rPr dirty="0" sz="1800" spc="3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3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attacker </a:t>
            </a:r>
            <a:r>
              <a:rPr dirty="0" sz="1800">
                <a:latin typeface="Times New Roman"/>
                <a:cs typeface="Times New Roman"/>
              </a:rPr>
              <a:t>harasses</a:t>
            </a:r>
            <a:r>
              <a:rPr dirty="0" sz="1800" spc="204">
                <a:latin typeface="Times New Roman"/>
                <a:cs typeface="Times New Roman"/>
              </a:rPr>
              <a:t>  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204">
                <a:latin typeface="Times New Roman"/>
                <a:cs typeface="Times New Roman"/>
              </a:rPr>
              <a:t>   </a:t>
            </a:r>
            <a:r>
              <a:rPr dirty="0" sz="1800">
                <a:latin typeface="Times New Roman"/>
                <a:cs typeface="Times New Roman"/>
              </a:rPr>
              <a:t>victim</a:t>
            </a:r>
            <a:r>
              <a:rPr dirty="0" sz="1800" spc="200">
                <a:latin typeface="Times New Roman"/>
                <a:cs typeface="Times New Roman"/>
              </a:rPr>
              <a:t>  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204">
                <a:latin typeface="Times New Roman"/>
                <a:cs typeface="Times New Roman"/>
              </a:rPr>
              <a:t>   </a:t>
            </a:r>
            <a:r>
              <a:rPr dirty="0" sz="1800" spc="-10">
                <a:latin typeface="Times New Roman"/>
                <a:cs typeface="Times New Roman"/>
              </a:rPr>
              <a:t>electronic </a:t>
            </a:r>
            <a:r>
              <a:rPr dirty="0" sz="1800">
                <a:latin typeface="Times New Roman"/>
                <a:cs typeface="Times New Roman"/>
              </a:rPr>
              <a:t>communication,</a:t>
            </a:r>
            <a:r>
              <a:rPr dirty="0" sz="1800" spc="1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such</a:t>
            </a:r>
            <a:r>
              <a:rPr dirty="0" sz="1800" spc="1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e-</a:t>
            </a:r>
            <a:r>
              <a:rPr dirty="0" sz="1800">
                <a:latin typeface="Times New Roman"/>
                <a:cs typeface="Times New Roman"/>
              </a:rPr>
              <a:t>mail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instant </a:t>
            </a:r>
            <a:r>
              <a:rPr dirty="0" sz="1800">
                <a:latin typeface="Times New Roman"/>
                <a:cs typeface="Times New Roman"/>
              </a:rPr>
              <a:t>messaging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(IM),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messages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posted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a </a:t>
            </a:r>
            <a:r>
              <a:rPr dirty="0" sz="1800">
                <a:latin typeface="Times New Roman"/>
                <a:cs typeface="Times New Roman"/>
              </a:rPr>
              <a:t>Web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site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discussion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group.</a:t>
            </a:r>
            <a:endParaRPr sz="1800">
              <a:latin typeface="Times New Roman"/>
              <a:cs typeface="Times New Roman"/>
            </a:endParaRPr>
          </a:p>
          <a:p>
            <a:pPr algn="just" marL="5185410" indent="-340995">
              <a:lnSpc>
                <a:spcPts val="1935"/>
              </a:lnSpc>
              <a:buChar char="•"/>
              <a:tabLst>
                <a:tab pos="5185410" algn="l"/>
              </a:tabLst>
            </a:pPr>
            <a:r>
              <a:rPr dirty="0" sz="1800">
                <a:latin typeface="Times New Roman"/>
                <a:cs typeface="Times New Roman"/>
              </a:rPr>
              <a:t>Cyberstalking</a:t>
            </a:r>
            <a:r>
              <a:rPr dirty="0" sz="1800" spc="275">
                <a:latin typeface="Times New Roman"/>
                <a:cs typeface="Times New Roman"/>
              </a:rPr>
              <a:t>   </a:t>
            </a:r>
            <a:r>
              <a:rPr dirty="0" sz="1800">
                <a:latin typeface="Times New Roman"/>
                <a:cs typeface="Times New Roman"/>
              </a:rPr>
              <a:t>messages</a:t>
            </a:r>
            <a:r>
              <a:rPr dirty="0" sz="1800" spc="270">
                <a:latin typeface="Times New Roman"/>
                <a:cs typeface="Times New Roman"/>
              </a:rPr>
              <a:t>   </a:t>
            </a:r>
            <a:r>
              <a:rPr dirty="0" sz="1800" spc="-10">
                <a:latin typeface="Times New Roman"/>
                <a:cs typeface="Times New Roman"/>
              </a:rPr>
              <a:t>differ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2875" y="3114801"/>
            <a:ext cx="3586479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ordinary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spam.</a:t>
            </a:r>
            <a:endParaRPr sz="1800">
              <a:latin typeface="Times New Roman"/>
              <a:cs typeface="Times New Roman"/>
            </a:endParaRPr>
          </a:p>
          <a:p>
            <a:pPr marL="353695" indent="-340995">
              <a:lnSpc>
                <a:spcPct val="100000"/>
              </a:lnSpc>
              <a:buChar char="•"/>
              <a:tabLst>
                <a:tab pos="353695" algn="l"/>
                <a:tab pos="1729105" algn="l"/>
                <a:tab pos="2552065" algn="l"/>
                <a:tab pos="2863215" algn="l"/>
              </a:tabLst>
            </a:pPr>
            <a:r>
              <a:rPr dirty="0" sz="1800" spc="-10">
                <a:latin typeface="Times New Roman"/>
                <a:cs typeface="Times New Roman"/>
              </a:rPr>
              <a:t>Cyberstalker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targets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a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specific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4251" y="3663797"/>
            <a:ext cx="218567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1375" algn="l"/>
                <a:tab pos="1490980" algn="l"/>
              </a:tabLst>
            </a:pPr>
            <a:r>
              <a:rPr dirty="0" sz="1800" spc="-10">
                <a:latin typeface="Times New Roman"/>
                <a:cs typeface="Times New Roman"/>
              </a:rPr>
              <a:t>victim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0">
                <a:latin typeface="Times New Roman"/>
                <a:cs typeface="Times New Roman"/>
              </a:rPr>
              <a:t>with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0">
                <a:latin typeface="Times New Roman"/>
                <a:cs typeface="Times New Roman"/>
              </a:rPr>
              <a:t>often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58875" algn="l"/>
                <a:tab pos="1890395" algn="l"/>
              </a:tabLst>
            </a:pPr>
            <a:r>
              <a:rPr dirty="0" sz="1800" spc="-10">
                <a:latin typeface="Times New Roman"/>
                <a:cs typeface="Times New Roman"/>
              </a:rPr>
              <a:t>messages,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while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6652" y="3663797"/>
            <a:ext cx="105346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threatening</a:t>
            </a:r>
            <a:endParaRPr sz="1800">
              <a:latin typeface="Times New Roman"/>
              <a:cs typeface="Times New Roman"/>
            </a:endParaRPr>
          </a:p>
          <a:p>
            <a:pPr algn="r" marR="635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spammer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64251" y="4212742"/>
            <a:ext cx="3248025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targets</a:t>
            </a:r>
            <a:r>
              <a:rPr dirty="0" sz="1800" spc="9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9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multitude</a:t>
            </a:r>
            <a:r>
              <a:rPr dirty="0" sz="1800" spc="9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75">
                <a:latin typeface="Times New Roman"/>
                <a:cs typeface="Times New Roman"/>
              </a:rPr>
              <a:t>  </a:t>
            </a:r>
            <a:r>
              <a:rPr dirty="0" sz="1800" spc="-10">
                <a:latin typeface="Times New Roman"/>
                <a:cs typeface="Times New Roman"/>
              </a:rPr>
              <a:t>recipients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simply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annoying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messages.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8325" y="299415"/>
            <a:ext cx="5787390" cy="3962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Types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 </a:t>
            </a:r>
            <a:r>
              <a:rPr dirty="0" sz="1800" spc="-10" b="1">
                <a:latin typeface="Times New Roman"/>
                <a:cs typeface="Times New Roman"/>
              </a:rPr>
              <a:t>Stalkers</a:t>
            </a:r>
            <a:endParaRPr sz="1800">
              <a:latin typeface="Times New Roman"/>
              <a:cs typeface="Times New Roman"/>
            </a:endParaRPr>
          </a:p>
          <a:p>
            <a:pPr marL="469265" indent="-340995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</a:tabLst>
            </a:pPr>
            <a:r>
              <a:rPr dirty="0" sz="1800">
                <a:latin typeface="Times New Roman"/>
                <a:cs typeface="Times New Roman"/>
              </a:rPr>
              <a:t>Mainly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 types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1" marL="927100" indent="-341630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800">
                <a:latin typeface="Times New Roman"/>
                <a:cs typeface="Times New Roman"/>
              </a:rPr>
              <a:t>Online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Stalkers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2" marL="1384300" indent="-341630">
              <a:lnSpc>
                <a:spcPct val="100000"/>
              </a:lnSpc>
              <a:buChar char="•"/>
              <a:tabLst>
                <a:tab pos="1384300" algn="l"/>
              </a:tabLst>
            </a:pPr>
            <a:r>
              <a:rPr dirty="0" sz="1800">
                <a:latin typeface="Times New Roman"/>
                <a:cs typeface="Times New Roman"/>
              </a:rPr>
              <a:t>Def: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Interaction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victim using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Internet.</a:t>
            </a:r>
            <a:endParaRPr sz="1800">
              <a:latin typeface="Times New Roman"/>
              <a:cs typeface="Times New Roman"/>
            </a:endParaRPr>
          </a:p>
          <a:p>
            <a:pPr lvl="2" marL="1384300" indent="-341630">
              <a:lnSpc>
                <a:spcPct val="100000"/>
              </a:lnSpc>
              <a:buChar char="•"/>
              <a:tabLst>
                <a:tab pos="1384300" algn="l"/>
              </a:tabLst>
            </a:pPr>
            <a:r>
              <a:rPr dirty="0" sz="1800">
                <a:latin typeface="Times New Roman"/>
                <a:cs typeface="Times New Roman"/>
              </a:rPr>
              <a:t>Ex: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Email,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Chat</a:t>
            </a:r>
            <a:endParaRPr sz="1800">
              <a:latin typeface="Times New Roman"/>
              <a:cs typeface="Times New Roman"/>
            </a:endParaRPr>
          </a:p>
          <a:p>
            <a:pPr lvl="1" marL="927100" indent="-341630">
              <a:lnSpc>
                <a:spcPct val="100000"/>
              </a:lnSpc>
              <a:spcBef>
                <a:spcPts val="5"/>
              </a:spcBef>
              <a:buChar char="–"/>
              <a:tabLst>
                <a:tab pos="927100" algn="l"/>
              </a:tabLst>
            </a:pPr>
            <a:r>
              <a:rPr dirty="0" sz="1800">
                <a:latin typeface="Times New Roman"/>
                <a:cs typeface="Times New Roman"/>
              </a:rPr>
              <a:t>Offline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Stalkers:</a:t>
            </a:r>
            <a:endParaRPr sz="1800">
              <a:latin typeface="Times New Roman"/>
              <a:cs typeface="Times New Roman"/>
            </a:endParaRPr>
          </a:p>
          <a:p>
            <a:pPr lvl="2" marL="1384300" indent="-341630">
              <a:lnSpc>
                <a:spcPct val="100000"/>
              </a:lnSpc>
              <a:buChar char="•"/>
              <a:tabLst>
                <a:tab pos="1384300" algn="l"/>
              </a:tabLst>
            </a:pPr>
            <a:r>
              <a:rPr dirty="0" sz="1800">
                <a:latin typeface="Times New Roman"/>
                <a:cs typeface="Times New Roman"/>
              </a:rPr>
              <a:t>Def: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Begin the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attack using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traditional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methods.</a:t>
            </a:r>
            <a:endParaRPr sz="1800">
              <a:latin typeface="Times New Roman"/>
              <a:cs typeface="Times New Roman"/>
            </a:endParaRPr>
          </a:p>
          <a:p>
            <a:pPr lvl="2" marL="1384300" indent="-328930">
              <a:lnSpc>
                <a:spcPts val="2160"/>
              </a:lnSpc>
              <a:buSzPct val="88888"/>
              <a:buChar char="•"/>
              <a:tabLst>
                <a:tab pos="1384300" algn="l"/>
              </a:tabLst>
            </a:pPr>
            <a:r>
              <a:rPr dirty="0" sz="1800">
                <a:latin typeface="Times New Roman"/>
                <a:cs typeface="Times New Roman"/>
              </a:rPr>
              <a:t>Ex: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Watching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daily, Personal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websites.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</a:pPr>
            <a:r>
              <a:rPr dirty="0" sz="1900" b="1">
                <a:latin typeface="Times New Roman"/>
                <a:cs typeface="Times New Roman"/>
              </a:rPr>
              <a:t>Other</a:t>
            </a:r>
            <a:r>
              <a:rPr dirty="0" sz="1900" spc="-20" b="1">
                <a:latin typeface="Times New Roman"/>
                <a:cs typeface="Times New Roman"/>
              </a:rPr>
              <a:t> </a:t>
            </a:r>
            <a:r>
              <a:rPr dirty="0" sz="1900" b="1">
                <a:latin typeface="Times New Roman"/>
                <a:cs typeface="Times New Roman"/>
              </a:rPr>
              <a:t>types</a:t>
            </a:r>
            <a:r>
              <a:rPr dirty="0" sz="1900" spc="-30" b="1">
                <a:latin typeface="Times New Roman"/>
                <a:cs typeface="Times New Roman"/>
              </a:rPr>
              <a:t> </a:t>
            </a:r>
            <a:r>
              <a:rPr dirty="0" sz="1900" spc="-50" b="1">
                <a:latin typeface="Times New Roman"/>
                <a:cs typeface="Times New Roman"/>
              </a:rPr>
              <a:t>:</a:t>
            </a:r>
            <a:endParaRPr sz="1900">
              <a:latin typeface="Times New Roman"/>
              <a:cs typeface="Times New Roman"/>
            </a:endParaRPr>
          </a:p>
          <a:p>
            <a:pPr marL="469265" indent="-35052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</a:tabLst>
            </a:pPr>
            <a:r>
              <a:rPr dirty="0" sz="1900">
                <a:latin typeface="Times New Roman"/>
                <a:cs typeface="Times New Roman"/>
              </a:rPr>
              <a:t>The</a:t>
            </a:r>
            <a:r>
              <a:rPr dirty="0" sz="1900" spc="-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four</a:t>
            </a:r>
            <a:r>
              <a:rPr dirty="0" sz="1900" spc="-6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most</a:t>
            </a:r>
            <a:r>
              <a:rPr dirty="0" sz="1900" spc="-5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important</a:t>
            </a:r>
            <a:r>
              <a:rPr dirty="0" sz="1900" spc="-5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types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 spc="-20">
                <a:latin typeface="Times New Roman"/>
                <a:cs typeface="Times New Roman"/>
              </a:rPr>
              <a:t>are:</a:t>
            </a:r>
            <a:endParaRPr sz="1900">
              <a:latin typeface="Times New Roman"/>
              <a:cs typeface="Times New Roman"/>
            </a:endParaRPr>
          </a:p>
          <a:p>
            <a:pPr lvl="2" marL="1384300" indent="-350520">
              <a:lnSpc>
                <a:spcPct val="100000"/>
              </a:lnSpc>
              <a:buChar char="•"/>
              <a:tabLst>
                <a:tab pos="1384300" algn="l"/>
              </a:tabLst>
            </a:pPr>
            <a:r>
              <a:rPr dirty="0" sz="1900">
                <a:latin typeface="Times New Roman"/>
                <a:cs typeface="Times New Roman"/>
              </a:rPr>
              <a:t>Rejected</a:t>
            </a:r>
            <a:r>
              <a:rPr dirty="0" sz="1900" spc="-45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Stalker</a:t>
            </a:r>
            <a:endParaRPr sz="1900">
              <a:latin typeface="Times New Roman"/>
              <a:cs typeface="Times New Roman"/>
            </a:endParaRPr>
          </a:p>
          <a:p>
            <a:pPr lvl="2" marL="1384300" indent="-350520">
              <a:lnSpc>
                <a:spcPct val="100000"/>
              </a:lnSpc>
              <a:buChar char="•"/>
              <a:tabLst>
                <a:tab pos="1384300" algn="l"/>
              </a:tabLst>
            </a:pPr>
            <a:r>
              <a:rPr dirty="0" sz="1900">
                <a:latin typeface="Times New Roman"/>
                <a:cs typeface="Times New Roman"/>
              </a:rPr>
              <a:t>Resentful</a:t>
            </a:r>
            <a:r>
              <a:rPr dirty="0" sz="1900" spc="-45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Stalker</a:t>
            </a:r>
            <a:endParaRPr sz="1900">
              <a:latin typeface="Times New Roman"/>
              <a:cs typeface="Times New Roman"/>
            </a:endParaRPr>
          </a:p>
          <a:p>
            <a:pPr lvl="2" marL="1384300" indent="-350520">
              <a:lnSpc>
                <a:spcPct val="100000"/>
              </a:lnSpc>
              <a:spcBef>
                <a:spcPts val="5"/>
              </a:spcBef>
              <a:buChar char="•"/>
              <a:tabLst>
                <a:tab pos="1384300" algn="l"/>
              </a:tabLst>
            </a:pPr>
            <a:r>
              <a:rPr dirty="0" sz="1900">
                <a:latin typeface="Times New Roman"/>
                <a:cs typeface="Times New Roman"/>
              </a:rPr>
              <a:t>Predatory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Stalker</a:t>
            </a:r>
            <a:endParaRPr sz="1900">
              <a:latin typeface="Times New Roman"/>
              <a:cs typeface="Times New Roman"/>
            </a:endParaRPr>
          </a:p>
          <a:p>
            <a:pPr lvl="2" marL="1384300" indent="-350520">
              <a:lnSpc>
                <a:spcPct val="100000"/>
              </a:lnSpc>
              <a:spcBef>
                <a:spcPts val="20"/>
              </a:spcBef>
              <a:buChar char="•"/>
              <a:tabLst>
                <a:tab pos="1384300" algn="l"/>
              </a:tabLst>
            </a:pPr>
            <a:r>
              <a:rPr dirty="0" sz="1900">
                <a:latin typeface="Times New Roman"/>
                <a:cs typeface="Times New Roman"/>
              </a:rPr>
              <a:t>Intimacy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Stalker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8325" y="299415"/>
            <a:ext cx="8609965" cy="4433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latin typeface="Times New Roman"/>
                <a:cs typeface="Times New Roman"/>
              </a:rPr>
              <a:t>Rejected</a:t>
            </a:r>
            <a:r>
              <a:rPr dirty="0" sz="1700" spc="-7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Stalker</a:t>
            </a:r>
            <a:endParaRPr sz="1700">
              <a:latin typeface="Times New Roman"/>
              <a:cs typeface="Times New Roman"/>
            </a:endParaRPr>
          </a:p>
          <a:p>
            <a:pPr marL="469265" indent="-33464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Most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common,</a:t>
            </a:r>
            <a:r>
              <a:rPr dirty="0" sz="1700" spc="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persistent,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intrusive</a:t>
            </a:r>
            <a:endParaRPr sz="1700">
              <a:latin typeface="Times New Roman"/>
              <a:cs typeface="Times New Roman"/>
            </a:endParaRPr>
          </a:p>
          <a:p>
            <a:pPr marL="469265" indent="-33464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Obsessed</a:t>
            </a:r>
            <a:r>
              <a:rPr dirty="0" sz="1700" spc="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someone</a:t>
            </a:r>
            <a:r>
              <a:rPr dirty="0" sz="1700" spc="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who</a:t>
            </a:r>
            <a:r>
              <a:rPr dirty="0" sz="1700" spc="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is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former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romantic</a:t>
            </a:r>
            <a:r>
              <a:rPr dirty="0" sz="1700" spc="6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partner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friend,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who</a:t>
            </a:r>
            <a:r>
              <a:rPr dirty="0" sz="1700" spc="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has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ended</a:t>
            </a:r>
            <a:r>
              <a:rPr dirty="0" sz="1700" spc="3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their</a:t>
            </a:r>
            <a:endParaRPr sz="17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700">
                <a:latin typeface="Times New Roman"/>
                <a:cs typeface="Times New Roman"/>
              </a:rPr>
              <a:t>relationship,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indicates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intends to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relationship.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Resentful</a:t>
            </a:r>
            <a:r>
              <a:rPr dirty="0" sz="1700" spc="-6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Stalker</a:t>
            </a:r>
            <a:endParaRPr sz="1700">
              <a:latin typeface="Times New Roman"/>
              <a:cs typeface="Times New Roman"/>
            </a:endParaRPr>
          </a:p>
          <a:p>
            <a:pPr marL="469265" indent="-33464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Looking for</a:t>
            </a:r>
            <a:r>
              <a:rPr dirty="0" sz="1700" spc="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revenge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against</a:t>
            </a:r>
            <a:r>
              <a:rPr dirty="0" sz="1700" spc="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someone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who</a:t>
            </a:r>
            <a:r>
              <a:rPr dirty="0" sz="1700" spc="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has</a:t>
            </a:r>
            <a:r>
              <a:rPr dirty="0" sz="1700" spc="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upset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them-</a:t>
            </a:r>
            <a:r>
              <a:rPr dirty="0" sz="1700">
                <a:latin typeface="Times New Roman"/>
                <a:cs typeface="Times New Roman"/>
              </a:rPr>
              <a:t>-it</a:t>
            </a:r>
            <a:r>
              <a:rPr dirty="0" sz="1700" spc="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could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someone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known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the</a:t>
            </a:r>
            <a:endParaRPr sz="17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700">
                <a:latin typeface="Times New Roman"/>
                <a:cs typeface="Times New Roman"/>
              </a:rPr>
              <a:t>stalker</a:t>
            </a:r>
            <a:r>
              <a:rPr dirty="0" sz="1700" spc="-6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complete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stranger.</a:t>
            </a:r>
            <a:endParaRPr sz="1700">
              <a:latin typeface="Times New Roman"/>
              <a:cs typeface="Times New Roman"/>
            </a:endParaRPr>
          </a:p>
          <a:p>
            <a:pPr marL="591185">
              <a:lnSpc>
                <a:spcPct val="100000"/>
              </a:lnSpc>
              <a:spcBef>
                <a:spcPts val="5"/>
              </a:spcBef>
              <a:tabLst>
                <a:tab pos="927100" algn="l"/>
              </a:tabLst>
            </a:pPr>
            <a:r>
              <a:rPr dirty="0" sz="1700">
                <a:latin typeface="Times New Roman"/>
                <a:cs typeface="Times New Roman"/>
              </a:rPr>
              <a:t>–	Their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behaviors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are</a:t>
            </a:r>
            <a:r>
              <a:rPr dirty="0" sz="1700" spc="-7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meant</a:t>
            </a:r>
            <a:r>
              <a:rPr dirty="0" sz="1700" spc="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frighten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distress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victim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Predatory</a:t>
            </a:r>
            <a:r>
              <a:rPr dirty="0" sz="1700" spc="-7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Stalker</a:t>
            </a:r>
            <a:endParaRPr sz="1700">
              <a:latin typeface="Times New Roman"/>
              <a:cs typeface="Times New Roman"/>
            </a:endParaRPr>
          </a:p>
          <a:p>
            <a:pPr marL="469265" indent="-33464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Least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common</a:t>
            </a:r>
            <a:endParaRPr sz="1700">
              <a:latin typeface="Times New Roman"/>
              <a:cs typeface="Times New Roman"/>
            </a:endParaRPr>
          </a:p>
          <a:p>
            <a:pPr marL="469265" indent="-33464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Are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classic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sexual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predator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whose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plan</a:t>
            </a:r>
            <a:r>
              <a:rPr dirty="0" sz="1700" spc="-6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physically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sexually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attack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victim.</a:t>
            </a:r>
            <a:endParaRPr sz="1700">
              <a:latin typeface="Times New Roman"/>
              <a:cs typeface="Times New Roman"/>
            </a:endParaRPr>
          </a:p>
          <a:p>
            <a:pPr marL="469265" indent="-334645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Their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motivated</a:t>
            </a:r>
            <a:r>
              <a:rPr dirty="0" sz="1700" spc="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purely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by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desire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sexual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gratification</a:t>
            </a:r>
            <a:r>
              <a:rPr dirty="0" sz="1700" spc="-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power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over</a:t>
            </a:r>
            <a:r>
              <a:rPr dirty="0" sz="1700" spc="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their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victim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Intimacy</a:t>
            </a:r>
            <a:r>
              <a:rPr dirty="0" sz="1700" spc="-6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Stalker</a:t>
            </a:r>
            <a:endParaRPr sz="1700">
              <a:latin typeface="Times New Roman"/>
              <a:cs typeface="Times New Roman"/>
            </a:endParaRPr>
          </a:p>
          <a:p>
            <a:pPr marL="469265" indent="-334645">
              <a:lnSpc>
                <a:spcPct val="100000"/>
              </a:lnSpc>
              <a:buChar char="▪"/>
              <a:tabLst>
                <a:tab pos="469265" algn="l"/>
              </a:tabLst>
            </a:pPr>
            <a:r>
              <a:rPr dirty="0" sz="1700">
                <a:latin typeface="Times New Roman"/>
                <a:cs typeface="Times New Roman"/>
              </a:rPr>
              <a:t>They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seeks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establish</a:t>
            </a:r>
            <a:r>
              <a:rPr dirty="0" sz="1700" spc="-8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intimate,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loving</a:t>
            </a:r>
            <a:r>
              <a:rPr dirty="0" sz="1700" spc="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relationship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their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victim.</a:t>
            </a:r>
            <a:endParaRPr sz="1700">
              <a:latin typeface="Times New Roman"/>
              <a:cs typeface="Times New Roman"/>
            </a:endParaRPr>
          </a:p>
          <a:p>
            <a:pPr marL="591185">
              <a:lnSpc>
                <a:spcPct val="100000"/>
              </a:lnSpc>
              <a:tabLst>
                <a:tab pos="927100" algn="l"/>
              </a:tabLst>
            </a:pPr>
            <a:r>
              <a:rPr dirty="0" sz="1700" spc="-50">
                <a:latin typeface="Cambria Math"/>
                <a:cs typeface="Cambria Math"/>
              </a:rPr>
              <a:t>⦁</a:t>
            </a:r>
            <a:r>
              <a:rPr dirty="0" sz="1700">
                <a:latin typeface="Cambria Math"/>
                <a:cs typeface="Cambria Math"/>
              </a:rPr>
              <a:t>	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victim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himself</a:t>
            </a:r>
            <a:r>
              <a:rPr dirty="0" sz="1700" spc="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were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“meant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be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together.”</a:t>
            </a:r>
            <a:endParaRPr sz="1700">
              <a:latin typeface="Times New Roman"/>
              <a:cs typeface="Times New Roman"/>
            </a:endParaRPr>
          </a:p>
          <a:p>
            <a:pPr marL="469900" marR="5080" indent="-335280">
              <a:lnSpc>
                <a:spcPct val="100000"/>
              </a:lnSpc>
              <a:spcBef>
                <a:spcPts val="5"/>
              </a:spcBef>
              <a:buChar char="▪"/>
              <a:tabLst>
                <a:tab pos="469900" algn="l"/>
              </a:tabLst>
            </a:pPr>
            <a:r>
              <a:rPr dirty="0" sz="1700">
                <a:latin typeface="Times New Roman"/>
                <a:cs typeface="Times New Roman"/>
              </a:rPr>
              <a:t>These</a:t>
            </a:r>
            <a:r>
              <a:rPr dirty="0" sz="1700" spc="114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types</a:t>
            </a:r>
            <a:r>
              <a:rPr dirty="0" sz="1700" spc="1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1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people</a:t>
            </a:r>
            <a:r>
              <a:rPr dirty="0" sz="1700" spc="1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think</a:t>
            </a:r>
            <a:r>
              <a:rPr dirty="0" sz="1700" spc="114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that</a:t>
            </a:r>
            <a:r>
              <a:rPr dirty="0" sz="1700" spc="114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1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victim</a:t>
            </a:r>
            <a:r>
              <a:rPr dirty="0" sz="1700" spc="1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owes</a:t>
            </a:r>
            <a:r>
              <a:rPr dirty="0" sz="1700" spc="1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them</a:t>
            </a:r>
            <a:r>
              <a:rPr dirty="0" sz="1700" spc="10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love</a:t>
            </a:r>
            <a:r>
              <a:rPr dirty="0" sz="1700" spc="1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1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affection</a:t>
            </a:r>
            <a:r>
              <a:rPr dirty="0" sz="1700" spc="1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because</a:t>
            </a:r>
            <a:r>
              <a:rPr dirty="0" sz="1700" spc="1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114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all</a:t>
            </a:r>
            <a:r>
              <a:rPr dirty="0" sz="1700" spc="13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the </a:t>
            </a:r>
            <a:r>
              <a:rPr dirty="0" sz="1700">
                <a:latin typeface="Times New Roman"/>
                <a:cs typeface="Times New Roman"/>
              </a:rPr>
              <a:t>time</a:t>
            </a:r>
            <a:r>
              <a:rPr dirty="0" sz="1700" spc="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effort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took</a:t>
            </a:r>
            <a:r>
              <a:rPr dirty="0" sz="1700" spc="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stalker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stalk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them.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8325" y="299415"/>
            <a:ext cx="8609965" cy="14909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0" b="1">
                <a:latin typeface="Times New Roman"/>
                <a:cs typeface="Times New Roman"/>
              </a:rPr>
              <a:t>Analysis…</a:t>
            </a:r>
            <a:endParaRPr sz="1600">
              <a:latin typeface="Times New Roman"/>
              <a:cs typeface="Times New Roman"/>
            </a:endParaRPr>
          </a:p>
          <a:p>
            <a:pPr marL="469265" indent="-328930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majority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cyberstalkers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majority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their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victims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women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but…..</a:t>
            </a:r>
            <a:endParaRPr sz="1600">
              <a:latin typeface="Times New Roman"/>
              <a:cs typeface="Times New Roman"/>
            </a:endParaRPr>
          </a:p>
          <a:p>
            <a:pPr marL="469900" marR="6350" indent="-329565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dirty="0" sz="1600">
                <a:latin typeface="Times New Roman"/>
                <a:cs typeface="Times New Roman"/>
              </a:rPr>
              <a:t>Jane</a:t>
            </a:r>
            <a:r>
              <a:rPr dirty="0" sz="1600" spc="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A.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Hitchcock,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president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WHOA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says,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“The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most</a:t>
            </a:r>
            <a:r>
              <a:rPr dirty="0" sz="1600" spc="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surprising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thing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we've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seen</a:t>
            </a:r>
            <a:r>
              <a:rPr dirty="0" sz="1600" spc="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rise</a:t>
            </a:r>
            <a:r>
              <a:rPr dirty="0" sz="1600" spc="6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in </a:t>
            </a:r>
            <a:r>
              <a:rPr dirty="0" sz="1600">
                <a:latin typeface="Times New Roman"/>
                <a:cs typeface="Times New Roman"/>
              </a:rPr>
              <a:t>female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cyberstalkers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-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increased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27%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2000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35%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2002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38%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2003.”</a:t>
            </a:r>
            <a:endParaRPr sz="1600">
              <a:latin typeface="Times New Roman"/>
              <a:cs typeface="Times New Roman"/>
            </a:endParaRPr>
          </a:p>
          <a:p>
            <a:pPr marL="469265" indent="-32893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</a:tabLst>
            </a:pPr>
            <a:r>
              <a:rPr dirty="0" sz="1600">
                <a:latin typeface="Times New Roman"/>
                <a:cs typeface="Times New Roman"/>
              </a:rPr>
              <a:t>According</a:t>
            </a:r>
            <a:r>
              <a:rPr dirty="0" sz="1600" spc="2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Working</a:t>
            </a:r>
            <a:r>
              <a:rPr dirty="0" sz="1600" spc="2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2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Halt</a:t>
            </a:r>
            <a:r>
              <a:rPr dirty="0" sz="1600" spc="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Online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Abuse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(WHOA)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2000</a:t>
            </a:r>
            <a:r>
              <a:rPr dirty="0" sz="1600" spc="2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2006,</a:t>
            </a:r>
            <a:r>
              <a:rPr dirty="0" sz="1600" spc="229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out</a:t>
            </a:r>
            <a:r>
              <a:rPr dirty="0" sz="1600" spc="2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2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21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total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cases,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2036,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cyberstalking….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" name="object 3" descr="untitled2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9479" y="1575815"/>
            <a:ext cx="4562856" cy="33345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028" y="868679"/>
            <a:ext cx="5577687" cy="39730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520" y="142697"/>
            <a:ext cx="8609330" cy="4831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100" b="1">
                <a:latin typeface="Times New Roman"/>
                <a:cs typeface="Times New Roman"/>
              </a:rPr>
              <a:t>How</a:t>
            </a:r>
            <a:r>
              <a:rPr dirty="0" sz="2100" spc="-6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stalking</a:t>
            </a:r>
            <a:r>
              <a:rPr dirty="0" sz="2100" spc="-25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works?</a:t>
            </a:r>
            <a:endParaRPr sz="2100">
              <a:latin typeface="Times New Roman"/>
              <a:cs typeface="Times New Roman"/>
            </a:endParaRPr>
          </a:p>
          <a:p>
            <a:pPr marL="469265" indent="-36258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following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way</a:t>
            </a:r>
            <a:endParaRPr sz="2100">
              <a:latin typeface="Times New Roman"/>
              <a:cs typeface="Times New Roman"/>
            </a:endParaRPr>
          </a:p>
          <a:p>
            <a:pPr algn="r" lvl="1" marL="361950" marR="2487295" indent="-3619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61950" algn="l"/>
              </a:tabLst>
            </a:pPr>
            <a:r>
              <a:rPr dirty="0" sz="2100">
                <a:latin typeface="Times New Roman"/>
                <a:cs typeface="Times New Roman"/>
              </a:rPr>
              <a:t>Personal</a:t>
            </a:r>
            <a:r>
              <a:rPr dirty="0" sz="2100" spc="-9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information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gathering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about</a:t>
            </a:r>
            <a:r>
              <a:rPr dirty="0" sz="2100" spc="-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victim.</a:t>
            </a:r>
            <a:endParaRPr sz="2100">
              <a:latin typeface="Times New Roman"/>
              <a:cs typeface="Times New Roman"/>
            </a:endParaRPr>
          </a:p>
          <a:p>
            <a:pPr algn="r" lvl="2" marL="362585" marR="2444115" indent="-362585">
              <a:lnSpc>
                <a:spcPct val="100000"/>
              </a:lnSpc>
              <a:buChar char="•"/>
              <a:tabLst>
                <a:tab pos="362585" algn="l"/>
              </a:tabLst>
            </a:pPr>
            <a:r>
              <a:rPr dirty="0" sz="2100">
                <a:latin typeface="Times New Roman"/>
                <a:cs typeface="Times New Roman"/>
              </a:rPr>
              <a:t>Ex: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Name,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background,</a:t>
            </a:r>
            <a:r>
              <a:rPr dirty="0" sz="2100" spc="-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contact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number,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etc.</a:t>
            </a:r>
            <a:endParaRPr sz="2100">
              <a:latin typeface="Times New Roman"/>
              <a:cs typeface="Times New Roman"/>
            </a:endParaRPr>
          </a:p>
          <a:p>
            <a:pPr lvl="1" marL="926465" indent="-361950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dirty="0" sz="2100">
                <a:latin typeface="Times New Roman"/>
                <a:cs typeface="Times New Roman"/>
              </a:rPr>
              <a:t>Establish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contact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with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victim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through</a:t>
            </a:r>
            <a:r>
              <a:rPr dirty="0" sz="2100" spc="-7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phone.</a:t>
            </a:r>
            <a:endParaRPr sz="2100">
              <a:latin typeface="Times New Roman"/>
              <a:cs typeface="Times New Roman"/>
            </a:endParaRPr>
          </a:p>
          <a:p>
            <a:pPr lvl="1" marL="925830" marR="5080" indent="-36195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2100">
                <a:latin typeface="Times New Roman"/>
                <a:cs typeface="Times New Roman"/>
              </a:rPr>
              <a:t>Stalkers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will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almost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always establish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contact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with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victims</a:t>
            </a:r>
            <a:r>
              <a:rPr dirty="0" sz="2100" spc="-10">
                <a:latin typeface="Times New Roman"/>
                <a:cs typeface="Times New Roman"/>
              </a:rPr>
              <a:t> through 	EMail.</a:t>
            </a:r>
            <a:endParaRPr sz="2100">
              <a:latin typeface="Times New Roman"/>
              <a:cs typeface="Times New Roman"/>
            </a:endParaRPr>
          </a:p>
          <a:p>
            <a:pPr lvl="1" marL="926465" indent="-3619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26465" algn="l"/>
              </a:tabLst>
            </a:pPr>
            <a:r>
              <a:rPr dirty="0" sz="2100">
                <a:latin typeface="Times New Roman"/>
                <a:cs typeface="Times New Roman"/>
              </a:rPr>
              <a:t>Some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stalkers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keep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on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sending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repeated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15">
                <a:latin typeface="Times New Roman"/>
                <a:cs typeface="Times New Roman"/>
              </a:rPr>
              <a:t>E-</a:t>
            </a:r>
            <a:r>
              <a:rPr dirty="0" sz="2100" spc="-10">
                <a:latin typeface="Times New Roman"/>
                <a:cs typeface="Times New Roman"/>
              </a:rPr>
              <a:t>mail.</a:t>
            </a:r>
            <a:endParaRPr sz="2100">
              <a:latin typeface="Times New Roman"/>
              <a:cs typeface="Times New Roman"/>
            </a:endParaRPr>
          </a:p>
          <a:p>
            <a:pPr lvl="1" marL="926465" indent="-361950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dirty="0" sz="2100">
                <a:latin typeface="Times New Roman"/>
                <a:cs typeface="Times New Roman"/>
              </a:rPr>
              <a:t>Post</a:t>
            </a:r>
            <a:r>
              <a:rPr dirty="0" sz="2100" spc="-1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victims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personal</a:t>
            </a:r>
            <a:r>
              <a:rPr dirty="0" sz="2100" spc="-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information on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any</a:t>
            </a:r>
            <a:r>
              <a:rPr dirty="0" sz="2100" spc="-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illicit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services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website</a:t>
            </a:r>
            <a:endParaRPr sz="2100">
              <a:latin typeface="Times New Roman"/>
              <a:cs typeface="Times New Roman"/>
            </a:endParaRPr>
          </a:p>
          <a:p>
            <a:pPr lvl="1" marL="925830" marR="5080" indent="-3619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27100" algn="l"/>
              </a:tabLst>
            </a:pPr>
            <a:r>
              <a:rPr dirty="0" sz="2100">
                <a:latin typeface="Times New Roman"/>
                <a:cs typeface="Times New Roman"/>
              </a:rPr>
              <a:t>Who</a:t>
            </a:r>
            <a:r>
              <a:rPr dirty="0" sz="2100" spc="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were</a:t>
            </a:r>
            <a:r>
              <a:rPr dirty="0" sz="2100" spc="9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received</a:t>
            </a:r>
            <a:r>
              <a:rPr dirty="0" sz="2100" spc="9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information</a:t>
            </a:r>
            <a:r>
              <a:rPr dirty="0" sz="2100" spc="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,</a:t>
            </a:r>
            <a:r>
              <a:rPr dirty="0" sz="2100" spc="9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start</a:t>
            </a:r>
            <a:r>
              <a:rPr dirty="0" sz="2100" spc="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calling</a:t>
            </a:r>
            <a:r>
              <a:rPr dirty="0" sz="2100" spc="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9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victims</a:t>
            </a:r>
            <a:r>
              <a:rPr dirty="0" sz="2100" spc="9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on</a:t>
            </a:r>
            <a:r>
              <a:rPr dirty="0" sz="2100" spc="9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9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given </a:t>
            </a:r>
            <a:r>
              <a:rPr dirty="0" sz="2100" spc="-10">
                <a:latin typeface="Times New Roman"/>
                <a:cs typeface="Times New Roman"/>
              </a:rPr>
              <a:t>	</a:t>
            </a:r>
            <a:r>
              <a:rPr dirty="0" sz="2100">
                <a:latin typeface="Times New Roman"/>
                <a:cs typeface="Times New Roman"/>
              </a:rPr>
              <a:t>contact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details.</a:t>
            </a:r>
            <a:endParaRPr sz="2100">
              <a:latin typeface="Times New Roman"/>
              <a:cs typeface="Times New Roman"/>
            </a:endParaRPr>
          </a:p>
          <a:p>
            <a:pPr lvl="1" marL="926465" indent="-361950">
              <a:lnSpc>
                <a:spcPct val="100000"/>
              </a:lnSpc>
              <a:buAutoNum type="arabicPeriod"/>
              <a:tabLst>
                <a:tab pos="926465" algn="l"/>
                <a:tab pos="1985010" algn="l"/>
                <a:tab pos="4070350" algn="l"/>
                <a:tab pos="4594860" algn="l"/>
                <a:tab pos="5521960" algn="l"/>
                <a:tab pos="6552565" algn="l"/>
                <a:tab pos="6976109" algn="l"/>
                <a:tab pos="7500620" algn="l"/>
                <a:tab pos="8385175" algn="l"/>
              </a:tabLst>
            </a:pPr>
            <a:r>
              <a:rPr dirty="0" sz="2100" spc="-10">
                <a:latin typeface="Times New Roman"/>
                <a:cs typeface="Times New Roman"/>
              </a:rPr>
              <a:t>Stalkers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100" spc="-10">
                <a:latin typeface="Times New Roman"/>
                <a:cs typeface="Times New Roman"/>
              </a:rPr>
              <a:t>subscribe/register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100" spc="-25">
                <a:latin typeface="Times New Roman"/>
                <a:cs typeface="Times New Roman"/>
              </a:rPr>
              <a:t>the</a:t>
            </a:r>
            <a:r>
              <a:rPr dirty="0" sz="2100">
                <a:latin typeface="Times New Roman"/>
                <a:cs typeface="Times New Roman"/>
              </a:rPr>
              <a:t>	E-</a:t>
            </a:r>
            <a:r>
              <a:rPr dirty="0" sz="2100" spc="-20">
                <a:latin typeface="Times New Roman"/>
                <a:cs typeface="Times New Roman"/>
              </a:rPr>
              <a:t>mail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100" spc="-10">
                <a:latin typeface="Times New Roman"/>
                <a:cs typeface="Times New Roman"/>
              </a:rPr>
              <a:t>account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100" spc="-25">
                <a:latin typeface="Times New Roman"/>
                <a:cs typeface="Times New Roman"/>
              </a:rPr>
              <a:t>of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100" spc="-25">
                <a:latin typeface="Times New Roman"/>
                <a:cs typeface="Times New Roman"/>
              </a:rPr>
              <a:t>the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100" spc="-10">
                <a:latin typeface="Times New Roman"/>
                <a:cs typeface="Times New Roman"/>
              </a:rPr>
              <a:t>victim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100" spc="-25">
                <a:latin typeface="Times New Roman"/>
                <a:cs typeface="Times New Roman"/>
              </a:rPr>
              <a:t>to</a:t>
            </a:r>
            <a:endParaRPr sz="21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dirty="0" sz="2100">
                <a:latin typeface="Times New Roman"/>
                <a:cs typeface="Times New Roman"/>
              </a:rPr>
              <a:t>pornographic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websites.</a:t>
            </a:r>
            <a:endParaRPr sz="2100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</a:pPr>
            <a:r>
              <a:rPr dirty="0" sz="2100">
                <a:latin typeface="Times New Roman"/>
                <a:cs typeface="Times New Roman"/>
              </a:rPr>
              <a:t>1.</a:t>
            </a:r>
            <a:r>
              <a:rPr dirty="0" sz="2100" spc="8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Real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Life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Incident:</a:t>
            </a:r>
            <a:endParaRPr sz="2100">
              <a:latin typeface="Times New Roman"/>
              <a:cs typeface="Times New Roman"/>
            </a:endParaRPr>
          </a:p>
          <a:p>
            <a:pPr marL="564515">
              <a:lnSpc>
                <a:spcPct val="100000"/>
              </a:lnSpc>
              <a:spcBef>
                <a:spcPts val="5"/>
              </a:spcBef>
              <a:tabLst>
                <a:tab pos="927100" algn="l"/>
              </a:tabLst>
            </a:pPr>
            <a:r>
              <a:rPr dirty="0" sz="2100">
                <a:latin typeface="Times New Roman"/>
                <a:cs typeface="Times New Roman"/>
              </a:rPr>
              <a:t>–	Case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study: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 Delhi,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40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calls</a:t>
            </a:r>
            <a:r>
              <a:rPr dirty="0" sz="2100" spc="4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3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days.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 b="1">
                <a:latin typeface="Calibri"/>
                <a:cs typeface="Calibri"/>
              </a:rPr>
              <a:t>Cybercafe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Cybercrimes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550" y="1181303"/>
            <a:ext cx="8366125" cy="2587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7815" marR="5080" indent="-285750">
              <a:lnSpc>
                <a:spcPct val="150100"/>
              </a:lnSpc>
              <a:spcBef>
                <a:spcPts val="95"/>
              </a:spcBef>
              <a:buFont typeface="Segoe UI Symbol"/>
              <a:buChar char="⮚"/>
              <a:tabLst>
                <a:tab pos="299085" algn="l"/>
              </a:tabLst>
            </a:pPr>
            <a:r>
              <a:rPr dirty="0" sz="1600">
                <a:latin typeface="Calibri"/>
                <a:cs typeface="Calibri"/>
              </a:rPr>
              <a:t>Cybercrimes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such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stealing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bank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passwords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subsequent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fraudulent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withdrawal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money </a:t>
            </a:r>
            <a:r>
              <a:rPr dirty="0" sz="1600" spc="-1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have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also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happened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through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cybercafes.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960"/>
              </a:spcBef>
              <a:buFont typeface="Segoe UI Symbol"/>
              <a:buChar char="⮚"/>
              <a:tabLst>
                <a:tab pos="298450" algn="l"/>
              </a:tabLst>
            </a:pPr>
            <a:r>
              <a:rPr dirty="0" sz="1600">
                <a:latin typeface="Calibri"/>
                <a:cs typeface="Calibri"/>
              </a:rPr>
              <a:t>Cybercafes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have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also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been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regularly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sending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obscene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mails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harass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people.</a:t>
            </a:r>
            <a:endParaRPr sz="1600">
              <a:latin typeface="Calibri"/>
              <a:cs typeface="Calibri"/>
            </a:endParaRPr>
          </a:p>
          <a:p>
            <a:pPr algn="just" marL="297815" marR="5080" indent="-285750">
              <a:lnSpc>
                <a:spcPct val="150100"/>
              </a:lnSpc>
              <a:buFont typeface="Segoe UI Symbol"/>
              <a:buChar char="⮚"/>
              <a:tabLst>
                <a:tab pos="299085" algn="l"/>
              </a:tabLst>
            </a:pPr>
            <a:r>
              <a:rPr dirty="0" sz="1600">
                <a:latin typeface="Calibri"/>
                <a:cs typeface="Calibri"/>
              </a:rPr>
              <a:t>Indian</a:t>
            </a:r>
            <a:r>
              <a:rPr dirty="0" sz="1600" spc="120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Information</a:t>
            </a:r>
            <a:r>
              <a:rPr dirty="0" sz="1600" spc="125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Technology</a:t>
            </a:r>
            <a:r>
              <a:rPr dirty="0" sz="1600" spc="114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Act</a:t>
            </a:r>
            <a:r>
              <a:rPr dirty="0" sz="1600" spc="130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(ITA)</a:t>
            </a:r>
            <a:r>
              <a:rPr dirty="0" sz="1600" spc="125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2000</a:t>
            </a:r>
            <a:r>
              <a:rPr dirty="0" sz="1600" spc="125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interprets</a:t>
            </a:r>
            <a:r>
              <a:rPr dirty="0" sz="1600" spc="135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cybercafes</a:t>
            </a:r>
            <a:r>
              <a:rPr dirty="0" sz="1600" spc="135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125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“network</a:t>
            </a:r>
            <a:r>
              <a:rPr dirty="0" sz="1600" spc="130">
                <a:latin typeface="Calibri"/>
                <a:cs typeface="Calibri"/>
              </a:rPr>
              <a:t>  </a:t>
            </a:r>
            <a:r>
              <a:rPr dirty="0" sz="1600" spc="-10">
                <a:latin typeface="Calibri"/>
                <a:cs typeface="Calibri"/>
              </a:rPr>
              <a:t>service </a:t>
            </a:r>
            <a:r>
              <a:rPr dirty="0" sz="1600" spc="-1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providers”</a:t>
            </a:r>
            <a:r>
              <a:rPr dirty="0" sz="1600" spc="1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referred</a:t>
            </a:r>
            <a:r>
              <a:rPr dirty="0" sz="1600" spc="1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1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under</a:t>
            </a:r>
            <a:r>
              <a:rPr dirty="0" sz="1600" spc="1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erstwhile</a:t>
            </a:r>
            <a:r>
              <a:rPr dirty="0" sz="1600" spc="1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Section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79,</a:t>
            </a:r>
            <a:r>
              <a:rPr dirty="0" sz="1600" spc="1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which</a:t>
            </a:r>
            <a:r>
              <a:rPr dirty="0" sz="1600" spc="1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imposed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them</a:t>
            </a:r>
            <a:r>
              <a:rPr dirty="0" sz="1600" spc="1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responsibility </a:t>
            </a:r>
            <a:r>
              <a:rPr dirty="0" sz="1600" spc="-1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39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“due</a:t>
            </a:r>
            <a:r>
              <a:rPr dirty="0" sz="1600" spc="39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diligence”</a:t>
            </a:r>
            <a:r>
              <a:rPr dirty="0" sz="1600" spc="40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failing</a:t>
            </a:r>
            <a:r>
              <a:rPr dirty="0" sz="1600" spc="4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which</a:t>
            </a:r>
            <a:r>
              <a:rPr dirty="0" sz="1600" spc="4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they</a:t>
            </a:r>
            <a:r>
              <a:rPr dirty="0" sz="1600" spc="39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would</a:t>
            </a:r>
            <a:r>
              <a:rPr dirty="0" sz="1600" spc="39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39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liable</a:t>
            </a:r>
            <a:r>
              <a:rPr dirty="0" sz="1600" spc="39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39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39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offenses</a:t>
            </a:r>
            <a:r>
              <a:rPr dirty="0" sz="1600" spc="40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committed</a:t>
            </a:r>
            <a:r>
              <a:rPr dirty="0" sz="1600" spc="4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39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their 	network.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491" y="165435"/>
            <a:ext cx="7265579" cy="46930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13" y="616487"/>
            <a:ext cx="8686046" cy="43334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9163" y="1127251"/>
            <a:ext cx="7480934" cy="2710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latin typeface="Calibri"/>
                <a:cs typeface="Calibri"/>
              </a:rPr>
              <a:t>Cybercriminals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either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install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malicious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programs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such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keyloggers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and/or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Spyware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or </a:t>
            </a:r>
            <a:r>
              <a:rPr dirty="0" sz="1600">
                <a:latin typeface="Calibri"/>
                <a:cs typeface="Calibri"/>
              </a:rPr>
              <a:t>launch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attack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target.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600">
                <a:latin typeface="Calibri"/>
                <a:cs typeface="Calibri"/>
              </a:rPr>
              <a:t>Here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few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tips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safety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security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while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using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cybercafe:</a:t>
            </a:r>
            <a:endParaRPr sz="16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buAutoNum type="arabicPeriod"/>
              <a:tabLst>
                <a:tab pos="697865" algn="l"/>
              </a:tabLst>
            </a:pPr>
            <a:r>
              <a:rPr dirty="0" sz="1600">
                <a:latin typeface="Calibri"/>
                <a:cs typeface="Calibri"/>
              </a:rPr>
              <a:t>Always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logout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buAutoNum type="arabicPeriod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Stay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computer</a:t>
            </a:r>
            <a:endParaRPr sz="16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buAutoNum type="arabicPeriod"/>
              <a:tabLst>
                <a:tab pos="697865" algn="l"/>
              </a:tabLst>
            </a:pPr>
            <a:r>
              <a:rPr dirty="0" sz="1600">
                <a:latin typeface="Calibri"/>
                <a:cs typeface="Calibri"/>
              </a:rPr>
              <a:t>Clear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history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temporary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files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buAutoNum type="arabicPeriod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alert</a:t>
            </a:r>
            <a:endParaRPr sz="160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buAutoNum type="arabicPeriod"/>
              <a:tabLst>
                <a:tab pos="697865" algn="l"/>
              </a:tabLst>
            </a:pPr>
            <a:r>
              <a:rPr dirty="0" sz="1600">
                <a:latin typeface="Calibri"/>
                <a:cs typeface="Calibri"/>
              </a:rPr>
              <a:t>Avoid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online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financial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transactions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Change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passwords</a:t>
            </a:r>
            <a:endParaRPr sz="1600">
              <a:latin typeface="Calibri"/>
              <a:cs typeface="Calibri"/>
            </a:endParaRPr>
          </a:p>
          <a:p>
            <a:pPr marL="697865" indent="-227965">
              <a:lnSpc>
                <a:spcPts val="1910"/>
              </a:lnSpc>
              <a:buAutoNum type="arabicPeriod"/>
              <a:tabLst>
                <a:tab pos="697865" algn="l"/>
              </a:tabLst>
            </a:pPr>
            <a:r>
              <a:rPr dirty="0" sz="1600">
                <a:latin typeface="Calibri"/>
                <a:cs typeface="Calibri"/>
              </a:rPr>
              <a:t>Virtual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keyboard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ts val="1910"/>
              </a:lnSpc>
              <a:buAutoNum type="arabicPeriod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Security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warnings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9163" y="544525"/>
            <a:ext cx="5753735" cy="11036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Microsoft Sans Serif"/>
                <a:cs typeface="Microsoft Sans Serif"/>
              </a:rPr>
              <a:t>Beyond</a:t>
            </a:r>
            <a:r>
              <a:rPr dirty="0" sz="4800" spc="-55">
                <a:latin typeface="Microsoft Sans Serif"/>
                <a:cs typeface="Microsoft Sans Serif"/>
              </a:rPr>
              <a:t> </a:t>
            </a:r>
            <a:r>
              <a:rPr dirty="0" sz="4800">
                <a:latin typeface="Microsoft Sans Serif"/>
                <a:cs typeface="Microsoft Sans Serif"/>
              </a:rPr>
              <a:t>the</a:t>
            </a:r>
            <a:r>
              <a:rPr dirty="0" sz="4800" spc="-80">
                <a:latin typeface="Microsoft Sans Serif"/>
                <a:cs typeface="Microsoft Sans Serif"/>
              </a:rPr>
              <a:t> </a:t>
            </a:r>
            <a:r>
              <a:rPr dirty="0" sz="4800" spc="-10">
                <a:latin typeface="Microsoft Sans Serif"/>
                <a:cs typeface="Microsoft Sans Serif"/>
              </a:rPr>
              <a:t>Syllabus:</a:t>
            </a:r>
            <a:endParaRPr sz="4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2200">
                <a:latin typeface="Microsoft Sans Serif"/>
                <a:cs typeface="Microsoft Sans Serif"/>
              </a:rPr>
              <a:t>Awareness</a:t>
            </a:r>
            <a:r>
              <a:rPr dirty="0" sz="2200" spc="-20">
                <a:latin typeface="Microsoft Sans Serif"/>
                <a:cs typeface="Microsoft Sans Serif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Theory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6976" y="1463039"/>
            <a:ext cx="5041391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10 Common</a:t>
            </a:r>
            <a:r>
              <a:rPr dirty="0" spc="-2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Tricks</a:t>
            </a:r>
            <a:r>
              <a:rPr dirty="0" spc="-5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Used by </a:t>
            </a:r>
            <a:r>
              <a:rPr dirty="0" spc="-10">
                <a:latin typeface="Microsoft Sans Serif"/>
                <a:cs typeface="Microsoft Sans Serif"/>
              </a:rPr>
              <a:t>Scammers: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19962"/>
            <a:ext cx="8251190" cy="300545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354330" marR="173990" indent="-342265">
              <a:lnSpc>
                <a:spcPct val="104800"/>
              </a:lnSpc>
              <a:spcBef>
                <a:spcPts val="5"/>
              </a:spcBef>
              <a:buSzPct val="105882"/>
              <a:buChar char="●"/>
              <a:tabLst>
                <a:tab pos="354330" algn="l"/>
              </a:tabLst>
            </a:pP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Beware</a:t>
            </a:r>
            <a:r>
              <a:rPr dirty="0" sz="17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Stay</a:t>
            </a:r>
            <a:r>
              <a:rPr dirty="0" sz="17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Safe:Scammers</a:t>
            </a:r>
            <a:r>
              <a:rPr dirty="0" sz="17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target</a:t>
            </a:r>
            <a:r>
              <a:rPr dirty="0" sz="17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people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all</a:t>
            </a:r>
            <a:r>
              <a:rPr dirty="0" sz="17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ages,</a:t>
            </a:r>
            <a:r>
              <a:rPr dirty="0" sz="17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but</a:t>
            </a:r>
            <a:r>
              <a:rPr dirty="0" sz="17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middle-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aged</a:t>
            </a:r>
            <a:r>
              <a:rPr dirty="0" sz="17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585858"/>
                </a:solidFill>
                <a:latin typeface="Microsoft Sans Serif"/>
                <a:cs typeface="Microsoft Sans Serif"/>
              </a:rPr>
              <a:t>and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elderly</a:t>
            </a:r>
            <a:r>
              <a:rPr dirty="0" sz="17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individuals</a:t>
            </a:r>
            <a:r>
              <a:rPr dirty="0" sz="17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are</a:t>
            </a:r>
            <a:r>
              <a:rPr dirty="0" sz="1700" spc="-6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particularly</a:t>
            </a:r>
            <a:r>
              <a:rPr dirty="0" sz="1700" spc="-6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vulnerable.</a:t>
            </a:r>
            <a:r>
              <a:rPr dirty="0" sz="17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Be</a:t>
            </a:r>
            <a:r>
              <a:rPr dirty="0" sz="17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cautious</a:t>
            </a:r>
            <a:r>
              <a:rPr dirty="0" sz="17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aware</a:t>
            </a:r>
            <a:r>
              <a:rPr dirty="0" sz="17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these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common</a:t>
            </a:r>
            <a:r>
              <a:rPr dirty="0" sz="17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tricks:</a:t>
            </a:r>
            <a:endParaRPr sz="17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20"/>
              </a:spcBef>
              <a:buSzPct val="105882"/>
              <a:buAutoNum type="arabicPeriod"/>
              <a:tabLst>
                <a:tab pos="353695" algn="l"/>
              </a:tabLst>
            </a:pPr>
            <a:r>
              <a:rPr dirty="0" sz="1700" b="1">
                <a:solidFill>
                  <a:srgbClr val="585858"/>
                </a:solidFill>
                <a:latin typeface="Arial"/>
                <a:cs typeface="Arial"/>
              </a:rPr>
              <a:t>TRAI</a:t>
            </a:r>
            <a:r>
              <a:rPr dirty="0" sz="1700" spc="20" b="1">
                <a:solidFill>
                  <a:srgbClr val="585858"/>
                </a:solidFill>
                <a:latin typeface="Arial"/>
                <a:cs typeface="Arial"/>
              </a:rPr>
              <a:t>  </a:t>
            </a:r>
            <a:r>
              <a:rPr dirty="0" sz="1700" b="1">
                <a:solidFill>
                  <a:srgbClr val="585858"/>
                </a:solidFill>
                <a:latin typeface="Arial"/>
                <a:cs typeface="Arial"/>
              </a:rPr>
              <a:t>Phone</a:t>
            </a:r>
            <a:r>
              <a:rPr dirty="0" sz="1700" spc="15" b="1">
                <a:solidFill>
                  <a:srgbClr val="585858"/>
                </a:solidFill>
                <a:latin typeface="Arial"/>
                <a:cs typeface="Arial"/>
              </a:rPr>
              <a:t>  </a:t>
            </a:r>
            <a:r>
              <a:rPr dirty="0" sz="1700" b="1">
                <a:solidFill>
                  <a:srgbClr val="585858"/>
                </a:solidFill>
                <a:latin typeface="Arial"/>
                <a:cs typeface="Arial"/>
              </a:rPr>
              <a:t>Scam:</a:t>
            </a:r>
            <a:r>
              <a:rPr dirty="0" sz="1700" spc="25" b="1">
                <a:solidFill>
                  <a:srgbClr val="585858"/>
                </a:solidFill>
                <a:latin typeface="Arial"/>
                <a:cs typeface="Arial"/>
              </a:rPr>
              <a:t> 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Fraudsters</a:t>
            </a:r>
            <a:r>
              <a:rPr dirty="0" sz="1700" spc="40">
                <a:solidFill>
                  <a:srgbClr val="585858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claim</a:t>
            </a:r>
            <a:r>
              <a:rPr dirty="0" sz="1700" spc="30">
                <a:solidFill>
                  <a:srgbClr val="585858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35">
                <a:solidFill>
                  <a:srgbClr val="585858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be</a:t>
            </a:r>
            <a:r>
              <a:rPr dirty="0" sz="1700" spc="35">
                <a:solidFill>
                  <a:srgbClr val="585858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from</a:t>
            </a:r>
            <a:r>
              <a:rPr dirty="0" sz="1700" spc="40">
                <a:solidFill>
                  <a:srgbClr val="585858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TRAI,</a:t>
            </a:r>
            <a:r>
              <a:rPr dirty="0" sz="1700" spc="45">
                <a:solidFill>
                  <a:srgbClr val="585858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stating</a:t>
            </a:r>
            <a:r>
              <a:rPr dirty="0" sz="1700" spc="35">
                <a:solidFill>
                  <a:srgbClr val="585858"/>
                </a:solidFill>
                <a:latin typeface="Microsoft Sans Serif"/>
                <a:cs typeface="Microsoft Sans Serif"/>
              </a:rPr>
              <a:t> 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your</a:t>
            </a:r>
            <a:r>
              <a:rPr dirty="0" sz="1700" spc="50">
                <a:solidFill>
                  <a:srgbClr val="585858"/>
                </a:solidFill>
                <a:latin typeface="Microsoft Sans Serif"/>
                <a:cs typeface="Microsoft Sans Serif"/>
              </a:rPr>
              <a:t> 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mobile</a:t>
            </a:r>
            <a:endParaRPr sz="170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  <a:spcBef>
                <a:spcPts val="80"/>
              </a:spcBef>
              <a:tabLst>
                <a:tab pos="7092315" algn="l"/>
              </a:tabLst>
            </a:pP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number is</a:t>
            </a:r>
            <a:r>
              <a:rPr dirty="0" sz="17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linked</a:t>
            </a:r>
            <a:r>
              <a:rPr dirty="0" sz="17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illegal</a:t>
            </a:r>
            <a:r>
              <a:rPr dirty="0" sz="17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activities,</a:t>
            </a:r>
            <a:r>
              <a:rPr dirty="0" sz="1700" spc="-6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and services</a:t>
            </a:r>
            <a:r>
              <a:rPr dirty="0" sz="1700" spc="-5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will</a:t>
            </a:r>
            <a:r>
              <a:rPr dirty="0" sz="17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be</a:t>
            </a:r>
            <a:r>
              <a:rPr dirty="0" sz="17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suspended.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	-</a:t>
            </a:r>
            <a:endParaRPr sz="1700">
              <a:latin typeface="Microsoft Sans Serif"/>
              <a:cs typeface="Microsoft Sans Serif"/>
            </a:endParaRPr>
          </a:p>
          <a:p>
            <a:pPr marL="811530">
              <a:lnSpc>
                <a:spcPct val="100000"/>
              </a:lnSpc>
              <a:spcBef>
                <a:spcPts val="95"/>
              </a:spcBef>
            </a:pP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Reality:</a:t>
            </a:r>
            <a:r>
              <a:rPr dirty="0" sz="1700" spc="-5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TRAI</a:t>
            </a:r>
            <a:r>
              <a:rPr dirty="0" sz="17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doesn't</a:t>
            </a:r>
            <a:r>
              <a:rPr dirty="0" sz="1700" spc="-5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suspend</a:t>
            </a:r>
            <a:r>
              <a:rPr dirty="0" sz="17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services;</a:t>
            </a:r>
            <a:r>
              <a:rPr dirty="0" sz="1700" spc="-9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telecom</a:t>
            </a:r>
            <a:r>
              <a:rPr dirty="0" sz="17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companies</a:t>
            </a:r>
            <a:r>
              <a:rPr dirty="0" sz="17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585858"/>
                </a:solidFill>
                <a:latin typeface="Microsoft Sans Serif"/>
                <a:cs typeface="Microsoft Sans Serif"/>
              </a:rPr>
              <a:t>do.</a:t>
            </a:r>
            <a:endParaRPr sz="1700">
              <a:latin typeface="Microsoft Sans Serif"/>
              <a:cs typeface="Microsoft Sans Serif"/>
            </a:endParaRPr>
          </a:p>
          <a:p>
            <a:pPr marL="280035" indent="-267335">
              <a:lnSpc>
                <a:spcPct val="100000"/>
              </a:lnSpc>
              <a:spcBef>
                <a:spcPts val="100"/>
              </a:spcBef>
              <a:buFont typeface="Microsoft Sans Serif"/>
              <a:buAutoNum type="arabicPeriod" startAt="2"/>
              <a:tabLst>
                <a:tab pos="280035" algn="l"/>
              </a:tabLst>
            </a:pPr>
            <a:r>
              <a:rPr dirty="0" sz="1700" b="1">
                <a:solidFill>
                  <a:srgbClr val="585858"/>
                </a:solidFill>
                <a:latin typeface="Arial"/>
                <a:cs typeface="Arial"/>
              </a:rPr>
              <a:t>Parcel</a:t>
            </a:r>
            <a:r>
              <a:rPr dirty="0" sz="1700" spc="2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585858"/>
                </a:solidFill>
                <a:latin typeface="Arial"/>
                <a:cs typeface="Arial"/>
              </a:rPr>
              <a:t>Stuck</a:t>
            </a:r>
            <a:r>
              <a:rPr dirty="0" sz="1700" spc="17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585858"/>
                </a:solidFill>
                <a:latin typeface="Arial"/>
                <a:cs typeface="Arial"/>
              </a:rPr>
              <a:t>at</a:t>
            </a:r>
            <a:r>
              <a:rPr dirty="0" sz="1700" spc="18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585858"/>
                </a:solidFill>
                <a:latin typeface="Arial"/>
                <a:cs typeface="Arial"/>
              </a:rPr>
              <a:t>Customs:</a:t>
            </a:r>
            <a:r>
              <a:rPr dirty="0" sz="1700" spc="2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Scammers</a:t>
            </a:r>
            <a:r>
              <a:rPr dirty="0" sz="1700" spc="2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claim</a:t>
            </a:r>
            <a:r>
              <a:rPr dirty="0" sz="1700" spc="20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18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parcel</a:t>
            </a:r>
            <a:r>
              <a:rPr dirty="0" sz="1700" spc="2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with</a:t>
            </a:r>
            <a:r>
              <a:rPr dirty="0" sz="1700" spc="2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contraband</a:t>
            </a:r>
            <a:r>
              <a:rPr dirty="0" sz="1700" spc="2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has</a:t>
            </a:r>
            <a:r>
              <a:rPr dirty="0" sz="1700" spc="204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585858"/>
                </a:solidFill>
                <a:latin typeface="Microsoft Sans Serif"/>
                <a:cs typeface="Microsoft Sans Serif"/>
              </a:rPr>
              <a:t>been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543300" algn="l"/>
              </a:tabLst>
            </a:pP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intercepted</a:t>
            </a:r>
            <a:r>
              <a:rPr dirty="0" sz="1700" spc="-6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demand</a:t>
            </a:r>
            <a:r>
              <a:rPr dirty="0" sz="17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payment.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	-</a:t>
            </a:r>
            <a:endParaRPr sz="1700">
              <a:latin typeface="Microsoft Sans Serif"/>
              <a:cs typeface="Microsoft Sans Serif"/>
            </a:endParaRPr>
          </a:p>
          <a:p>
            <a:pPr marL="811530">
              <a:lnSpc>
                <a:spcPct val="100000"/>
              </a:lnSpc>
              <a:spcBef>
                <a:spcPts val="95"/>
              </a:spcBef>
            </a:pP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Action:</a:t>
            </a:r>
            <a:r>
              <a:rPr dirty="0" sz="17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Disconnect</a:t>
            </a:r>
            <a:r>
              <a:rPr dirty="0" sz="17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report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number.</a:t>
            </a:r>
            <a:endParaRPr sz="1700">
              <a:latin typeface="Microsoft Sans Serif"/>
              <a:cs typeface="Microsoft Sans Serif"/>
            </a:endParaRPr>
          </a:p>
          <a:p>
            <a:pPr marL="252095" indent="-239395">
              <a:lnSpc>
                <a:spcPct val="100000"/>
              </a:lnSpc>
              <a:spcBef>
                <a:spcPts val="95"/>
              </a:spcBef>
              <a:buFont typeface="Microsoft Sans Serif"/>
              <a:buAutoNum type="arabicPeriod" startAt="3"/>
              <a:tabLst>
                <a:tab pos="252095" algn="l"/>
                <a:tab pos="8165465" algn="l"/>
              </a:tabLst>
            </a:pPr>
            <a:r>
              <a:rPr dirty="0" sz="1700" b="1">
                <a:solidFill>
                  <a:srgbClr val="585858"/>
                </a:solidFill>
                <a:latin typeface="Arial"/>
                <a:cs typeface="Arial"/>
              </a:rPr>
              <a:t>Digital</a:t>
            </a:r>
            <a:r>
              <a:rPr dirty="0" sz="1700" spc="-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585858"/>
                </a:solidFill>
                <a:latin typeface="Arial"/>
                <a:cs typeface="Arial"/>
              </a:rPr>
              <a:t>Arrest:</a:t>
            </a:r>
            <a:r>
              <a:rPr dirty="0" sz="1700" spc="-5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Fake</a:t>
            </a:r>
            <a:r>
              <a:rPr dirty="0" sz="17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police</a:t>
            </a:r>
            <a:r>
              <a:rPr dirty="0" sz="17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officers</a:t>
            </a:r>
            <a:r>
              <a:rPr dirty="0" sz="17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threaten</a:t>
            </a:r>
            <a:r>
              <a:rPr dirty="0" sz="17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digital</a:t>
            </a:r>
            <a:r>
              <a:rPr dirty="0" sz="17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arrest</a:t>
            </a:r>
            <a:r>
              <a:rPr dirty="0" sz="17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or</a:t>
            </a:r>
            <a:r>
              <a:rPr dirty="0" sz="17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online</a:t>
            </a:r>
            <a:r>
              <a:rPr dirty="0" sz="17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interrogation.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	-</a:t>
            </a:r>
            <a:endParaRPr sz="1700">
              <a:latin typeface="Microsoft Sans Serif"/>
              <a:cs typeface="Microsoft Sans Serif"/>
            </a:endParaRPr>
          </a:p>
          <a:p>
            <a:pPr marL="81153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Reality:</a:t>
            </a:r>
            <a:r>
              <a:rPr dirty="0" sz="17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Police</a:t>
            </a:r>
            <a:r>
              <a:rPr dirty="0" sz="17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don't</a:t>
            </a:r>
            <a:r>
              <a:rPr dirty="0" sz="17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conduct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digital</a:t>
            </a:r>
            <a:r>
              <a:rPr dirty="0" sz="17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arrests</a:t>
            </a:r>
            <a:r>
              <a:rPr dirty="0" sz="17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or</a:t>
            </a:r>
            <a:r>
              <a:rPr dirty="0" sz="1700" spc="-5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85858"/>
                </a:solidFill>
                <a:latin typeface="Microsoft Sans Serif"/>
                <a:cs typeface="Microsoft Sans Serif"/>
              </a:rPr>
              <a:t>online</a:t>
            </a:r>
            <a:r>
              <a:rPr dirty="0" sz="17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85858"/>
                </a:solidFill>
                <a:latin typeface="Microsoft Sans Serif"/>
                <a:cs typeface="Microsoft Sans Serif"/>
              </a:rPr>
              <a:t>interrogations.</a:t>
            </a:r>
            <a:endParaRPr sz="1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374" y="471678"/>
            <a:ext cx="8251825" cy="373252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37490" indent="-224790">
              <a:lnSpc>
                <a:spcPts val="1750"/>
              </a:lnSpc>
              <a:spcBef>
                <a:spcPts val="110"/>
              </a:spcBef>
              <a:buFont typeface="Microsoft Sans Serif"/>
              <a:buAutoNum type="arabicPeriod" startAt="4"/>
              <a:tabLst>
                <a:tab pos="237490" algn="l"/>
              </a:tabLst>
            </a:pP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Family</a:t>
            </a:r>
            <a:r>
              <a:rPr dirty="0" sz="1500" spc="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Member</a:t>
            </a:r>
            <a:r>
              <a:rPr dirty="0" sz="1500" spc="6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Arrested:</a:t>
            </a:r>
            <a:r>
              <a:rPr dirty="0" sz="1500" spc="5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Scammers</a:t>
            </a:r>
            <a:r>
              <a:rPr dirty="0" sz="1500" spc="6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claim</a:t>
            </a:r>
            <a:r>
              <a:rPr dirty="0" sz="1500" spc="8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</a:t>
            </a:r>
            <a:r>
              <a:rPr dirty="0" sz="1500" spc="6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relative</a:t>
            </a:r>
            <a:r>
              <a:rPr dirty="0" sz="1500" spc="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will</a:t>
            </a:r>
            <a:r>
              <a:rPr dirty="0" sz="1500" spc="9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be</a:t>
            </a:r>
            <a:r>
              <a:rPr dirty="0" sz="1500" spc="8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arrested</a:t>
            </a:r>
            <a:r>
              <a:rPr dirty="0" sz="1500" spc="8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6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demand</a:t>
            </a:r>
            <a:r>
              <a:rPr dirty="0" sz="1500" spc="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payment.</a:t>
            </a:r>
            <a:endParaRPr sz="1500">
              <a:latin typeface="Microsoft Sans Serif"/>
              <a:cs typeface="Microsoft Sans Serif"/>
            </a:endParaRPr>
          </a:p>
          <a:p>
            <a:pPr marL="12700">
              <a:lnSpc>
                <a:spcPts val="1714"/>
              </a:lnSpc>
            </a:pP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-</a:t>
            </a:r>
            <a:endParaRPr sz="1500">
              <a:latin typeface="Microsoft Sans Serif"/>
              <a:cs typeface="Microsoft Sans Serif"/>
            </a:endParaRPr>
          </a:p>
          <a:p>
            <a:pPr marL="811530">
              <a:lnSpc>
                <a:spcPts val="1714"/>
              </a:lnSpc>
            </a:pP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Action:</a:t>
            </a:r>
            <a:r>
              <a:rPr dirty="0" sz="1500" spc="-5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Verify</a:t>
            </a:r>
            <a:r>
              <a:rPr dirty="0" sz="15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with</a:t>
            </a:r>
            <a:r>
              <a:rPr dirty="0" sz="1500" spc="6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family</a:t>
            </a:r>
            <a:r>
              <a:rPr dirty="0" sz="15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members</a:t>
            </a:r>
            <a:r>
              <a:rPr dirty="0" sz="15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before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taking</a:t>
            </a:r>
            <a:r>
              <a:rPr dirty="0" sz="15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action.</a:t>
            </a:r>
            <a:endParaRPr sz="1500">
              <a:latin typeface="Microsoft Sans Serif"/>
              <a:cs typeface="Microsoft Sans Serif"/>
            </a:endParaRPr>
          </a:p>
          <a:p>
            <a:pPr marL="222250" indent="-209550">
              <a:lnSpc>
                <a:spcPts val="1705"/>
              </a:lnSpc>
              <a:buAutoNum type="arabicPeriod" startAt="5"/>
              <a:tabLst>
                <a:tab pos="222250" algn="l"/>
                <a:tab pos="7796530" algn="l"/>
              </a:tabLst>
            </a:pP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Get</a:t>
            </a:r>
            <a:r>
              <a:rPr dirty="0" sz="15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Rich</a:t>
            </a:r>
            <a:r>
              <a:rPr dirty="0" sz="1500" spc="-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Quick</a:t>
            </a:r>
            <a:r>
              <a:rPr dirty="0" sz="1500" spc="-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Trading:</a:t>
            </a:r>
            <a:r>
              <a:rPr dirty="0" sz="15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Social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media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ads promise</a:t>
            </a:r>
            <a:r>
              <a:rPr dirty="0" sz="15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high</a:t>
            </a:r>
            <a:r>
              <a:rPr dirty="0" sz="1500" spc="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returns</a:t>
            </a:r>
            <a:r>
              <a:rPr dirty="0" sz="15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on</a:t>
            </a:r>
            <a:r>
              <a:rPr dirty="0" sz="1500" spc="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stock</a:t>
            </a:r>
            <a:r>
              <a:rPr dirty="0" sz="15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investments.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	-</a:t>
            </a:r>
            <a:endParaRPr sz="1500">
              <a:latin typeface="Microsoft Sans Serif"/>
              <a:cs typeface="Microsoft Sans Serif"/>
            </a:endParaRPr>
          </a:p>
          <a:p>
            <a:pPr marL="811530">
              <a:lnSpc>
                <a:spcPts val="1705"/>
              </a:lnSpc>
            </a:pP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Reality: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 High-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return</a:t>
            </a:r>
            <a:r>
              <a:rPr dirty="0" sz="15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schemes</a:t>
            </a:r>
            <a:r>
              <a:rPr dirty="0" sz="1500" spc="-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are likely</a:t>
            </a:r>
            <a:r>
              <a:rPr dirty="0" sz="15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scams.</a:t>
            </a:r>
            <a:endParaRPr sz="1500">
              <a:latin typeface="Microsoft Sans Serif"/>
              <a:cs typeface="Microsoft Sans Serif"/>
            </a:endParaRPr>
          </a:p>
          <a:p>
            <a:pPr marL="264795" indent="-252095">
              <a:lnSpc>
                <a:spcPts val="1714"/>
              </a:lnSpc>
              <a:buFont typeface="Microsoft Sans Serif"/>
              <a:buAutoNum type="arabicPeriod" startAt="6"/>
              <a:tabLst>
                <a:tab pos="264795" algn="l"/>
              </a:tabLst>
            </a:pP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Easy</a:t>
            </a:r>
            <a:r>
              <a:rPr dirty="0" sz="1500" spc="26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Tasks</a:t>
            </a:r>
            <a:r>
              <a:rPr dirty="0" sz="1500" spc="27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for</a:t>
            </a:r>
            <a:r>
              <a:rPr dirty="0" sz="1500" spc="3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Big</a:t>
            </a:r>
            <a:r>
              <a:rPr dirty="0" sz="1500" spc="26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Rewards:</a:t>
            </a:r>
            <a:r>
              <a:rPr dirty="0" sz="1500" spc="27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Scammers</a:t>
            </a:r>
            <a:r>
              <a:rPr dirty="0" sz="1500" spc="3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offer</a:t>
            </a:r>
            <a:r>
              <a:rPr dirty="0" sz="1500" spc="29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high</a:t>
            </a:r>
            <a:r>
              <a:rPr dirty="0" sz="1500" spc="28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sums</a:t>
            </a:r>
            <a:r>
              <a:rPr dirty="0" sz="1500" spc="3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for</a:t>
            </a:r>
            <a:r>
              <a:rPr dirty="0" sz="1500" spc="27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simple</a:t>
            </a:r>
            <a:r>
              <a:rPr dirty="0" sz="1500" spc="28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tasks,</a:t>
            </a:r>
            <a:r>
              <a:rPr dirty="0" sz="1500" spc="3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then</a:t>
            </a:r>
            <a:r>
              <a:rPr dirty="0" sz="1500" spc="3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ask</a:t>
            </a:r>
            <a:r>
              <a:rPr dirty="0" sz="1500" spc="3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5">
                <a:solidFill>
                  <a:srgbClr val="585858"/>
                </a:solidFill>
                <a:latin typeface="Microsoft Sans Serif"/>
                <a:cs typeface="Microsoft Sans Serif"/>
              </a:rPr>
              <a:t>for</a:t>
            </a:r>
            <a:endParaRPr sz="1500">
              <a:latin typeface="Microsoft Sans Serif"/>
              <a:cs typeface="Microsoft Sans Serif"/>
            </a:endParaRPr>
          </a:p>
          <a:p>
            <a:pPr marL="12700">
              <a:lnSpc>
                <a:spcPts val="1720"/>
              </a:lnSpc>
              <a:tabLst>
                <a:tab pos="1198880" algn="l"/>
              </a:tabLst>
            </a:pP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investment.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	-</a:t>
            </a:r>
            <a:endParaRPr sz="1500">
              <a:latin typeface="Microsoft Sans Serif"/>
              <a:cs typeface="Microsoft Sans Serif"/>
            </a:endParaRPr>
          </a:p>
          <a:p>
            <a:pPr marL="811530">
              <a:lnSpc>
                <a:spcPts val="1705"/>
              </a:lnSpc>
            </a:pP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Reality:</a:t>
            </a:r>
            <a:r>
              <a:rPr dirty="0" sz="15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Easy</a:t>
            </a:r>
            <a:r>
              <a:rPr dirty="0" sz="15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money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schemes</a:t>
            </a:r>
            <a:r>
              <a:rPr dirty="0" sz="1500" spc="-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are</a:t>
            </a:r>
            <a:r>
              <a:rPr dirty="0" sz="1500" spc="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scams.</a:t>
            </a:r>
            <a:endParaRPr sz="1500">
              <a:latin typeface="Microsoft Sans Serif"/>
              <a:cs typeface="Microsoft Sans Serif"/>
            </a:endParaRPr>
          </a:p>
          <a:p>
            <a:pPr marL="260350" indent="-247650">
              <a:lnSpc>
                <a:spcPts val="1705"/>
              </a:lnSpc>
              <a:buAutoNum type="arabicPeriod" startAt="7"/>
              <a:tabLst>
                <a:tab pos="260350" algn="l"/>
              </a:tabLst>
            </a:pP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Credit</a:t>
            </a:r>
            <a:r>
              <a:rPr dirty="0" sz="1500" spc="2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Card</a:t>
            </a:r>
            <a:r>
              <a:rPr dirty="0" sz="1500" spc="2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Issued</a:t>
            </a:r>
            <a:r>
              <a:rPr dirty="0" sz="1500" spc="2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in</a:t>
            </a:r>
            <a:r>
              <a:rPr dirty="0" sz="1500" spc="229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Your</a:t>
            </a:r>
            <a:r>
              <a:rPr dirty="0" sz="1500" spc="254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Name:</a:t>
            </a:r>
            <a:r>
              <a:rPr dirty="0" sz="1500" spc="24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Fake</a:t>
            </a:r>
            <a:r>
              <a:rPr dirty="0" sz="1500" spc="26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executives</a:t>
            </a:r>
            <a:r>
              <a:rPr dirty="0" sz="1500" spc="28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confirm</a:t>
            </a:r>
            <a:r>
              <a:rPr dirty="0" sz="1500" spc="29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large</a:t>
            </a:r>
            <a:r>
              <a:rPr dirty="0" sz="1500" spc="26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transactions</a:t>
            </a:r>
            <a:r>
              <a:rPr dirty="0" sz="1500" spc="28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on</a:t>
            </a:r>
            <a:r>
              <a:rPr dirty="0" sz="1500" spc="2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bogus</a:t>
            </a:r>
            <a:endParaRPr sz="1500">
              <a:latin typeface="Microsoft Sans Serif"/>
              <a:cs typeface="Microsoft Sans Serif"/>
            </a:endParaRPr>
          </a:p>
          <a:p>
            <a:pPr marL="12700">
              <a:lnSpc>
                <a:spcPts val="1714"/>
              </a:lnSpc>
              <a:tabLst>
                <a:tab pos="1262380" algn="l"/>
              </a:tabLst>
            </a:pP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credit</a:t>
            </a:r>
            <a:r>
              <a:rPr dirty="0" sz="15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cards.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	-</a:t>
            </a:r>
            <a:endParaRPr sz="1500">
              <a:latin typeface="Microsoft Sans Serif"/>
              <a:cs typeface="Microsoft Sans Serif"/>
            </a:endParaRPr>
          </a:p>
          <a:p>
            <a:pPr marL="811530">
              <a:lnSpc>
                <a:spcPts val="1714"/>
              </a:lnSpc>
            </a:pP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Action:</a:t>
            </a:r>
            <a:r>
              <a:rPr dirty="0" sz="1500" spc="-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Check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with</a:t>
            </a:r>
            <a:r>
              <a:rPr dirty="0" sz="1500" spc="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your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 bank.</a:t>
            </a:r>
            <a:endParaRPr sz="1500">
              <a:latin typeface="Microsoft Sans Serif"/>
              <a:cs typeface="Microsoft Sans Serif"/>
            </a:endParaRPr>
          </a:p>
          <a:p>
            <a:pPr marL="221615" indent="-208915">
              <a:lnSpc>
                <a:spcPts val="1705"/>
              </a:lnSpc>
              <a:buAutoNum type="arabicPeriod" startAt="8"/>
              <a:tabLst>
                <a:tab pos="221615" algn="l"/>
              </a:tabLst>
            </a:pP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Mistaken</a:t>
            </a:r>
            <a:r>
              <a:rPr dirty="0" sz="1500" spc="-8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Money</a:t>
            </a:r>
            <a:r>
              <a:rPr dirty="0" sz="1500" spc="-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Transfer:</a:t>
            </a:r>
            <a:r>
              <a:rPr dirty="0" sz="15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Scammers</a:t>
            </a:r>
            <a:r>
              <a:rPr dirty="0" sz="1500" spc="-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claim incorrect</a:t>
            </a:r>
            <a:r>
              <a:rPr dirty="0" sz="15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transactions</a:t>
            </a:r>
            <a:r>
              <a:rPr dirty="0" sz="1500" spc="-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ask for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refunds.</a:t>
            </a:r>
            <a:endParaRPr sz="1500">
              <a:latin typeface="Microsoft Sans Serif"/>
              <a:cs typeface="Microsoft Sans Serif"/>
            </a:endParaRPr>
          </a:p>
          <a:p>
            <a:pPr marL="862965">
              <a:lnSpc>
                <a:spcPts val="1705"/>
              </a:lnSpc>
            </a:pP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Action:</a:t>
            </a:r>
            <a:r>
              <a:rPr dirty="0" sz="15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Verify</a:t>
            </a:r>
            <a:r>
              <a:rPr dirty="0" sz="15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transactions</a:t>
            </a:r>
            <a:r>
              <a:rPr dirty="0" sz="1500" spc="-7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with</a:t>
            </a:r>
            <a:r>
              <a:rPr dirty="0" sz="1500" spc="5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your</a:t>
            </a:r>
            <a:r>
              <a:rPr dirty="0" sz="1500" spc="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bank.</a:t>
            </a:r>
            <a:endParaRPr sz="1500">
              <a:latin typeface="Microsoft Sans Serif"/>
              <a:cs typeface="Microsoft Sans Serif"/>
            </a:endParaRPr>
          </a:p>
          <a:p>
            <a:pPr marL="220345" marR="2977515" indent="-208279">
              <a:lnSpc>
                <a:spcPts val="1730"/>
              </a:lnSpc>
              <a:spcBef>
                <a:spcPts val="70"/>
              </a:spcBef>
              <a:buAutoNum type="arabicPeriod" startAt="9"/>
              <a:tabLst>
                <a:tab pos="811530" algn="l"/>
                <a:tab pos="5201920" algn="l"/>
              </a:tabLst>
            </a:pP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KYC</a:t>
            </a:r>
            <a:r>
              <a:rPr dirty="0" sz="1500" spc="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Expired:</a:t>
            </a:r>
            <a:r>
              <a:rPr dirty="0" sz="1500" spc="-5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Scammers</a:t>
            </a:r>
            <a:r>
              <a:rPr dirty="0" sz="1500" spc="-6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ask for</a:t>
            </a:r>
            <a:r>
              <a:rPr dirty="0" sz="15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KYC updates</a:t>
            </a:r>
            <a:r>
              <a:rPr dirty="0" sz="15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via</a:t>
            </a:r>
            <a:r>
              <a:rPr dirty="0" sz="15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links.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	- 	Reality: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Banks</a:t>
            </a:r>
            <a:r>
              <a:rPr dirty="0" sz="15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require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in-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person</a:t>
            </a:r>
            <a:r>
              <a:rPr dirty="0" sz="15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KYC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 updates.</a:t>
            </a:r>
            <a:endParaRPr sz="1500">
              <a:latin typeface="Microsoft Sans Serif"/>
              <a:cs typeface="Microsoft Sans Serif"/>
            </a:endParaRPr>
          </a:p>
          <a:p>
            <a:pPr marL="327660" indent="-314960">
              <a:lnSpc>
                <a:spcPts val="1610"/>
              </a:lnSpc>
              <a:buAutoNum type="arabicPeriod" startAt="9"/>
              <a:tabLst>
                <a:tab pos="327660" algn="l"/>
              </a:tabLst>
            </a:pP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Generous</a:t>
            </a:r>
            <a:r>
              <a:rPr dirty="0" sz="15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Tax</a:t>
            </a:r>
            <a:r>
              <a:rPr dirty="0" sz="1500" spc="-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Refund:</a:t>
            </a:r>
            <a:r>
              <a:rPr dirty="0" sz="1500" spc="-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Fraudsters</a:t>
            </a:r>
            <a:r>
              <a:rPr dirty="0" sz="1500" spc="-5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pose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as</a:t>
            </a:r>
            <a:r>
              <a:rPr dirty="0" sz="1500" spc="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tax</a:t>
            </a:r>
            <a:r>
              <a:rPr dirty="0" sz="15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officials,</a:t>
            </a:r>
            <a:r>
              <a:rPr dirty="0" sz="15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asking</a:t>
            </a:r>
            <a:r>
              <a:rPr dirty="0" sz="15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for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bank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details.</a:t>
            </a:r>
            <a:endParaRPr sz="1500">
              <a:latin typeface="Microsoft Sans Serif"/>
              <a:cs typeface="Microsoft Sans Serif"/>
            </a:endParaRPr>
          </a:p>
          <a:p>
            <a:pPr marL="862965">
              <a:lnSpc>
                <a:spcPts val="1750"/>
              </a:lnSpc>
            </a:pP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Reality: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Tax</a:t>
            </a:r>
            <a:r>
              <a:rPr dirty="0" sz="1500" spc="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departments</a:t>
            </a:r>
            <a:r>
              <a:rPr dirty="0" sz="1500" spc="-6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already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have</a:t>
            </a:r>
            <a:r>
              <a:rPr dirty="0" sz="1500" spc="-5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bank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details</a:t>
            </a:r>
            <a:r>
              <a:rPr dirty="0" sz="15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communicate</a:t>
            </a:r>
            <a:r>
              <a:rPr dirty="0" sz="1500" spc="-6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directly.</a:t>
            </a:r>
            <a:endParaRPr sz="1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Stay</a:t>
            </a:r>
            <a:r>
              <a:rPr dirty="0" spc="10">
                <a:latin typeface="Microsoft Sans Serif"/>
                <a:cs typeface="Microsoft Sans Serif"/>
              </a:rPr>
              <a:t> </a:t>
            </a:r>
            <a:r>
              <a:rPr dirty="0" spc="-20">
                <a:latin typeface="Microsoft Sans Serif"/>
                <a:cs typeface="Microsoft Sans Serif"/>
              </a:rPr>
              <a:t>Safe: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4287520" cy="223329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1.</a:t>
            </a:r>
            <a:r>
              <a:rPr dirty="0" sz="18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Verify</a:t>
            </a:r>
            <a:r>
              <a:rPr dirty="0" sz="1800" spc="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800" spc="-5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before</a:t>
            </a:r>
            <a:r>
              <a:rPr dirty="0" sz="18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acting.</a:t>
            </a: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2.</a:t>
            </a:r>
            <a:r>
              <a:rPr dirty="0" sz="18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Don't</a:t>
            </a:r>
            <a:r>
              <a:rPr dirty="0" sz="1800" spc="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click</a:t>
            </a:r>
            <a:r>
              <a:rPr dirty="0" sz="18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suspicious</a:t>
            </a:r>
            <a:r>
              <a:rPr dirty="0" sz="1800" spc="-6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links.</a:t>
            </a: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3.</a:t>
            </a:r>
            <a:r>
              <a:rPr dirty="0" sz="18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Confirm</a:t>
            </a:r>
            <a:r>
              <a:rPr dirty="0" sz="18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transactions</a:t>
            </a:r>
            <a:r>
              <a:rPr dirty="0" sz="1800" spc="-6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with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banks.</a:t>
            </a: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4.</a:t>
            </a:r>
            <a:r>
              <a:rPr dirty="0" sz="1800" spc="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Report</a:t>
            </a:r>
            <a:r>
              <a:rPr dirty="0" sz="1800" spc="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suspicious</a:t>
            </a:r>
            <a:r>
              <a:rPr dirty="0" sz="1800" spc="-5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calls/numbers.</a:t>
            </a: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5.</a:t>
            </a:r>
            <a:r>
              <a:rPr dirty="0" sz="18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cautious</a:t>
            </a:r>
            <a:r>
              <a:rPr dirty="0" sz="18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high-return</a:t>
            </a:r>
            <a:r>
              <a:rPr dirty="0" sz="18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schemes.</a:t>
            </a: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15"/>
              </a:spcBef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6.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Update</a:t>
            </a:r>
            <a:r>
              <a:rPr dirty="0" sz="1800" spc="-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KYC</a:t>
            </a:r>
            <a:r>
              <a:rPr dirty="0" sz="1800" spc="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in-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person.</a:t>
            </a: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35"/>
              </a:spcBef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7.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Don't</a:t>
            </a:r>
            <a:r>
              <a:rPr dirty="0" sz="1800" spc="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share</a:t>
            </a:r>
            <a:r>
              <a:rPr dirty="0" sz="18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personal/bank</a:t>
            </a:r>
            <a:r>
              <a:rPr dirty="0" sz="1800" spc="-5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details.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Report</a:t>
            </a:r>
            <a:r>
              <a:rPr dirty="0" spc="5">
                <a:latin typeface="Microsoft Sans Serif"/>
                <a:cs typeface="Microsoft Sans Serif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Scams: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41297"/>
            <a:ext cx="6207760" cy="2508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1: GOI</a:t>
            </a:r>
            <a:r>
              <a:rPr dirty="0" sz="1800" spc="5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Chakshu</a:t>
            </a:r>
            <a:r>
              <a:rPr dirty="0" sz="18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portal @</a:t>
            </a:r>
            <a:r>
              <a:rPr dirty="0" sz="1800" spc="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800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Microsoft Sans Serif"/>
                <a:cs typeface="Microsoft Sans Serif"/>
                <a:hlinkClick r:id="rId2"/>
              </a:rPr>
              <a:t>https://sancharsaathi.gov.in/sfc/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70"/>
              </a:spcBef>
              <a:buClr>
                <a:srgbClr val="585858"/>
              </a:buClr>
              <a:buFont typeface="Microsoft Sans Serif"/>
              <a:buChar char="●"/>
            </a:pP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2a.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National</a:t>
            </a:r>
            <a:r>
              <a:rPr dirty="0" sz="18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Consumer</a:t>
            </a:r>
            <a:r>
              <a:rPr dirty="0" sz="18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Helpline</a:t>
            </a:r>
            <a:r>
              <a:rPr dirty="0" sz="1800" spc="-5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(1800-11-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4000)</a:t>
            </a: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315"/>
              </a:spcBef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2b.</a:t>
            </a:r>
            <a:r>
              <a:rPr dirty="0" sz="18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Cyber Crime</a:t>
            </a:r>
            <a:r>
              <a:rPr dirty="0" sz="18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Reporting</a:t>
            </a:r>
            <a:r>
              <a:rPr dirty="0" sz="18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Portal</a:t>
            </a:r>
            <a:r>
              <a:rPr dirty="0" sz="18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(cybercrime.gov.in)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Clr>
                <a:srgbClr val="585858"/>
              </a:buClr>
              <a:buFont typeface="Microsoft Sans Serif"/>
              <a:buChar char="●"/>
            </a:pP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buChar char="●"/>
              <a:tabLst>
                <a:tab pos="353695" algn="l"/>
              </a:tabLst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3.</a:t>
            </a:r>
            <a:r>
              <a:rPr dirty="0" sz="1800" spc="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Local</a:t>
            </a:r>
            <a:r>
              <a:rPr dirty="0" sz="18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Police</a:t>
            </a:r>
            <a:r>
              <a:rPr dirty="0" sz="18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Station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2597785">
              <a:lnSpc>
                <a:spcPct val="100000"/>
              </a:lnSpc>
            </a:pP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Stay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informed,</a:t>
            </a:r>
            <a:r>
              <a:rPr dirty="0" sz="1800" spc="-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stay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vigilant!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50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50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9163" y="1734134"/>
            <a:ext cx="5107940" cy="148971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480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Microsoft Sans Serif"/>
                <a:cs typeface="Microsoft Sans Serif"/>
                <a:hlinkClick r:id="rId2"/>
              </a:rPr>
              <a:t>Financial</a:t>
            </a:r>
            <a:r>
              <a:rPr dirty="0" u="sng" sz="4800" spc="-18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dirty="0" u="sng" sz="4800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Microsoft Sans Serif"/>
                <a:cs typeface="Microsoft Sans Serif"/>
                <a:hlinkClick r:id="rId2"/>
              </a:rPr>
              <a:t>Fraud</a:t>
            </a:r>
            <a:r>
              <a:rPr dirty="0" sz="4800" spc="-10">
                <a:solidFill>
                  <a:srgbClr val="0096A7"/>
                </a:solidFill>
                <a:latin typeface="Microsoft Sans Serif"/>
                <a:cs typeface="Microsoft Sans Serif"/>
                <a:hlinkClick r:id="rId2"/>
              </a:rPr>
              <a:t> </a:t>
            </a:r>
            <a:r>
              <a:rPr dirty="0" u="sng" sz="480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Microsoft Sans Serif"/>
                <a:cs typeface="Microsoft Sans Serif"/>
                <a:hlinkClick r:id="rId2"/>
              </a:rPr>
              <a:t>Brochures</a:t>
            </a:r>
            <a:r>
              <a:rPr dirty="0" u="sng" sz="4800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dirty="0" u="sng" sz="4800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Microsoft Sans Serif"/>
                <a:cs typeface="Microsoft Sans Serif"/>
                <a:hlinkClick r:id="rId2"/>
              </a:rPr>
              <a:t>final.pdf</a:t>
            </a:r>
            <a:endParaRPr sz="4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Botnet:</a:t>
            </a:r>
            <a:r>
              <a:rPr dirty="0" spc="-1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dirty="0" spc="-5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fuel</a:t>
            </a:r>
            <a:r>
              <a:rPr dirty="0" spc="-15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dirty="0" spc="-5">
                <a:latin typeface="Microsoft Sans Serif"/>
                <a:cs typeface="Microsoft Sans Serif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Cybercrime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550" y="1044651"/>
            <a:ext cx="4410710" cy="3540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97815" marR="5080" indent="-285750">
              <a:lnSpc>
                <a:spcPct val="100000"/>
              </a:lnSpc>
              <a:spcBef>
                <a:spcPts val="110"/>
              </a:spcBef>
              <a:buFont typeface="Segoe UI Symbol"/>
              <a:buChar char="⮚"/>
              <a:tabLst>
                <a:tab pos="299085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Botnet (also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called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zombie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network) is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a </a:t>
            </a:r>
            <a:r>
              <a:rPr dirty="0" sz="1600" spc="-5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network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computers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infected with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malicious </a:t>
            </a:r>
            <a:r>
              <a:rPr dirty="0" sz="1600" spc="-1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program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allows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cybercriminals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control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 spc="-25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infected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machines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remotely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without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users’ 	knowledge.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Segoe UI Symbol"/>
              <a:buChar char="⮚"/>
              <a:tabLst>
                <a:tab pos="298450" algn="l"/>
              </a:tabLst>
            </a:pPr>
            <a:r>
              <a:rPr dirty="0" sz="1600">
                <a:latin typeface="Calibri"/>
                <a:cs typeface="Calibri"/>
              </a:rPr>
              <a:t>Your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computer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system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maybe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part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Botnet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even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though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appears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operating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normally.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Font typeface="Segoe UI Symbol"/>
              <a:buChar char="⮚"/>
              <a:tabLst>
                <a:tab pos="298450" algn="l"/>
              </a:tabLst>
            </a:pPr>
            <a:r>
              <a:rPr dirty="0" sz="1600">
                <a:latin typeface="Calibri"/>
                <a:cs typeface="Calibri"/>
              </a:rPr>
              <a:t>Botnets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often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conduct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range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Calibri"/>
                <a:cs typeface="Calibri"/>
              </a:rPr>
              <a:t>activities,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distributing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Spam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viruses</a:t>
            </a:r>
            <a:r>
              <a:rPr dirty="0" sz="1600" spc="-25">
                <a:latin typeface="Calibri"/>
                <a:cs typeface="Calibri"/>
              </a:rPr>
              <a:t> to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25"/>
              </a:spcBef>
            </a:pPr>
            <a:r>
              <a:rPr dirty="0" sz="1600">
                <a:latin typeface="Calibri"/>
                <a:cs typeface="Calibri"/>
              </a:rPr>
              <a:t>conducting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denial-of-</a:t>
            </a:r>
            <a:r>
              <a:rPr dirty="0" sz="1600">
                <a:latin typeface="Calibri"/>
                <a:cs typeface="Calibri"/>
              </a:rPr>
              <a:t>service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(DoS)</a:t>
            </a:r>
            <a:r>
              <a:rPr dirty="0" sz="1600" spc="-10">
                <a:latin typeface="Calibri"/>
                <a:cs typeface="Calibri"/>
              </a:rPr>
              <a:t> attacks.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dirty="0" sz="1400" b="1">
                <a:latin typeface="Times New Roman"/>
                <a:cs typeface="Times New Roman"/>
              </a:rPr>
              <a:t>Evolution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Botnets</a:t>
            </a:r>
            <a:endParaRPr sz="1400">
              <a:latin typeface="Times New Roman"/>
              <a:cs typeface="Times New Roman"/>
            </a:endParaRPr>
          </a:p>
          <a:p>
            <a:pPr lvl="1" marL="469900" indent="-31750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1400">
                <a:latin typeface="Times New Roman"/>
                <a:cs typeface="Times New Roman"/>
              </a:rPr>
              <a:t>Motivation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change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hacking</a:t>
            </a:r>
            <a:endParaRPr sz="1400">
              <a:latin typeface="Times New Roman"/>
              <a:cs typeface="Times New Roman"/>
            </a:endParaRPr>
          </a:p>
          <a:p>
            <a:pPr lvl="2" marL="927100" indent="-316865">
              <a:lnSpc>
                <a:spcPct val="100000"/>
              </a:lnSpc>
              <a:buChar char="–"/>
              <a:tabLst>
                <a:tab pos="927100" algn="l"/>
              </a:tabLst>
            </a:pPr>
            <a:r>
              <a:rPr dirty="0" sz="1400" spc="-10">
                <a:latin typeface="Times New Roman"/>
                <a:cs typeface="Times New Roman"/>
              </a:rPr>
              <a:t>Vandalism</a:t>
            </a:r>
            <a:endParaRPr sz="1400">
              <a:latin typeface="Times New Roman"/>
              <a:cs typeface="Times New Roman"/>
            </a:endParaRPr>
          </a:p>
          <a:p>
            <a:pPr lvl="2" marL="972819" indent="-362585">
              <a:lnSpc>
                <a:spcPct val="100000"/>
              </a:lnSpc>
              <a:buChar char="–"/>
              <a:tabLst>
                <a:tab pos="972819" algn="l"/>
              </a:tabLst>
            </a:pP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gains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 descr="https://upload.wikimedia.org/wikipedia/commons/thumb/c/c6/Botnet.svg/2000px-Botnet.svg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9784" y="100583"/>
            <a:ext cx="3907536" cy="443025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6212" y="69849"/>
            <a:ext cx="479742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How</a:t>
            </a:r>
            <a:r>
              <a:rPr dirty="0" spc="5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botnets creates the</a:t>
            </a:r>
            <a:r>
              <a:rPr dirty="0" spc="10">
                <a:latin typeface="Microsoft Sans Serif"/>
                <a:cs typeface="Microsoft Sans Serif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business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0817" y="582517"/>
            <a:ext cx="6714756" cy="380860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6212" y="930351"/>
            <a:ext cx="7734934" cy="24669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>
                <a:latin typeface="Calibri"/>
                <a:cs typeface="Calibri"/>
              </a:rPr>
              <a:t>One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ensure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following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secure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system: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buAutoNum type="arabicPeriod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Use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antivirus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anti-</a:t>
            </a:r>
            <a:r>
              <a:rPr dirty="0" sz="1600">
                <a:latin typeface="Calibri"/>
                <a:cs typeface="Calibri"/>
              </a:rPr>
              <a:t>Spyware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software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keep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up-to-date.</a:t>
            </a:r>
            <a:endParaRPr sz="1600">
              <a:latin typeface="Calibri"/>
              <a:cs typeface="Calibri"/>
            </a:endParaRPr>
          </a:p>
          <a:p>
            <a:pPr marL="697865" indent="-227965">
              <a:lnSpc>
                <a:spcPts val="1910"/>
              </a:lnSpc>
              <a:buAutoNum type="arabicPeriod"/>
              <a:tabLst>
                <a:tab pos="697865" algn="l"/>
              </a:tabLst>
            </a:pPr>
            <a:r>
              <a:rPr dirty="0" sz="1600">
                <a:latin typeface="Calibri"/>
                <a:cs typeface="Calibri"/>
              </a:rPr>
              <a:t>Set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download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install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security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patches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automatically.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ts val="1910"/>
              </a:lnSpc>
              <a:buAutoNum type="arabicPeriod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Use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firewall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protect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system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hacking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attacks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while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connected 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25"/>
              </a:spcBef>
            </a:pPr>
            <a:r>
              <a:rPr dirty="0" sz="1600" spc="-10">
                <a:latin typeface="Calibri"/>
                <a:cs typeface="Calibri"/>
              </a:rPr>
              <a:t>Internet.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ct val="100000"/>
              </a:lnSpc>
              <a:buAutoNum type="arabicPeriod" startAt="4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Disconnect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Internet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you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away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your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computer.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ts val="1910"/>
              </a:lnSpc>
              <a:buAutoNum type="arabicPeriod" startAt="4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Downloading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freeware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only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websites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known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trustworthy</a:t>
            </a:r>
            <a:endParaRPr sz="1600">
              <a:latin typeface="Calibri"/>
              <a:cs typeface="Calibri"/>
            </a:endParaRPr>
          </a:p>
          <a:p>
            <a:pPr marL="698500" marR="208915" indent="-228600">
              <a:lnSpc>
                <a:spcPts val="1939"/>
              </a:lnSpc>
              <a:spcBef>
                <a:spcPts val="40"/>
              </a:spcBef>
              <a:buAutoNum type="arabicPeriod" startAt="4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Check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regularly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folders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mail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box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“sent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items”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“outgoing”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10">
                <a:latin typeface="Calibri"/>
                <a:cs typeface="Calibri"/>
              </a:rPr>
              <a:t> those </a:t>
            </a:r>
            <a:r>
              <a:rPr dirty="0" sz="1600">
                <a:latin typeface="Calibri"/>
                <a:cs typeface="Calibri"/>
              </a:rPr>
              <a:t>messages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you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send.</a:t>
            </a:r>
            <a:endParaRPr sz="1600">
              <a:latin typeface="Calibri"/>
              <a:cs typeface="Calibri"/>
            </a:endParaRPr>
          </a:p>
          <a:p>
            <a:pPr marL="698500" indent="-228600">
              <a:lnSpc>
                <a:spcPts val="1860"/>
              </a:lnSpc>
              <a:buAutoNum type="arabicPeriod" startAt="4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Take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immediate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action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your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system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10">
                <a:latin typeface="Calibri"/>
                <a:cs typeface="Calibri"/>
              </a:rPr>
              <a:t> infected.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Arial"/>
                <a:cs typeface="Arial"/>
              </a:rPr>
              <a:t>Attack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vector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8087995" cy="9702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54330" marR="5080" indent="-342265">
              <a:lnSpc>
                <a:spcPct val="114999"/>
              </a:lnSpc>
              <a:spcBef>
                <a:spcPts val="85"/>
              </a:spcBef>
              <a:buFont typeface="Microsoft Sans Serif"/>
              <a:buChar char="●"/>
              <a:tabLst>
                <a:tab pos="354330" algn="l"/>
              </a:tabLst>
            </a:pP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An</a:t>
            </a:r>
            <a:r>
              <a:rPr dirty="0" sz="1800" spc="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attack</a:t>
            </a:r>
            <a:r>
              <a:rPr dirty="0" sz="1800" spc="-5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vector</a:t>
            </a:r>
            <a:r>
              <a:rPr dirty="0" sz="1800" spc="-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is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dirty="0" sz="18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path,</a:t>
            </a:r>
            <a:r>
              <a:rPr dirty="0" sz="18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method,</a:t>
            </a:r>
            <a:r>
              <a:rPr dirty="0" sz="1800" spc="-6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or</a:t>
            </a:r>
            <a:r>
              <a:rPr dirty="0" sz="1800" spc="-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technique</a:t>
            </a:r>
            <a:r>
              <a:rPr dirty="0" sz="1800" spc="-5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that</a:t>
            </a:r>
            <a:r>
              <a:rPr dirty="0" sz="1800" spc="-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</a:t>
            </a:r>
            <a:r>
              <a:rPr dirty="0" sz="18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cyber</a:t>
            </a:r>
            <a:r>
              <a:rPr dirty="0" sz="1800" spc="5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attacker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uses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to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gain</a:t>
            </a:r>
            <a:r>
              <a:rPr dirty="0" sz="1800" spc="-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unauthorized</a:t>
            </a:r>
            <a:r>
              <a:rPr dirty="0" sz="1800" spc="-5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access</a:t>
            </a:r>
            <a:r>
              <a:rPr dirty="0" sz="1800" spc="-4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to</a:t>
            </a:r>
            <a:r>
              <a:rPr dirty="0" sz="1800" spc="-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computer</a:t>
            </a:r>
            <a:r>
              <a:rPr dirty="0" sz="18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system,</a:t>
            </a:r>
            <a:r>
              <a:rPr dirty="0" sz="1800" spc="4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network,</a:t>
            </a:r>
            <a:r>
              <a:rPr dirty="0" sz="1800" spc="-6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or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application</a:t>
            </a:r>
            <a:r>
              <a:rPr dirty="0" sz="1800" spc="-5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in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order</a:t>
            </a:r>
            <a:r>
              <a:rPr dirty="0" sz="1800" spc="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to</a:t>
            </a:r>
            <a:r>
              <a:rPr dirty="0" sz="1800" spc="-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steal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data,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spread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malware,</a:t>
            </a:r>
            <a:r>
              <a:rPr dirty="0" sz="1800" spc="-8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or</a:t>
            </a:r>
            <a:r>
              <a:rPr dirty="0" sz="1800" spc="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disrupt</a:t>
            </a:r>
            <a:r>
              <a:rPr dirty="0" sz="1800" spc="-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Arial"/>
                <a:cs typeface="Arial"/>
              </a:rPr>
              <a:t>Common</a:t>
            </a:r>
            <a:r>
              <a:rPr dirty="0" spc="-8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Attack </a:t>
            </a:r>
            <a:r>
              <a:rPr dirty="0" spc="-10" b="1">
                <a:latin typeface="Arial"/>
                <a:cs typeface="Arial"/>
              </a:rPr>
              <a:t>Vectors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79131" y="1283779"/>
          <a:ext cx="5317490" cy="3550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3710"/>
                <a:gridCol w="1743710"/>
                <a:gridCol w="1743710"/>
              </a:tblGrid>
              <a:tr h="155575">
                <a:tc>
                  <a:txBody>
                    <a:bodyPr/>
                    <a:lstStyle/>
                    <a:p>
                      <a:pPr marL="349250" indent="-34480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111111"/>
                        <a:buFont typeface="Symbol"/>
                        <a:buChar char=""/>
                        <a:tabLst>
                          <a:tab pos="34925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Attack</a:t>
                      </a:r>
                      <a:r>
                        <a:rPr dirty="0" sz="9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Vector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 indent="-34480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111111"/>
                        <a:buFont typeface="Symbol"/>
                        <a:buChar char=""/>
                        <a:tabLst>
                          <a:tab pos="349885" algn="l"/>
                        </a:tabLst>
                      </a:pP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Description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0520" indent="-34480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111111"/>
                        <a:buFont typeface="Symbol"/>
                        <a:buChar char=""/>
                        <a:tabLst>
                          <a:tab pos="350520" algn="l"/>
                        </a:tabLst>
                      </a:pP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Example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5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49250" indent="-344805">
                        <a:lnSpc>
                          <a:spcPct val="100000"/>
                        </a:lnSpc>
                        <a:buSzPct val="111111"/>
                        <a:buFont typeface="Symbol"/>
                        <a:buChar char=""/>
                        <a:tabLst>
                          <a:tab pos="349250" algn="l"/>
                        </a:tabLst>
                      </a:pP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Phishing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95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 indent="-34480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111111"/>
                        <a:buFont typeface="Symbol"/>
                        <a:buChar char=""/>
                        <a:tabLst>
                          <a:tab pos="349885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Fake emails</a:t>
                      </a:r>
                      <a:r>
                        <a:rPr dirty="0" sz="9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 messages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49885" marR="423545">
                        <a:lnSpc>
                          <a:spcPct val="106700"/>
                        </a:lnSpc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that</a:t>
                      </a:r>
                      <a:r>
                        <a:rPr dirty="0" sz="9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trick</a:t>
                      </a:r>
                      <a:r>
                        <a:rPr dirty="0" sz="9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users</a:t>
                      </a:r>
                      <a:r>
                        <a:rPr dirty="0" sz="9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into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revealing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sensitive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498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information.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50520" indent="-344805">
                        <a:lnSpc>
                          <a:spcPct val="100000"/>
                        </a:lnSpc>
                        <a:buSzPct val="111111"/>
                        <a:buFont typeface="Symbol"/>
                        <a:buChar char=""/>
                        <a:tabLst>
                          <a:tab pos="35052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Fake</a:t>
                      </a:r>
                      <a:r>
                        <a:rPr dirty="0" sz="9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bank</a:t>
                      </a:r>
                      <a:r>
                        <a:rPr dirty="0" sz="9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login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 email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895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49250" indent="-344805">
                        <a:lnSpc>
                          <a:spcPct val="100000"/>
                        </a:lnSpc>
                        <a:buSzPct val="111111"/>
                        <a:buFont typeface="Symbol"/>
                        <a:buChar char=""/>
                        <a:tabLst>
                          <a:tab pos="34925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Weak</a:t>
                      </a:r>
                      <a:r>
                        <a:rPr dirty="0" sz="9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Passwords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0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 indent="-344805">
                        <a:lnSpc>
                          <a:spcPct val="100000"/>
                        </a:lnSpc>
                        <a:spcBef>
                          <a:spcPts val="495"/>
                        </a:spcBef>
                        <a:buSzPct val="111111"/>
                        <a:buFont typeface="Symbol"/>
                        <a:buChar char=""/>
                        <a:tabLst>
                          <a:tab pos="349885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Easy-to-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guess</a:t>
                      </a:r>
                      <a:r>
                        <a:rPr dirty="0" sz="9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passwords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498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allow</a:t>
                      </a:r>
                      <a:r>
                        <a:rPr dirty="0" sz="9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unauthorized</a:t>
                      </a:r>
                      <a:r>
                        <a:rPr dirty="0" sz="9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access.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28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50520" indent="-344805">
                        <a:lnSpc>
                          <a:spcPct val="100000"/>
                        </a:lnSpc>
                        <a:buSzPct val="111111"/>
                        <a:buFont typeface="Symbol"/>
                        <a:buChar char=""/>
                        <a:tabLst>
                          <a:tab pos="35052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Password:</a:t>
                      </a:r>
                      <a:r>
                        <a:rPr dirty="0" sz="9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"123456"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0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49250" indent="-344805">
                        <a:lnSpc>
                          <a:spcPct val="100000"/>
                        </a:lnSpc>
                        <a:buSzPct val="111111"/>
                        <a:buFont typeface="Symbol"/>
                        <a:buChar char=""/>
                        <a:tabLst>
                          <a:tab pos="349250" algn="l"/>
                        </a:tabLst>
                      </a:pP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Malware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2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 indent="-344805">
                        <a:lnSpc>
                          <a:spcPct val="106800"/>
                        </a:lnSpc>
                        <a:spcBef>
                          <a:spcPts val="405"/>
                        </a:spcBef>
                        <a:buSzPct val="111111"/>
                        <a:buFont typeface="Symbol"/>
                        <a:buChar char=""/>
                        <a:tabLst>
                          <a:tab pos="349885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Malicious</a:t>
                      </a:r>
                      <a:r>
                        <a:rPr dirty="0" sz="9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software</a:t>
                      </a:r>
                      <a:r>
                        <a:rPr dirty="0" sz="9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installed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through</a:t>
                      </a:r>
                      <a:r>
                        <a:rPr dirty="0" sz="9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downloads</a:t>
                      </a:r>
                      <a:r>
                        <a:rPr dirty="0" sz="9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25">
                          <a:latin typeface="Microsoft Sans Serif"/>
                          <a:cs typeface="Microsoft Sans Serif"/>
                        </a:rPr>
                        <a:t>or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attachments.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14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50520" indent="-344805">
                        <a:lnSpc>
                          <a:spcPct val="100000"/>
                        </a:lnSpc>
                        <a:buSzPct val="111111"/>
                        <a:buFont typeface="Symbol"/>
                        <a:buChar char=""/>
                        <a:tabLst>
                          <a:tab pos="35052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Opening</a:t>
                      </a:r>
                      <a:r>
                        <a:rPr dirty="0" sz="9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an</a:t>
                      </a:r>
                      <a:r>
                        <a:rPr dirty="0" sz="9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infected</a:t>
                      </a:r>
                      <a:r>
                        <a:rPr dirty="0" sz="9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email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505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attachment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25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marL="349250" indent="-344805">
                        <a:lnSpc>
                          <a:spcPct val="100000"/>
                        </a:lnSpc>
                        <a:spcBef>
                          <a:spcPts val="590"/>
                        </a:spcBef>
                        <a:buSzPct val="111111"/>
                        <a:buFont typeface="Symbol"/>
                        <a:buChar char=""/>
                        <a:tabLst>
                          <a:tab pos="34925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Software</a:t>
                      </a:r>
                      <a:r>
                        <a:rPr dirty="0" sz="9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Vulnerabilities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49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 indent="-344805">
                        <a:lnSpc>
                          <a:spcPct val="100000"/>
                        </a:lnSpc>
                        <a:spcBef>
                          <a:spcPts val="10"/>
                        </a:spcBef>
                        <a:buSzPct val="111111"/>
                        <a:buFont typeface="Symbol"/>
                        <a:buChar char=""/>
                        <a:tabLst>
                          <a:tab pos="349885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Exploiting</a:t>
                      </a:r>
                      <a:r>
                        <a:rPr dirty="0" sz="9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bugs</a:t>
                      </a:r>
                      <a:r>
                        <a:rPr dirty="0" sz="900" spc="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dirty="0" sz="9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outdated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498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software.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0520" indent="-344805">
                        <a:lnSpc>
                          <a:spcPct val="100000"/>
                        </a:lnSpc>
                        <a:spcBef>
                          <a:spcPts val="10"/>
                        </a:spcBef>
                        <a:buSzPct val="111111"/>
                        <a:buFont typeface="Symbol"/>
                        <a:buChar char=""/>
                        <a:tabLst>
                          <a:tab pos="35052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Attacking</a:t>
                      </a:r>
                      <a:r>
                        <a:rPr dirty="0" sz="9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an</a:t>
                      </a:r>
                      <a:r>
                        <a:rPr dirty="0" sz="9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unpatched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505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operating</a:t>
                      </a:r>
                      <a:r>
                        <a:rPr dirty="0" sz="9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system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49250" indent="-344805">
                        <a:lnSpc>
                          <a:spcPct val="100000"/>
                        </a:lnSpc>
                        <a:buSzPct val="111111"/>
                        <a:buFont typeface="Symbol"/>
                        <a:buChar char=""/>
                        <a:tabLst>
                          <a:tab pos="34925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Social</a:t>
                      </a:r>
                      <a:r>
                        <a:rPr dirty="0" sz="9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Engineering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 indent="-344805">
                        <a:lnSpc>
                          <a:spcPct val="100000"/>
                        </a:lnSpc>
                        <a:spcBef>
                          <a:spcPts val="15"/>
                        </a:spcBef>
                        <a:buSzPct val="111111"/>
                        <a:buFont typeface="Symbol"/>
                        <a:buChar char=""/>
                        <a:tabLst>
                          <a:tab pos="349885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Manipulating</a:t>
                      </a:r>
                      <a:r>
                        <a:rPr dirty="0" sz="900" spc="-6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people</a:t>
                      </a:r>
                      <a:r>
                        <a:rPr dirty="0" sz="9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into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49885" marR="302895">
                        <a:lnSpc>
                          <a:spcPct val="106700"/>
                        </a:lnSpc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revealing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confidential information.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50520" indent="-344805">
                        <a:lnSpc>
                          <a:spcPct val="100000"/>
                        </a:lnSpc>
                        <a:buSzPct val="111111"/>
                        <a:buFont typeface="Symbol"/>
                        <a:buChar char=""/>
                        <a:tabLst>
                          <a:tab pos="35052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Pretending</a:t>
                      </a:r>
                      <a:r>
                        <a:rPr dirty="0" sz="9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dirty="0" sz="9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be</a:t>
                      </a:r>
                      <a:r>
                        <a:rPr dirty="0" sz="9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IT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 support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49250" indent="-34480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111111"/>
                        <a:buFont typeface="Symbol"/>
                        <a:buChar char=""/>
                        <a:tabLst>
                          <a:tab pos="34925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Insider</a:t>
                      </a:r>
                      <a:r>
                        <a:rPr dirty="0" sz="9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Threats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71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 indent="-344805">
                        <a:lnSpc>
                          <a:spcPct val="100000"/>
                        </a:lnSpc>
                        <a:spcBef>
                          <a:spcPts val="15"/>
                        </a:spcBef>
                        <a:buSzPct val="111111"/>
                        <a:buFont typeface="Symbol"/>
                        <a:buChar char=""/>
                        <a:tabLst>
                          <a:tab pos="349885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Employees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intentionally</a:t>
                      </a:r>
                      <a:r>
                        <a:rPr dirty="0" sz="900" spc="-6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25">
                          <a:latin typeface="Microsoft Sans Serif"/>
                          <a:cs typeface="Microsoft Sans Serif"/>
                        </a:rPr>
                        <a:t>or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498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accidentally</a:t>
                      </a:r>
                      <a:r>
                        <a:rPr dirty="0" sz="900" spc="-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misuse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498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access.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0520" marR="446405" indent="-344805">
                        <a:lnSpc>
                          <a:spcPct val="106700"/>
                        </a:lnSpc>
                        <a:spcBef>
                          <a:spcPts val="525"/>
                        </a:spcBef>
                        <a:buSzPct val="111111"/>
                        <a:buFont typeface="Symbol"/>
                        <a:buChar char=""/>
                        <a:tabLst>
                          <a:tab pos="35052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Employee</a:t>
                      </a:r>
                      <a:r>
                        <a:rPr dirty="0" sz="9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copying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confidential</a:t>
                      </a:r>
                      <a:r>
                        <a:rPr dirty="0" sz="9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data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667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marL="349250" indent="-344805">
                        <a:lnSpc>
                          <a:spcPct val="100000"/>
                        </a:lnSpc>
                        <a:spcBef>
                          <a:spcPts val="595"/>
                        </a:spcBef>
                        <a:buSzPct val="111111"/>
                        <a:buFont typeface="Symbol"/>
                        <a:buChar char=""/>
                        <a:tabLst>
                          <a:tab pos="34925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USB</a:t>
                      </a:r>
                      <a:r>
                        <a:rPr dirty="0" sz="9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Devices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55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 indent="-344805">
                        <a:lnSpc>
                          <a:spcPct val="100000"/>
                        </a:lnSpc>
                        <a:spcBef>
                          <a:spcPts val="20"/>
                        </a:spcBef>
                        <a:buSzPct val="111111"/>
                        <a:buFont typeface="Symbol"/>
                        <a:buChar char=""/>
                        <a:tabLst>
                          <a:tab pos="349885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Infected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USB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drives</a:t>
                      </a:r>
                      <a:r>
                        <a:rPr dirty="0" sz="9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spread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498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malware.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25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0520" indent="-344805">
                        <a:lnSpc>
                          <a:spcPct val="100000"/>
                        </a:lnSpc>
                        <a:spcBef>
                          <a:spcPts val="20"/>
                        </a:spcBef>
                        <a:buSzPct val="111111"/>
                        <a:buFont typeface="Symbol"/>
                        <a:buChar char=""/>
                        <a:tabLst>
                          <a:tab pos="35052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Plugging</a:t>
                      </a:r>
                      <a:r>
                        <a:rPr dirty="0" sz="9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dirty="0" sz="9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an</a:t>
                      </a:r>
                      <a:r>
                        <a:rPr dirty="0" sz="9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unknown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3505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USB</a:t>
                      </a:r>
                      <a:r>
                        <a:rPr dirty="0" sz="9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drive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25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marL="349250" indent="-344805">
                        <a:lnSpc>
                          <a:spcPct val="100000"/>
                        </a:lnSpc>
                        <a:spcBef>
                          <a:spcPts val="600"/>
                        </a:spcBef>
                        <a:buSzPct val="111111"/>
                        <a:buFont typeface="Symbol"/>
                        <a:buChar char=""/>
                        <a:tabLst>
                          <a:tab pos="34925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Misconfigured</a:t>
                      </a:r>
                      <a:r>
                        <a:rPr dirty="0" sz="9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Systems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620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 marR="85725" indent="-344805">
                        <a:lnSpc>
                          <a:spcPts val="1150"/>
                        </a:lnSpc>
                        <a:buSzPct val="111111"/>
                        <a:buFont typeface="Symbol"/>
                        <a:buChar char=""/>
                        <a:tabLst>
                          <a:tab pos="349885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Incorrect</a:t>
                      </a:r>
                      <a:r>
                        <a:rPr dirty="0" sz="9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security</a:t>
                      </a:r>
                      <a:r>
                        <a:rPr dirty="0" sz="9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settings </a:t>
                      </a:r>
                      <a:r>
                        <a:rPr dirty="0" sz="900">
                          <a:latin typeface="Microsoft Sans Serif"/>
                          <a:cs typeface="Microsoft Sans Serif"/>
                        </a:rPr>
                        <a:t>expose</a:t>
                      </a:r>
                      <a:r>
                        <a:rPr dirty="0" sz="9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systems.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0520" marR="419100" indent="-344805">
                        <a:lnSpc>
                          <a:spcPts val="1150"/>
                        </a:lnSpc>
                        <a:buSzPct val="111111"/>
                        <a:buFont typeface="Symbol"/>
                        <a:buChar char=""/>
                        <a:tabLst>
                          <a:tab pos="350520" algn="l"/>
                        </a:tabLst>
                      </a:pPr>
                      <a:r>
                        <a:rPr dirty="0" sz="900">
                          <a:latin typeface="Microsoft Sans Serif"/>
                          <a:cs typeface="Microsoft Sans Serif"/>
                        </a:rPr>
                        <a:t>Publicly</a:t>
                      </a:r>
                      <a:r>
                        <a:rPr dirty="0" sz="9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10">
                          <a:latin typeface="Microsoft Sans Serif"/>
                          <a:cs typeface="Microsoft Sans Serif"/>
                        </a:rPr>
                        <a:t>accessible database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Arial"/>
                <a:cs typeface="Arial"/>
              </a:rPr>
              <a:t>How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Attack</a:t>
            </a:r>
            <a:r>
              <a:rPr dirty="0" spc="5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Vector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02030"/>
            <a:ext cx="7218045" cy="160147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409"/>
              </a:spcBef>
              <a:buFont typeface="Microsoft Sans Serif"/>
              <a:buChar char="●"/>
              <a:tabLst>
                <a:tab pos="353695" algn="l"/>
              </a:tabLst>
            </a:pP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dirty="0" sz="18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attacker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identifies</a:t>
            </a:r>
            <a:r>
              <a:rPr dirty="0" sz="18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weakness.</a:t>
            </a:r>
            <a:endParaRPr sz="18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Font typeface="Microsoft Sans Serif"/>
              <a:buChar char="●"/>
              <a:tabLst>
                <a:tab pos="353695" algn="l"/>
              </a:tabLst>
            </a:pP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attacker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selects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an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attack</a:t>
            </a:r>
            <a:r>
              <a:rPr dirty="0" sz="18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vector.</a:t>
            </a:r>
            <a:endParaRPr sz="18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Font typeface="Microsoft Sans Serif"/>
              <a:buChar char="●"/>
              <a:tabLst>
                <a:tab pos="353695" algn="l"/>
              </a:tabLst>
            </a:pP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attacker</a:t>
            </a:r>
            <a:r>
              <a:rPr dirty="0" sz="18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exploits</a:t>
            </a:r>
            <a:r>
              <a:rPr dirty="0" sz="18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 weakness.</a:t>
            </a:r>
            <a:endParaRPr sz="18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310"/>
              </a:spcBef>
              <a:buFont typeface="Microsoft Sans Serif"/>
              <a:buChar char="●"/>
              <a:tabLst>
                <a:tab pos="353695" algn="l"/>
              </a:tabLst>
            </a:pP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attacker</a:t>
            </a:r>
            <a:r>
              <a:rPr dirty="0" sz="18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gains</a:t>
            </a:r>
            <a:r>
              <a:rPr dirty="0" sz="1800" spc="-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unauthorized</a:t>
            </a:r>
            <a:r>
              <a:rPr dirty="0" sz="18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access.</a:t>
            </a:r>
            <a:endParaRPr sz="18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340"/>
              </a:spcBef>
              <a:buFont typeface="Microsoft Sans Serif"/>
              <a:buChar char="●"/>
              <a:tabLst>
                <a:tab pos="353695" algn="l"/>
              </a:tabLst>
            </a:pP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dirty="0" sz="1800" spc="-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attacker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steals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data,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installs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malware,</a:t>
            </a:r>
            <a:r>
              <a:rPr dirty="0" sz="1800" spc="-5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or</a:t>
            </a:r>
            <a:r>
              <a:rPr dirty="0" sz="18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disrupts </a:t>
            </a:r>
            <a:r>
              <a:rPr dirty="0" sz="1800" spc="-10" b="1">
                <a:solidFill>
                  <a:srgbClr val="585858"/>
                </a:solidFill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6212" y="164033"/>
            <a:ext cx="2091689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Cloud</a:t>
            </a:r>
            <a:r>
              <a:rPr dirty="0" spc="-30">
                <a:latin typeface="Microsoft Sans Serif"/>
                <a:cs typeface="Microsoft Sans Serif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1983" y="590168"/>
            <a:ext cx="8474075" cy="38912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20"/>
              </a:lnSpc>
              <a:spcBef>
                <a:spcPts val="110"/>
              </a:spcBef>
            </a:pPr>
            <a:r>
              <a:rPr dirty="0" sz="1500">
                <a:latin typeface="Calibri"/>
                <a:cs typeface="Calibri"/>
              </a:rPr>
              <a:t>Cloud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computing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services,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while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offering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considerable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benefits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cost</a:t>
            </a:r>
            <a:r>
              <a:rPr dirty="0" sz="1500" spc="-7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savings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makes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easier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for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440"/>
              </a:lnSpc>
            </a:pPr>
            <a:r>
              <a:rPr dirty="0" sz="1500">
                <a:latin typeface="Calibri"/>
                <a:cs typeface="Calibri"/>
              </a:rPr>
              <a:t>cybercriminals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attack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these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systems.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440"/>
              </a:lnSpc>
            </a:pPr>
            <a:r>
              <a:rPr dirty="0" sz="1500">
                <a:latin typeface="Calibri"/>
                <a:cs typeface="Calibri"/>
              </a:rPr>
              <a:t>Cloud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computing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Internet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(“cloud”)-</a:t>
            </a:r>
            <a:r>
              <a:rPr dirty="0" sz="1500">
                <a:latin typeface="Calibri"/>
                <a:cs typeface="Calibri"/>
              </a:rPr>
              <a:t>based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development and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use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 computer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technology</a:t>
            </a:r>
            <a:r>
              <a:rPr dirty="0" sz="1500" spc="-7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(“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computing”).</a:t>
            </a:r>
            <a:endParaRPr sz="1500">
              <a:latin typeface="Calibri"/>
              <a:cs typeface="Calibri"/>
            </a:endParaRPr>
          </a:p>
          <a:p>
            <a:pPr marL="55244">
              <a:lnSpc>
                <a:spcPts val="1440"/>
              </a:lnSpc>
            </a:pP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cloud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service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has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three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distinct</a:t>
            </a:r>
            <a:r>
              <a:rPr dirty="0" sz="1500" spc="-10">
                <a:latin typeface="Calibri"/>
                <a:cs typeface="Calibri"/>
              </a:rPr>
              <a:t> characteristics</a:t>
            </a:r>
            <a:r>
              <a:rPr dirty="0" sz="1500" spc="-7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which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differentiate</a:t>
            </a:r>
            <a:r>
              <a:rPr dirty="0" sz="1500" spc="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from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traditional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440"/>
              </a:lnSpc>
            </a:pPr>
            <a:r>
              <a:rPr dirty="0" sz="1500" spc="-10">
                <a:latin typeface="Calibri"/>
                <a:cs typeface="Calibri"/>
              </a:rPr>
              <a:t>hosting:</a:t>
            </a:r>
            <a:endParaRPr sz="1500">
              <a:latin typeface="Calibri"/>
              <a:cs typeface="Calibri"/>
            </a:endParaRPr>
          </a:p>
          <a:p>
            <a:pPr marL="356870" indent="-335280">
              <a:lnSpc>
                <a:spcPts val="1440"/>
              </a:lnSpc>
              <a:buAutoNum type="arabicPeriod"/>
              <a:tabLst>
                <a:tab pos="356870" algn="l"/>
              </a:tabLst>
            </a:pP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 sold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on</a:t>
            </a:r>
            <a:r>
              <a:rPr dirty="0" sz="1500" spc="-10">
                <a:latin typeface="Calibri"/>
                <a:cs typeface="Calibri"/>
              </a:rPr>
              <a:t> demand</a:t>
            </a:r>
            <a:endParaRPr sz="1500">
              <a:latin typeface="Calibri"/>
              <a:cs typeface="Calibri"/>
            </a:endParaRPr>
          </a:p>
          <a:p>
            <a:pPr marL="356870" indent="-335280">
              <a:lnSpc>
                <a:spcPts val="1440"/>
              </a:lnSpc>
              <a:buAutoNum type="arabicPeriod"/>
              <a:tabLst>
                <a:tab pos="356870" algn="l"/>
              </a:tabLst>
            </a:pP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</a:t>
            </a:r>
            <a:r>
              <a:rPr dirty="0" sz="1500" spc="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elastic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terms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usage</a:t>
            </a:r>
            <a:endParaRPr sz="1500">
              <a:latin typeface="Calibri"/>
              <a:cs typeface="Calibri"/>
            </a:endParaRPr>
          </a:p>
          <a:p>
            <a:pPr marL="356870" indent="-335280">
              <a:lnSpc>
                <a:spcPts val="1620"/>
              </a:lnSpc>
              <a:buAutoNum type="arabicPeriod"/>
              <a:tabLst>
                <a:tab pos="356870" algn="l"/>
              </a:tabLst>
            </a:pP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service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fully</a:t>
            </a:r>
            <a:r>
              <a:rPr dirty="0" sz="1500" spc="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managed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by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provider.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700" spc="-10" b="1">
                <a:latin typeface="Calibri"/>
                <a:cs typeface="Calibri"/>
              </a:rPr>
              <a:t>Advantages</a:t>
            </a:r>
            <a:r>
              <a:rPr dirty="0" sz="1700" spc="-70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of</a:t>
            </a:r>
            <a:r>
              <a:rPr dirty="0" sz="1700" spc="25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Cloud</a:t>
            </a:r>
            <a:r>
              <a:rPr dirty="0" sz="1700" spc="10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Computing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864"/>
              </a:lnSpc>
              <a:spcBef>
                <a:spcPts val="265"/>
              </a:spcBef>
            </a:pPr>
            <a:r>
              <a:rPr dirty="0" sz="1700">
                <a:latin typeface="Calibri"/>
                <a:cs typeface="Calibri"/>
              </a:rPr>
              <a:t>Cloud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computing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has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following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advantages:</a:t>
            </a:r>
            <a:endParaRPr sz="1700">
              <a:latin typeface="Calibri"/>
              <a:cs typeface="Calibri"/>
            </a:endParaRPr>
          </a:p>
          <a:p>
            <a:pPr lvl="1" marL="654685" indent="-184785">
              <a:lnSpc>
                <a:spcPts val="1445"/>
              </a:lnSpc>
              <a:buAutoNum type="arabicPeriod"/>
              <a:tabLst>
                <a:tab pos="654685" algn="l"/>
              </a:tabLst>
            </a:pPr>
            <a:r>
              <a:rPr dirty="0" sz="1500">
                <a:latin typeface="Calibri"/>
                <a:cs typeface="Calibri"/>
              </a:rPr>
              <a:t>Applications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data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can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accessed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from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anywhere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any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time.</a:t>
            </a:r>
            <a:endParaRPr sz="1500">
              <a:latin typeface="Calibri"/>
              <a:cs typeface="Calibri"/>
            </a:endParaRPr>
          </a:p>
          <a:p>
            <a:pPr lvl="1" marL="654685" indent="-184785">
              <a:lnSpc>
                <a:spcPts val="1440"/>
              </a:lnSpc>
              <a:buAutoNum type="arabicPeriod"/>
              <a:tabLst>
                <a:tab pos="654685" algn="l"/>
              </a:tabLst>
            </a:pP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could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bring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hardware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costs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down.</a:t>
            </a:r>
            <a:endParaRPr sz="1500">
              <a:latin typeface="Calibri"/>
              <a:cs typeface="Calibri"/>
            </a:endParaRPr>
          </a:p>
          <a:p>
            <a:pPr lvl="1" marL="654685" indent="-184785">
              <a:lnSpc>
                <a:spcPts val="1440"/>
              </a:lnSpc>
              <a:buAutoNum type="arabicPeriod"/>
              <a:tabLst>
                <a:tab pos="654685" algn="l"/>
              </a:tabLst>
            </a:pPr>
            <a:r>
              <a:rPr dirty="0" sz="1500">
                <a:latin typeface="Calibri"/>
                <a:cs typeface="Calibri"/>
              </a:rPr>
              <a:t>Organizations</a:t>
            </a:r>
            <a:r>
              <a:rPr dirty="0" sz="1500" spc="-7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do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not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have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buy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set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software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or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software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licenses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for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every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employee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the</a:t>
            </a:r>
            <a:endParaRPr sz="1500">
              <a:latin typeface="Calibri"/>
              <a:cs typeface="Calibri"/>
            </a:endParaRPr>
          </a:p>
          <a:p>
            <a:pPr marL="469900">
              <a:lnSpc>
                <a:spcPts val="1440"/>
              </a:lnSpc>
            </a:pPr>
            <a:r>
              <a:rPr dirty="0" sz="1500">
                <a:latin typeface="Calibri"/>
                <a:cs typeface="Calibri"/>
              </a:rPr>
              <a:t>organizations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could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pay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3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fee</a:t>
            </a:r>
            <a:r>
              <a:rPr dirty="0" sz="1500" spc="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cloud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computing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company.</a:t>
            </a:r>
            <a:endParaRPr sz="1500">
              <a:latin typeface="Calibri"/>
              <a:cs typeface="Calibri"/>
            </a:endParaRPr>
          </a:p>
          <a:p>
            <a:pPr lvl="1" marL="469900" marR="5080" indent="184785">
              <a:lnSpc>
                <a:spcPct val="80000"/>
              </a:lnSpc>
              <a:spcBef>
                <a:spcPts val="180"/>
              </a:spcBef>
              <a:buAutoNum type="arabicPeriod" startAt="4"/>
              <a:tabLst>
                <a:tab pos="654685" algn="l"/>
              </a:tabLst>
            </a:pPr>
            <a:r>
              <a:rPr dirty="0" sz="1500">
                <a:latin typeface="Calibri"/>
                <a:cs typeface="Calibri"/>
              </a:rPr>
              <a:t>Organizations</a:t>
            </a:r>
            <a:r>
              <a:rPr dirty="0" sz="1500" spc="-7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do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not have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rent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physical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space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store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servers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databases.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Servers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10">
                <a:latin typeface="Calibri"/>
                <a:cs typeface="Calibri"/>
              </a:rPr>
              <a:t> digital </a:t>
            </a:r>
            <a:r>
              <a:rPr dirty="0" sz="1500">
                <a:latin typeface="Calibri"/>
                <a:cs typeface="Calibri"/>
              </a:rPr>
              <a:t>storage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devices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take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up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space.</a:t>
            </a:r>
            <a:endParaRPr sz="1500">
              <a:latin typeface="Calibri"/>
              <a:cs typeface="Calibri"/>
            </a:endParaRPr>
          </a:p>
          <a:p>
            <a:pPr lvl="1" marL="654685" indent="-184785">
              <a:lnSpc>
                <a:spcPts val="1260"/>
              </a:lnSpc>
              <a:buAutoNum type="arabicPeriod" startAt="4"/>
              <a:tabLst>
                <a:tab pos="654685" algn="l"/>
              </a:tabLst>
            </a:pPr>
            <a:r>
              <a:rPr dirty="0" sz="1500">
                <a:latin typeface="Calibri"/>
                <a:cs typeface="Calibri"/>
              </a:rPr>
              <a:t>Organizations</a:t>
            </a:r>
            <a:r>
              <a:rPr dirty="0" sz="1500" spc="-8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would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able to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save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money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on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support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because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organizations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will</a:t>
            </a:r>
            <a:r>
              <a:rPr dirty="0" sz="1500" spc="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have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ensure</a:t>
            </a:r>
            <a:endParaRPr sz="1500">
              <a:latin typeface="Calibri"/>
              <a:cs typeface="Calibri"/>
            </a:endParaRPr>
          </a:p>
          <a:p>
            <a:pPr marL="469900" marR="412750">
              <a:lnSpc>
                <a:spcPts val="1440"/>
              </a:lnSpc>
              <a:spcBef>
                <a:spcPts val="170"/>
              </a:spcBef>
            </a:pPr>
            <a:r>
              <a:rPr dirty="0" sz="1500">
                <a:latin typeface="Calibri"/>
                <a:cs typeface="Calibri"/>
              </a:rPr>
              <a:t>about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desktop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(i.e.,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client)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continuous</a:t>
            </a:r>
            <a:r>
              <a:rPr dirty="0" sz="1500" spc="-6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Internet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connectivity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instead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servers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other hardware.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472820"/>
            <a:ext cx="7332345" cy="2496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either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private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public.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ts val="1910"/>
              </a:lnSpc>
              <a:spcBef>
                <a:spcPts val="25"/>
              </a:spcBef>
              <a:buFont typeface="Segoe UI Symbol"/>
              <a:buChar char="⮚"/>
              <a:tabLst>
                <a:tab pos="298450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public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sells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anyone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Internet.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ts val="1910"/>
              </a:lnSpc>
              <a:buFont typeface="Segoe UI Symbol"/>
              <a:buChar char="⮚"/>
              <a:tabLst>
                <a:tab pos="299085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private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like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proprietary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network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center that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supplies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hosted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limited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number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people.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1800" b="1">
                <a:latin typeface="Calibri"/>
                <a:cs typeface="Calibri"/>
              </a:rPr>
              <a:t>Types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Services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provided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computing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follows: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Infrastructure-as-</a:t>
            </a:r>
            <a:r>
              <a:rPr dirty="0" sz="1600">
                <a:latin typeface="Calibri"/>
                <a:cs typeface="Calibri"/>
              </a:rPr>
              <a:t>a-service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(IaaS)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ts val="1910"/>
              </a:lnSpc>
              <a:buAutoNum type="arabicPeriod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Platform-</a:t>
            </a:r>
            <a:r>
              <a:rPr dirty="0" sz="1600">
                <a:latin typeface="Calibri"/>
                <a:cs typeface="Calibri"/>
              </a:rPr>
              <a:t>as-a-</a:t>
            </a:r>
            <a:r>
              <a:rPr dirty="0" sz="1600" spc="-10">
                <a:latin typeface="Calibri"/>
                <a:cs typeface="Calibri"/>
              </a:rPr>
              <a:t>service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(PaaS)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ts val="1910"/>
              </a:lnSpc>
              <a:buAutoNum type="arabicPeriod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Software-</a:t>
            </a:r>
            <a:r>
              <a:rPr dirty="0" sz="1600">
                <a:latin typeface="Calibri"/>
                <a:cs typeface="Calibri"/>
              </a:rPr>
              <a:t>as-a-service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(SaaS)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91" y="94486"/>
            <a:ext cx="8033982" cy="500142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8540" y="1156461"/>
            <a:ext cx="3559810" cy="3295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latin typeface="Calibri"/>
                <a:cs typeface="Calibri"/>
              </a:rPr>
              <a:t>Cybercrime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Computing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540" y="1643837"/>
            <a:ext cx="5894070" cy="512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910"/>
              </a:lnSpc>
              <a:spcBef>
                <a:spcPts val="110"/>
              </a:spcBef>
            </a:pPr>
            <a:r>
              <a:rPr dirty="0" sz="1600">
                <a:latin typeface="Calibri"/>
                <a:cs typeface="Calibri"/>
              </a:rPr>
              <a:t>Prime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area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risk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computing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protection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0"/>
              </a:lnSpc>
            </a:pPr>
            <a:r>
              <a:rPr dirty="0" sz="1600">
                <a:latin typeface="Calibri"/>
                <a:cs typeface="Calibri"/>
              </a:rPr>
              <a:t>Table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shows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major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areas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concerns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domain.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390143"/>
            <a:ext cx="8192021" cy="459798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727" y="533399"/>
            <a:ext cx="7305340" cy="412507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Course</a:t>
            </a:r>
            <a:r>
              <a:rPr dirty="0" spc="-105"/>
              <a:t> </a:t>
            </a:r>
            <a:r>
              <a:rPr dirty="0"/>
              <a:t>Outcomes</a:t>
            </a:r>
            <a:r>
              <a:rPr dirty="0" spc="-120"/>
              <a:t> </a:t>
            </a:r>
            <a:r>
              <a:rPr dirty="0" spc="-20"/>
              <a:t>(COs)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374" y="1241297"/>
            <a:ext cx="7179309" cy="754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Upon completion</a:t>
            </a:r>
            <a:r>
              <a:rPr dirty="0" sz="1800" spc="-7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course</a:t>
            </a:r>
            <a:r>
              <a:rPr dirty="0" sz="18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the students</a:t>
            </a:r>
            <a:r>
              <a:rPr dirty="0" sz="18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will</a:t>
            </a:r>
            <a:r>
              <a:rPr dirty="0" sz="1800" spc="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be</a:t>
            </a:r>
            <a:r>
              <a:rPr dirty="0" sz="1800" spc="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able</a:t>
            </a:r>
            <a:r>
              <a:rPr dirty="0" sz="1800" spc="-25">
                <a:solidFill>
                  <a:srgbClr val="585858"/>
                </a:solidFill>
                <a:latin typeface="Microsoft Sans Serif"/>
                <a:cs typeface="Microsoft Sans Serif"/>
              </a:rPr>
              <a:t> to</a:t>
            </a:r>
            <a:endParaRPr sz="1800">
              <a:latin typeface="Microsoft Sans Serif"/>
              <a:cs typeface="Microsoft Sans Serif"/>
            </a:endParaRPr>
          </a:p>
          <a:p>
            <a:pPr marL="353695" indent="-340995">
              <a:lnSpc>
                <a:spcPct val="100000"/>
              </a:lnSpc>
              <a:spcBef>
                <a:spcPts val="1415"/>
              </a:spcBef>
              <a:buFont typeface="Microsoft Sans Serif"/>
              <a:buChar char="●"/>
              <a:tabLst>
                <a:tab pos="353695" algn="l"/>
              </a:tabLst>
            </a:pP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analyze</a:t>
            </a:r>
            <a:r>
              <a:rPr dirty="0" sz="1800" spc="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cyber</a:t>
            </a:r>
            <a:r>
              <a:rPr dirty="0" sz="1800" spc="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offences</a:t>
            </a:r>
            <a:r>
              <a:rPr dirty="0" sz="1800" spc="-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-2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implement</a:t>
            </a:r>
            <a:r>
              <a:rPr dirty="0" sz="1800" spc="-9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85858"/>
                </a:solidFill>
                <a:latin typeface="Microsoft Sans Serif"/>
                <a:cs typeface="Microsoft Sans Serif"/>
              </a:rPr>
              <a:t>effective</a:t>
            </a:r>
            <a:r>
              <a:rPr dirty="0" sz="1800" spc="-4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585858"/>
                </a:solidFill>
                <a:latin typeface="Microsoft Sans Serif"/>
                <a:cs typeface="Microsoft Sans Serif"/>
              </a:rPr>
              <a:t>countermeasures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2026-08-17T07:57:53Z</dcterms:created>
  <dcterms:modified xsi:type="dcterms:W3CDTF">2026-08-17T07:57:53Z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2026-08-07T00:00:00Z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2026-08-17T00:00:00Z</vt:filetime>
  </property>
  <property fmtid="{D5CDD505-2E9C-101B-9397-08002B2CF9AE}" pid="6" name="Producer">
    <vt:lpwstr>www.ilovepdf.com</vt:lpwstr>
  </property>
</Properties>
</file>