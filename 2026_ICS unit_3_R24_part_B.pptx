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58"/>
  </p:notesMasterIdLst>
  <p:sldIdLst>
    <p:sldId id="451" r:id="rId2"/>
    <p:sldId id="256" r:id="rId3"/>
    <p:sldId id="257" r:id="rId4"/>
    <p:sldId id="463" r:id="rId5"/>
    <p:sldId id="258" r:id="rId6"/>
    <p:sldId id="464" r:id="rId7"/>
    <p:sldId id="465" r:id="rId8"/>
    <p:sldId id="466" r:id="rId9"/>
    <p:sldId id="467" r:id="rId10"/>
    <p:sldId id="468" r:id="rId11"/>
    <p:sldId id="469" r:id="rId12"/>
    <p:sldId id="470" r:id="rId13"/>
    <p:sldId id="471" r:id="rId14"/>
    <p:sldId id="358" r:id="rId15"/>
    <p:sldId id="282" r:id="rId16"/>
    <p:sldId id="359" r:id="rId17"/>
    <p:sldId id="362" r:id="rId18"/>
    <p:sldId id="472" r:id="rId19"/>
    <p:sldId id="473" r:id="rId20"/>
    <p:sldId id="360" r:id="rId21"/>
    <p:sldId id="479" r:id="rId22"/>
    <p:sldId id="480" r:id="rId23"/>
    <p:sldId id="481" r:id="rId24"/>
    <p:sldId id="482" r:id="rId25"/>
    <p:sldId id="483" r:id="rId26"/>
    <p:sldId id="484" r:id="rId27"/>
    <p:sldId id="485" r:id="rId28"/>
    <p:sldId id="486" r:id="rId29"/>
    <p:sldId id="487" r:id="rId30"/>
    <p:sldId id="488" r:id="rId31"/>
    <p:sldId id="489" r:id="rId32"/>
    <p:sldId id="490" r:id="rId33"/>
    <p:sldId id="491" r:id="rId34"/>
    <p:sldId id="492" r:id="rId35"/>
    <p:sldId id="493" r:id="rId36"/>
    <p:sldId id="494" r:id="rId37"/>
    <p:sldId id="495" r:id="rId38"/>
    <p:sldId id="496" r:id="rId39"/>
    <p:sldId id="497" r:id="rId40"/>
    <p:sldId id="498" r:id="rId41"/>
    <p:sldId id="499" r:id="rId42"/>
    <p:sldId id="500" r:id="rId43"/>
    <p:sldId id="501" r:id="rId44"/>
    <p:sldId id="502" r:id="rId45"/>
    <p:sldId id="503" r:id="rId46"/>
    <p:sldId id="504" r:id="rId47"/>
    <p:sldId id="505" r:id="rId48"/>
    <p:sldId id="506" r:id="rId49"/>
    <p:sldId id="507" r:id="rId50"/>
    <p:sldId id="508" r:id="rId51"/>
    <p:sldId id="509" r:id="rId52"/>
    <p:sldId id="510" r:id="rId53"/>
    <p:sldId id="511" r:id="rId54"/>
    <p:sldId id="513" r:id="rId55"/>
    <p:sldId id="512" r:id="rId56"/>
    <p:sldId id="449" r:id="rId5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B7F7F7-D12E-4AE9-9629-C1C5CECE5D20}">
  <a:tblStyle styleId="{7BB7F7F7-D12E-4AE9-9629-C1C5CECE5D20}"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varScale="1">
        <p:scale>
          <a:sx n="99" d="100"/>
          <a:sy n="99" d="100"/>
        </p:scale>
        <p:origin x="1061" y="7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62863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normAutofit/>
          </a:bodyPr>
          <a:lstStyle/>
          <a:p>
            <a:r>
              <a:rPr lang="en-US" dirty="0"/>
              <a:t>https://help.deepsecurity.trendmicro.com/10/0/Protection-Modules/Firewall/create-firewall-rules.html</a:t>
            </a:r>
          </a:p>
        </p:txBody>
      </p:sp>
      <p:sp>
        <p:nvSpPr>
          <p:cNvPr id="4" name="Slide Number Placeholder 3"/>
          <p:cNvSpPr>
            <a:spLocks noGrp="1"/>
          </p:cNvSpPr>
          <p:nvPr>
            <p:ph type="sldNum" sz="quarter" idx="10"/>
          </p:nvPr>
        </p:nvSpPr>
        <p:spPr/>
        <p:txBody>
          <a:bodyPr/>
          <a:lstStyle/>
          <a:p>
            <a:fld id="{6FF44C2F-19AD-4A9C-B075-1231F72F5DF8}" type="slidenum">
              <a:rPr lang="en-US" smtClean="0"/>
              <a:pPr/>
              <a:t>9</a:t>
            </a:fld>
            <a:endParaRPr lang="en-US"/>
          </a:p>
        </p:txBody>
      </p:sp>
    </p:spTree>
    <p:extLst>
      <p:ext uri="{BB962C8B-B14F-4D97-AF65-F5344CB8AC3E}">
        <p14:creationId xmlns:p14="http://schemas.microsoft.com/office/powerpoint/2010/main" val="3584304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66331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9699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0092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701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3964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5734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2404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27143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37200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0403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58309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4186726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7/13/2026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1413721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checkpoint.com/cyber-hub/network-security/what-is-network-security/" TargetMode="External"/><Relationship Id="rId2" Type="http://schemas.openxmlformats.org/officeDocument/2006/relationships/hyperlink" Target="https://www.checkpoint.com/products/next-generation-firewall/" TargetMode="External"/><Relationship Id="rId1" Type="http://schemas.openxmlformats.org/officeDocument/2006/relationships/slideLayout" Target="../slideLayouts/slideLayout2.xml"/><Relationship Id="rId4" Type="http://schemas.openxmlformats.org/officeDocument/2006/relationships/hyperlink" Target="https://www.checkpoint.com/cyber-hub/network-security/firewall-as-a-service-fwaa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checkpoint.com/definitions/what-is-next-generation-firewall-ngfw/"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techtarget.com/searchsoftwarequality/definition/application-firewall" TargetMode="External"/><Relationship Id="rId2" Type="http://schemas.openxmlformats.org/officeDocument/2006/relationships/hyperlink" Target="https://www.techtarget.com/searchnetworking/definition/Application-layer" TargetMode="External"/><Relationship Id="rId1" Type="http://schemas.openxmlformats.org/officeDocument/2006/relationships/slideLayout" Target="../slideLayouts/slideLayout2.xml"/><Relationship Id="rId5" Type="http://schemas.openxmlformats.org/officeDocument/2006/relationships/hyperlink" Target="https://www.techtarget.com/searchnetworking/definition/network-traffic" TargetMode="External"/><Relationship Id="rId4" Type="http://schemas.openxmlformats.org/officeDocument/2006/relationships/hyperlink" Target="https://www.techtarget.com/whatis/definition/proxy-server"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8BF1D-D881-A26C-FC45-79D94BF37F6C}"/>
              </a:ext>
            </a:extLst>
          </p:cNvPr>
          <p:cNvSpPr>
            <a:spLocks noGrp="1"/>
          </p:cNvSpPr>
          <p:nvPr>
            <p:ph type="title"/>
          </p:nvPr>
        </p:nvSpPr>
        <p:spPr/>
        <p:txBody>
          <a:bodyPr>
            <a:normAutofit fontScale="90000"/>
          </a:bodyPr>
          <a:lstStyle/>
          <a:p>
            <a:r>
              <a:rPr lang="en-US" dirty="0"/>
              <a:t>UNIT 3</a:t>
            </a:r>
            <a:br>
              <a:rPr lang="en-US" dirty="0"/>
            </a:br>
            <a:r>
              <a:rPr lang="en-US" b="1" dirty="0"/>
              <a:t>Cyber Offences and Countermeasures</a:t>
            </a:r>
            <a:endParaRPr lang="en-IN" dirty="0"/>
          </a:p>
        </p:txBody>
      </p:sp>
      <p:pic>
        <p:nvPicPr>
          <p:cNvPr id="11" name="Picture 10">
            <a:extLst>
              <a:ext uri="{FF2B5EF4-FFF2-40B4-BE49-F238E27FC236}">
                <a16:creationId xmlns:a16="http://schemas.microsoft.com/office/drawing/2014/main" id="{DE334D21-A111-F96C-BCB2-5C8837D70190}"/>
              </a:ext>
            </a:extLst>
          </p:cNvPr>
          <p:cNvPicPr>
            <a:picLocks noChangeAspect="1"/>
          </p:cNvPicPr>
          <p:nvPr/>
        </p:nvPicPr>
        <p:blipFill>
          <a:blip r:embed="rId3"/>
          <a:stretch>
            <a:fillRect/>
          </a:stretch>
        </p:blipFill>
        <p:spPr>
          <a:xfrm>
            <a:off x="573437" y="1303632"/>
            <a:ext cx="7981627" cy="1757283"/>
          </a:xfrm>
          <a:prstGeom prst="rect">
            <a:avLst/>
          </a:prstGeom>
        </p:spPr>
      </p:pic>
      <p:sp>
        <p:nvSpPr>
          <p:cNvPr id="13" name="Content Placeholder 12">
            <a:extLst>
              <a:ext uri="{FF2B5EF4-FFF2-40B4-BE49-F238E27FC236}">
                <a16:creationId xmlns:a16="http://schemas.microsoft.com/office/drawing/2014/main" id="{27DF4CB3-D2A9-FE9D-87F1-B942F518C466}"/>
              </a:ext>
            </a:extLst>
          </p:cNvPr>
          <p:cNvSpPr>
            <a:spLocks noGrp="1"/>
          </p:cNvSpPr>
          <p:nvPr>
            <p:ph idx="1"/>
          </p:nvPr>
        </p:nvSpPr>
        <p:spPr>
          <a:xfrm>
            <a:off x="457200" y="1200151"/>
            <a:ext cx="8229600" cy="3581076"/>
          </a:xfrm>
        </p:spPr>
        <p:txBody>
          <a:bodyPr/>
          <a:lstStyle/>
          <a:p>
            <a:r>
              <a:rPr lang="en-US" dirty="0"/>
              <a:t>`</a:t>
            </a:r>
            <a:endParaRPr lang="en-IN" dirty="0"/>
          </a:p>
        </p:txBody>
      </p:sp>
    </p:spTree>
    <p:extLst>
      <p:ext uri="{BB962C8B-B14F-4D97-AF65-F5344CB8AC3E}">
        <p14:creationId xmlns:p14="http://schemas.microsoft.com/office/powerpoint/2010/main" val="3599339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1597819"/>
            <a:ext cx="5829300" cy="1316831"/>
          </a:xfrm>
        </p:spPr>
        <p:txBody>
          <a:bodyPr>
            <a:normAutofit fontScale="90000"/>
          </a:bodyPr>
          <a:lstStyle/>
          <a:p>
            <a:r>
              <a:rPr lang="en-US" sz="6000" dirty="0"/>
              <a:t>Overview of Firewalls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firewall</a:t>
            </a:r>
          </a:p>
        </p:txBody>
      </p:sp>
      <p:sp>
        <p:nvSpPr>
          <p:cNvPr id="3" name="Content Placeholder 2"/>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A Firewall is a </a:t>
            </a:r>
            <a:r>
              <a:rPr lang="en-US" sz="1800" b="1" dirty="0">
                <a:latin typeface="Times New Roman" panose="02020603050405020304" pitchFamily="18" charset="0"/>
                <a:cs typeface="Times New Roman" panose="02020603050405020304" pitchFamily="18" charset="0"/>
              </a:rPr>
              <a:t>network security devic</a:t>
            </a:r>
            <a:r>
              <a:rPr lang="en-US" sz="1800" dirty="0">
                <a:latin typeface="Times New Roman" panose="02020603050405020304" pitchFamily="18" charset="0"/>
                <a:cs typeface="Times New Roman" panose="02020603050405020304" pitchFamily="18" charset="0"/>
              </a:rPr>
              <a:t>e that </a:t>
            </a:r>
            <a:r>
              <a:rPr lang="en-US" sz="1800" b="1" dirty="0">
                <a:latin typeface="Times New Roman" panose="02020603050405020304" pitchFamily="18" charset="0"/>
                <a:cs typeface="Times New Roman" panose="02020603050405020304" pitchFamily="18" charset="0"/>
              </a:rPr>
              <a:t>monitors and filters incoming and outgoing network traffic </a:t>
            </a:r>
            <a:r>
              <a:rPr lang="en-US" sz="1800" dirty="0">
                <a:latin typeface="Times New Roman" panose="02020603050405020304" pitchFamily="18" charset="0"/>
                <a:cs typeface="Times New Roman" panose="02020603050405020304" pitchFamily="18" charset="0"/>
              </a:rPr>
              <a:t>based on an organization’s previously established security policies</a:t>
            </a:r>
          </a:p>
          <a:p>
            <a:pPr algn="just"/>
            <a:r>
              <a:rPr lang="en-US" sz="1800" dirty="0">
                <a:latin typeface="Times New Roman" panose="02020603050405020304" pitchFamily="18" charset="0"/>
                <a:cs typeface="Times New Roman" panose="02020603050405020304" pitchFamily="18" charset="0"/>
              </a:rPr>
              <a:t>A firewall is essentially the barrier that sits between </a:t>
            </a:r>
            <a:r>
              <a:rPr lang="en-US" sz="1800" b="1" dirty="0">
                <a:latin typeface="Times New Roman" panose="02020603050405020304" pitchFamily="18" charset="0"/>
                <a:cs typeface="Times New Roman" panose="02020603050405020304" pitchFamily="18" charset="0"/>
              </a:rPr>
              <a:t>a private internal network and the public Internet. </a:t>
            </a:r>
          </a:p>
          <a:p>
            <a:pPr algn="just"/>
            <a:r>
              <a:rPr lang="en-US" sz="1800" dirty="0">
                <a:latin typeface="Times New Roman" panose="02020603050405020304" pitchFamily="18" charset="0"/>
                <a:cs typeface="Times New Roman" panose="02020603050405020304" pitchFamily="18" charset="0"/>
              </a:rPr>
              <a:t>A firewall’s main purpose is to allow </a:t>
            </a:r>
            <a:r>
              <a:rPr lang="en-US" sz="1800" b="1" dirty="0">
                <a:latin typeface="Times New Roman" panose="02020603050405020304" pitchFamily="18" charset="0"/>
                <a:cs typeface="Times New Roman" panose="02020603050405020304" pitchFamily="18" charset="0"/>
              </a:rPr>
              <a:t>non-threatening traffic </a:t>
            </a:r>
            <a:r>
              <a:rPr lang="en-US" sz="1800" dirty="0">
                <a:latin typeface="Times New Roman" panose="02020603050405020304" pitchFamily="18" charset="0"/>
                <a:cs typeface="Times New Roman" panose="02020603050405020304" pitchFamily="18" charset="0"/>
              </a:rPr>
              <a:t>in and to keep dangerous traffic 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07B72F4-FAAA-1CBC-E7C7-741A7D12554F}"/>
              </a:ext>
            </a:extLst>
          </p:cNvPr>
          <p:cNvPicPr>
            <a:picLocks noGrp="1" noChangeAspect="1"/>
          </p:cNvPicPr>
          <p:nvPr>
            <p:ph idx="1"/>
          </p:nvPr>
        </p:nvPicPr>
        <p:blipFill>
          <a:blip r:embed="rId2"/>
          <a:srcRect/>
          <a:stretch>
            <a:fillRect/>
          </a:stretch>
        </p:blipFill>
        <p:spPr bwMode="auto">
          <a:xfrm>
            <a:off x="2114550" y="1143001"/>
            <a:ext cx="5399994" cy="2723417"/>
          </a:xfrm>
          <a:prstGeom prst="rect">
            <a:avLst/>
          </a:prstGeom>
          <a:noFill/>
          <a:ln w="9525">
            <a:noFill/>
            <a:miter lim="800000"/>
            <a:headEnd/>
            <a:tailEnd/>
          </a:ln>
          <a:effectLst/>
        </p:spPr>
      </p:pic>
    </p:spTree>
    <p:extLst>
      <p:ext uri="{BB962C8B-B14F-4D97-AF65-F5344CB8AC3E}">
        <p14:creationId xmlns:p14="http://schemas.microsoft.com/office/powerpoint/2010/main" val="2383417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a:t>
            </a:r>
          </a:p>
        </p:txBody>
      </p:sp>
      <p:sp>
        <p:nvSpPr>
          <p:cNvPr id="3" name="Content Placeholder 2"/>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Firewalls have existed since the late 1980’s and started out </a:t>
            </a:r>
            <a:r>
              <a:rPr lang="en-US" sz="1800" b="1" dirty="0">
                <a:latin typeface="Times New Roman" panose="02020603050405020304" pitchFamily="18" charset="0"/>
                <a:cs typeface="Times New Roman" panose="02020603050405020304" pitchFamily="18" charset="0"/>
              </a:rPr>
              <a:t>as packet filters</a:t>
            </a:r>
            <a:r>
              <a:rPr lang="en-US" sz="1800" dirty="0">
                <a:latin typeface="Times New Roman" panose="02020603050405020304" pitchFamily="18" charset="0"/>
                <a:cs typeface="Times New Roman" panose="02020603050405020304" pitchFamily="18" charset="0"/>
              </a:rPr>
              <a:t>, which were networks set up to examine packets, or bytes, transferred between computers. </a:t>
            </a:r>
          </a:p>
          <a:p>
            <a:pPr algn="just"/>
            <a:r>
              <a:rPr lang="en-US" sz="1800" dirty="0">
                <a:latin typeface="Times New Roman" panose="02020603050405020304" pitchFamily="18" charset="0"/>
                <a:cs typeface="Times New Roman" panose="02020603050405020304" pitchFamily="18" charset="0"/>
              </a:rPr>
              <a:t>Packet filtering firewalls are still in use today, firewalls have come a long way as technology has developed throughout the decades.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7300" y="171450"/>
            <a:ext cx="6572250" cy="4857750"/>
          </a:xfrm>
        </p:spPr>
        <p:txBody>
          <a:bodyPr>
            <a:normAutofit fontScale="92500"/>
          </a:bodyPr>
          <a:lstStyle/>
          <a:p>
            <a:pPr algn="just"/>
            <a:r>
              <a:rPr lang="en-US" sz="1950" b="1" dirty="0">
                <a:latin typeface="Times New Roman" panose="02020603050405020304" pitchFamily="18" charset="0"/>
                <a:cs typeface="Times New Roman" panose="02020603050405020304" pitchFamily="18" charset="0"/>
              </a:rPr>
              <a:t>Gen 1 Virus</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1, Late 1980’s, virus attacks on stand-alone PC’s affected all businesses and group anti-virus products.</a:t>
            </a:r>
          </a:p>
          <a:p>
            <a:pPr algn="just"/>
            <a:r>
              <a:rPr lang="en-US" sz="1950" b="1" dirty="0">
                <a:latin typeface="Times New Roman" panose="02020603050405020304" pitchFamily="18" charset="0"/>
                <a:cs typeface="Times New Roman" panose="02020603050405020304" pitchFamily="18" charset="0"/>
              </a:rPr>
              <a:t>Gen 2 Networks</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2, Mid 1990’s, attacks from the internet affected all business and drove creation of the firewall.</a:t>
            </a:r>
          </a:p>
          <a:p>
            <a:pPr algn="just"/>
            <a:r>
              <a:rPr lang="en-US" sz="1950" b="1" dirty="0">
                <a:latin typeface="Times New Roman" panose="02020603050405020304" pitchFamily="18" charset="0"/>
                <a:cs typeface="Times New Roman" panose="02020603050405020304" pitchFamily="18" charset="0"/>
              </a:rPr>
              <a:t>Gen 3 Applications</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3, Early 2000’s, exploiting vulnerabilities in applications which affected most businesses and set Intrusion Prevention Systems Products (IPS).</a:t>
            </a:r>
          </a:p>
          <a:p>
            <a:pPr algn="just"/>
            <a:r>
              <a:rPr lang="en-US" sz="1950" b="1" dirty="0">
                <a:latin typeface="Times New Roman" panose="02020603050405020304" pitchFamily="18" charset="0"/>
                <a:cs typeface="Times New Roman" panose="02020603050405020304" pitchFamily="18" charset="0"/>
              </a:rPr>
              <a:t>Gen 4 Payload</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4, Approx. 2010, rise of targeted, unknown, evasive, polymorphic attacks which affected most businesses and drove anti-</a:t>
            </a:r>
            <a:r>
              <a:rPr lang="en-US" sz="1650" dirty="0" err="1">
                <a:latin typeface="Times New Roman" panose="02020603050405020304" pitchFamily="18" charset="0"/>
                <a:cs typeface="Times New Roman" panose="02020603050405020304" pitchFamily="18" charset="0"/>
              </a:rPr>
              <a:t>bot</a:t>
            </a:r>
            <a:r>
              <a:rPr lang="en-US" sz="1650" dirty="0">
                <a:latin typeface="Times New Roman" panose="02020603050405020304" pitchFamily="18" charset="0"/>
                <a:cs typeface="Times New Roman" panose="02020603050405020304" pitchFamily="18" charset="0"/>
              </a:rPr>
              <a:t> and sandboxing products.</a:t>
            </a:r>
          </a:p>
          <a:p>
            <a:pPr algn="just"/>
            <a:r>
              <a:rPr lang="en-US" sz="1950" b="1" dirty="0">
                <a:latin typeface="Times New Roman" panose="02020603050405020304" pitchFamily="18" charset="0"/>
                <a:cs typeface="Times New Roman" panose="02020603050405020304" pitchFamily="18" charset="0"/>
              </a:rPr>
              <a:t>Gen 5 Mega</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5, Approx. 2017, large scale, multi-vector, mega attacks using advance attack tools and is driving advance threat prevention solutions.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First-Generation Vs Modern Firewalls</a:t>
            </a:r>
          </a:p>
        </p:txBody>
      </p:sp>
      <p:sp>
        <p:nvSpPr>
          <p:cNvPr id="3" name="Content Placeholder 2"/>
          <p:cNvSpPr>
            <a:spLocks noGrp="1"/>
          </p:cNvSpPr>
          <p:nvPr>
            <p:ph idx="1"/>
          </p:nvPr>
        </p:nvSpPr>
        <p:spPr>
          <a:xfrm>
            <a:off x="1485900" y="971551"/>
            <a:ext cx="6172200" cy="3623072"/>
          </a:xfrm>
        </p:spPr>
        <p:txBody>
          <a:bodyPr>
            <a:normAutofit fontScale="62500" lnSpcReduction="20000"/>
          </a:bodyPr>
          <a:lstStyle/>
          <a:p>
            <a:pPr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Expanded Capabilities: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hlinkClick r:id="rId2"/>
              </a:rPr>
              <a:t>Next-generation firewalls</a:t>
            </a:r>
            <a:r>
              <a:rPr lang="en-US" dirty="0">
                <a:latin typeface="Times New Roman" panose="02020603050405020304" pitchFamily="18" charset="0"/>
                <a:cs typeface="Times New Roman" panose="02020603050405020304" pitchFamily="18" charset="0"/>
              </a:rPr>
              <a:t> (NGFWs) are sophisticated and integrate a number of </a:t>
            </a:r>
            <a:r>
              <a:rPr lang="en-US" dirty="0">
                <a:latin typeface="Times New Roman" panose="02020603050405020304" pitchFamily="18" charset="0"/>
                <a:cs typeface="Times New Roman" panose="02020603050405020304" pitchFamily="18" charset="0"/>
                <a:hlinkClick r:id="rId3"/>
              </a:rPr>
              <a:t>network security</a:t>
            </a:r>
            <a:r>
              <a:rPr lang="en-US" dirty="0">
                <a:latin typeface="Times New Roman" panose="02020603050405020304" pitchFamily="18" charset="0"/>
                <a:cs typeface="Times New Roman" panose="02020603050405020304" pitchFamily="18" charset="0"/>
              </a:rPr>
              <a:t> components, including intrusion prevention systems (IPS), sandbox content analysis, and more.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enables them to detect and respond to a greater range of potential threats.</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Multiple Deployment Options:</a:t>
            </a:r>
            <a:r>
              <a:rPr lang="en-US"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Firewalls as either hardware firewalls – standalone appliances running on dedicated hardware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OS software firewalls like those integrated into Windows, Linux, and macOS.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Modern firewalls are available in a variety of different form factors, enabling users to deploy them on-premises as physical appliances,</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 the cloud as virtual appliances and as a </a:t>
            </a:r>
            <a:r>
              <a:rPr lang="en-US" dirty="0">
                <a:latin typeface="Times New Roman" panose="02020603050405020304" pitchFamily="18" charset="0"/>
                <a:cs typeface="Times New Roman" panose="02020603050405020304" pitchFamily="18" charset="0"/>
                <a:hlinkClick r:id="rId4"/>
              </a:rPr>
              <a:t>firewall as a service (</a:t>
            </a:r>
            <a:r>
              <a:rPr lang="en-US" dirty="0" err="1">
                <a:latin typeface="Times New Roman" panose="02020603050405020304" pitchFamily="18" charset="0"/>
                <a:cs typeface="Times New Roman" panose="02020603050405020304" pitchFamily="18" charset="0"/>
                <a:hlinkClick r:id="rId4"/>
              </a:rPr>
              <a:t>FWaaS</a:t>
            </a:r>
            <a:r>
              <a:rPr lang="en-US" dirty="0">
                <a:latin typeface="Times New Roman" panose="02020603050405020304" pitchFamily="18" charset="0"/>
                <a:cs typeface="Times New Roman" panose="02020603050405020304" pitchFamily="18" charset="0"/>
                <a:hlinkClick r:id="rId4"/>
              </a:rPr>
              <a:t>)</a:t>
            </a:r>
            <a:r>
              <a:rPr lang="en-US" dirty="0">
                <a:latin typeface="Times New Roman" panose="02020603050405020304" pitchFamily="18" charset="0"/>
                <a:cs typeface="Times New Roman" panose="02020603050405020304" pitchFamily="18" charset="0"/>
              </a:rPr>
              <a:t> model.</a:t>
            </a:r>
          </a:p>
          <a:p>
            <a:endParaRPr lang="en-US" dirty="0"/>
          </a:p>
        </p:txBody>
      </p:sp>
    </p:spTree>
    <p:extLst>
      <p:ext uri="{BB962C8B-B14F-4D97-AF65-F5344CB8AC3E}">
        <p14:creationId xmlns:p14="http://schemas.microsoft.com/office/powerpoint/2010/main" val="1247384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171450"/>
            <a:ext cx="6172200" cy="857250"/>
          </a:xfrm>
        </p:spPr>
        <p:txBody>
          <a:bodyPr>
            <a:normAutofit/>
          </a:bodyPr>
          <a:lstStyle/>
          <a:p>
            <a:r>
              <a:rPr lang="en-US" dirty="0"/>
              <a:t>What Firewalls Do?</a:t>
            </a:r>
          </a:p>
        </p:txBody>
      </p:sp>
      <p:sp>
        <p:nvSpPr>
          <p:cNvPr id="3" name="Content Placeholder 2"/>
          <p:cNvSpPr>
            <a:spLocks noGrp="1"/>
          </p:cNvSpPr>
          <p:nvPr>
            <p:ph idx="1"/>
          </p:nvPr>
        </p:nvSpPr>
        <p:spPr>
          <a:xfrm>
            <a:off x="371959" y="1028700"/>
            <a:ext cx="7942882" cy="3600450"/>
          </a:xfrm>
        </p:spPr>
        <p:txBody>
          <a:bodyPr>
            <a:normAutofit fontScale="92500" lnSpcReduction="20000"/>
          </a:bodyPr>
          <a:lstStyle/>
          <a:p>
            <a:pPr algn="just"/>
            <a:r>
              <a:rPr lang="en-US" sz="2325" dirty="0">
                <a:latin typeface="Times New Roman" panose="02020603050405020304" pitchFamily="18" charset="0"/>
                <a:cs typeface="Times New Roman" panose="02020603050405020304" pitchFamily="18" charset="0"/>
              </a:rPr>
              <a:t>A Firewall is a necessary part of any security architecture and takes the estimation out of host level protections and entrusts them to your network security device. </a:t>
            </a:r>
          </a:p>
          <a:p>
            <a:pPr algn="just"/>
            <a:r>
              <a:rPr lang="en-US" sz="2325" dirty="0">
                <a:latin typeface="Times New Roman" panose="02020603050405020304" pitchFamily="18" charset="0"/>
                <a:cs typeface="Times New Roman" panose="02020603050405020304" pitchFamily="18" charset="0"/>
              </a:rPr>
              <a:t>Firewalls, and especially Next Generation Firewalls, focus on blocking malware and application-layer attacks, along with an integrated intrusion prevention system (IPS)</a:t>
            </a:r>
          </a:p>
          <a:p>
            <a:pPr algn="just"/>
            <a:r>
              <a:rPr lang="en-US" sz="2325" dirty="0">
                <a:latin typeface="Times New Roman" panose="02020603050405020304" pitchFamily="18" charset="0"/>
                <a:cs typeface="Times New Roman" panose="02020603050405020304" pitchFamily="18" charset="0"/>
              </a:rPr>
              <a:t>Next Generation Firewalls can react quickly and to detect and react to outside attacks across the whole network. </a:t>
            </a:r>
          </a:p>
          <a:p>
            <a:pPr algn="just"/>
            <a:r>
              <a:rPr lang="en-US" sz="2325" dirty="0">
                <a:latin typeface="Times New Roman" panose="02020603050405020304" pitchFamily="18" charset="0"/>
                <a:cs typeface="Times New Roman" panose="02020603050405020304" pitchFamily="18" charset="0"/>
              </a:rPr>
              <a:t>Set policies to better defend your network and carry out quick assessments to detect offensive or suspicious activity, like malware, and shut it down.</a:t>
            </a:r>
          </a:p>
          <a:p>
            <a:pPr marL="0" indent="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firewall policy example.</a:t>
            </a:r>
          </a:p>
        </p:txBody>
      </p:sp>
      <p:pic>
        <p:nvPicPr>
          <p:cNvPr id="6" name="Content Placeholder 5" descr="A-firewall-policy-example.png"/>
          <p:cNvPicPr>
            <a:picLocks noGrp="1" noChangeAspect="1"/>
          </p:cNvPicPr>
          <p:nvPr>
            <p:ph idx="1"/>
          </p:nvPr>
        </p:nvPicPr>
        <p:blipFill>
          <a:blip r:embed="rId3" cstate="print"/>
          <a:stretch>
            <a:fillRect/>
          </a:stretch>
        </p:blipFill>
        <p:spPr>
          <a:xfrm>
            <a:off x="364210" y="1325106"/>
            <a:ext cx="7826644" cy="3045416"/>
          </a:xfrm>
        </p:spPr>
      </p:pic>
    </p:spTree>
    <p:extLst>
      <p:ext uri="{BB962C8B-B14F-4D97-AF65-F5344CB8AC3E}">
        <p14:creationId xmlns:p14="http://schemas.microsoft.com/office/powerpoint/2010/main" val="1394027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333333"/>
                </a:solidFill>
                <a:latin typeface="Times New Roman" panose="02020603050405020304" pitchFamily="18" charset="0"/>
                <a:cs typeface="Times New Roman" panose="02020603050405020304" pitchFamily="18" charset="0"/>
              </a:rPr>
              <a:t>Functions and Capabilities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pPr algn="just"/>
            <a:r>
              <a:rPr lang="en-US" sz="2100" dirty="0">
                <a:solidFill>
                  <a:srgbClr val="333333"/>
                </a:solidFill>
                <a:latin typeface="Times New Roman" panose="02020603050405020304" pitchFamily="18" charset="0"/>
                <a:cs typeface="Times New Roman" panose="02020603050405020304" pitchFamily="18" charset="0"/>
              </a:rPr>
              <a:t>Today’s firewalls, including </a:t>
            </a:r>
            <a:r>
              <a:rPr lang="en-US" sz="2100" dirty="0">
                <a:solidFill>
                  <a:srgbClr val="D61A69"/>
                </a:solidFill>
                <a:latin typeface="Times New Roman" panose="02020603050405020304" pitchFamily="18" charset="0"/>
                <a:cs typeface="Times New Roman" panose="02020603050405020304" pitchFamily="18" charset="0"/>
                <a:hlinkClick r:id="rId2"/>
              </a:rPr>
              <a:t>Next Generation Firewalls and Network Firewalls</a:t>
            </a:r>
            <a:r>
              <a:rPr lang="en-US" sz="2100" dirty="0">
                <a:solidFill>
                  <a:srgbClr val="333333"/>
                </a:solidFill>
                <a:latin typeface="Times New Roman" panose="02020603050405020304" pitchFamily="18" charset="0"/>
                <a:cs typeface="Times New Roman" panose="02020603050405020304" pitchFamily="18" charset="0"/>
              </a:rPr>
              <a:t> support a wide variety of functions and capabilities with built-in features, including:</a:t>
            </a:r>
          </a:p>
          <a:p>
            <a:pPr lvl="3" algn="just"/>
            <a:r>
              <a:rPr lang="en-US" sz="2100" dirty="0">
                <a:latin typeface="Times New Roman" panose="02020603050405020304" pitchFamily="18" charset="0"/>
                <a:cs typeface="Times New Roman" panose="02020603050405020304" pitchFamily="18" charset="0"/>
              </a:rPr>
              <a:t>Network Threat Prevention</a:t>
            </a:r>
          </a:p>
          <a:p>
            <a:pPr lvl="3" algn="just"/>
            <a:r>
              <a:rPr lang="en-US" sz="2100" dirty="0">
                <a:latin typeface="Times New Roman" panose="02020603050405020304" pitchFamily="18" charset="0"/>
                <a:cs typeface="Times New Roman" panose="02020603050405020304" pitchFamily="18" charset="0"/>
              </a:rPr>
              <a:t>Application and Identity-Based Control</a:t>
            </a:r>
          </a:p>
          <a:p>
            <a:pPr lvl="3" algn="just"/>
            <a:r>
              <a:rPr lang="en-US" sz="2100" dirty="0">
                <a:latin typeface="Times New Roman" panose="02020603050405020304" pitchFamily="18" charset="0"/>
                <a:cs typeface="Times New Roman" panose="02020603050405020304" pitchFamily="18" charset="0"/>
              </a:rPr>
              <a:t>Hybrid Cloud Support</a:t>
            </a:r>
          </a:p>
          <a:p>
            <a:pPr lvl="3" algn="just"/>
            <a:r>
              <a:rPr lang="en-US" sz="2100" dirty="0">
                <a:latin typeface="Times New Roman" panose="02020603050405020304" pitchFamily="18" charset="0"/>
                <a:cs typeface="Times New Roman" panose="02020603050405020304" pitchFamily="18" charset="0"/>
              </a:rPr>
              <a:t>Scalable Performance</a:t>
            </a:r>
          </a:p>
          <a:p>
            <a:pPr lvl="3" algn="just"/>
            <a:r>
              <a:rPr lang="en-US" sz="2100" dirty="0">
                <a:latin typeface="Times New Roman" panose="02020603050405020304" pitchFamily="18" charset="0"/>
                <a:cs typeface="Times New Roman" panose="02020603050405020304" pitchFamily="18" charset="0"/>
              </a:rPr>
              <a:t>Network Traffic Management and Control</a:t>
            </a:r>
          </a:p>
          <a:p>
            <a:pPr lvl="3" algn="just"/>
            <a:r>
              <a:rPr lang="en-US" sz="2100" dirty="0">
                <a:latin typeface="Times New Roman" panose="02020603050405020304" pitchFamily="18" charset="0"/>
                <a:cs typeface="Times New Roman" panose="02020603050405020304" pitchFamily="18" charset="0"/>
              </a:rPr>
              <a:t>Access Validation</a:t>
            </a:r>
          </a:p>
          <a:p>
            <a:pPr lvl="3" algn="just"/>
            <a:r>
              <a:rPr lang="en-US" sz="2100" dirty="0">
                <a:latin typeface="Times New Roman" panose="02020603050405020304" pitchFamily="18" charset="0"/>
                <a:cs typeface="Times New Roman" panose="02020603050405020304" pitchFamily="18" charset="0"/>
              </a:rPr>
              <a:t>Record and Report on Events</a:t>
            </a:r>
          </a:p>
          <a:p>
            <a:endParaRPr lang="en-US" dirty="0"/>
          </a:p>
          <a:p>
            <a:endParaRPr lang="en-US" dirty="0"/>
          </a:p>
        </p:txBody>
      </p:sp>
    </p:spTree>
    <p:extLst>
      <p:ext uri="{BB962C8B-B14F-4D97-AF65-F5344CB8AC3E}">
        <p14:creationId xmlns:p14="http://schemas.microsoft.com/office/powerpoint/2010/main" val="1667640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973" y="205978"/>
            <a:ext cx="7410127" cy="708422"/>
          </a:xfrm>
        </p:spPr>
        <p:txBody>
          <a:bodyPr>
            <a:noAutofit/>
          </a:bodyPr>
          <a:lstStyle/>
          <a:p>
            <a:r>
              <a:rPr lang="en-US" sz="2100" dirty="0"/>
              <a:t>What are the Components of Firewall Management?</a:t>
            </a:r>
          </a:p>
        </p:txBody>
      </p:sp>
      <p:sp>
        <p:nvSpPr>
          <p:cNvPr id="3" name="Content Placeholder 2"/>
          <p:cNvSpPr>
            <a:spLocks noGrp="1"/>
          </p:cNvSpPr>
          <p:nvPr>
            <p:ph idx="1"/>
          </p:nvPr>
        </p:nvSpPr>
        <p:spPr>
          <a:xfrm>
            <a:off x="829159" y="1257299"/>
            <a:ext cx="6828941" cy="3120971"/>
          </a:xfrm>
        </p:spPr>
        <p:txBody>
          <a:bodyPr>
            <a:noAutofit/>
          </a:bodyPr>
          <a:lstStyle/>
          <a:p>
            <a:pPr algn="just"/>
            <a:r>
              <a:rPr lang="en-US" sz="2100" b="1" dirty="0">
                <a:latin typeface="Times New Roman" panose="02020603050405020304" pitchFamily="18" charset="0"/>
                <a:cs typeface="Times New Roman" panose="02020603050405020304" pitchFamily="18" charset="0"/>
              </a:rPr>
              <a:t>Graphical Interface</a:t>
            </a:r>
            <a:r>
              <a:rPr lang="en-US" sz="2100" dirty="0">
                <a:latin typeface="Times New Roman" panose="02020603050405020304" pitchFamily="18" charset="0"/>
                <a:cs typeface="Times New Roman" panose="02020603050405020304" pitchFamily="18" charset="0"/>
              </a:rPr>
              <a:t>.</a:t>
            </a:r>
          </a:p>
          <a:p>
            <a:pPr algn="just"/>
            <a:r>
              <a:rPr lang="en-US" sz="2100" b="1" dirty="0">
                <a:latin typeface="Times New Roman" panose="02020603050405020304" pitchFamily="18" charset="0"/>
                <a:cs typeface="Times New Roman" panose="02020603050405020304" pitchFamily="18" charset="0"/>
              </a:rPr>
              <a:t>Policy Control</a:t>
            </a:r>
            <a:r>
              <a:rPr lang="en-US" sz="2100" dirty="0">
                <a:latin typeface="Times New Roman" panose="02020603050405020304" pitchFamily="18" charset="0"/>
                <a:cs typeface="Times New Roman" panose="02020603050405020304" pitchFamily="18" charset="0"/>
              </a:rPr>
              <a:t> </a:t>
            </a:r>
          </a:p>
          <a:p>
            <a:pPr algn="just"/>
            <a:r>
              <a:rPr lang="en-US" sz="2100" b="1" dirty="0">
                <a:latin typeface="Times New Roman" panose="02020603050405020304" pitchFamily="18" charset="0"/>
                <a:cs typeface="Times New Roman" panose="02020603050405020304" pitchFamily="18" charset="0"/>
              </a:rPr>
              <a:t>Threat Management</a:t>
            </a:r>
            <a:endParaRPr lang="en-US" sz="2100" dirty="0">
              <a:latin typeface="Times New Roman" panose="02020603050405020304" pitchFamily="18" charset="0"/>
              <a:cs typeface="Times New Roman" panose="02020603050405020304" pitchFamily="18" charset="0"/>
            </a:endParaRPr>
          </a:p>
          <a:p>
            <a:pPr algn="just"/>
            <a:r>
              <a:rPr lang="en-US" sz="2100" b="1" dirty="0">
                <a:latin typeface="Times New Roman" panose="02020603050405020304" pitchFamily="18" charset="0"/>
                <a:cs typeface="Times New Roman" panose="02020603050405020304" pitchFamily="18" charset="0"/>
              </a:rPr>
              <a:t>Device Management</a:t>
            </a:r>
            <a:endParaRPr lang="en-US" sz="2100" dirty="0">
              <a:latin typeface="Times New Roman" panose="02020603050405020304" pitchFamily="18" charset="0"/>
              <a:cs typeface="Times New Roman" panose="02020603050405020304" pitchFamily="18" charset="0"/>
            </a:endParaRPr>
          </a:p>
          <a:p>
            <a:pPr algn="just"/>
            <a:r>
              <a:rPr lang="en-US" sz="2100" b="1" dirty="0">
                <a:latin typeface="Times New Roman" panose="02020603050405020304" pitchFamily="18" charset="0"/>
                <a:cs typeface="Times New Roman" panose="02020603050405020304" pitchFamily="18" charset="0"/>
              </a:rPr>
              <a:t>Third-Party Integrations</a:t>
            </a:r>
            <a:endParaRPr lang="en-US" sz="2100" dirty="0">
              <a:latin typeface="Times New Roman" panose="02020603050405020304" pitchFamily="18" charset="0"/>
              <a:cs typeface="Times New Roman" panose="02020603050405020304" pitchFamily="18" charset="0"/>
            </a:endParaRPr>
          </a:p>
          <a:p>
            <a:pPr algn="just"/>
            <a:r>
              <a:rPr lang="en-US" sz="2100" b="1" dirty="0">
                <a:latin typeface="Times New Roman" panose="02020603050405020304" pitchFamily="18" charset="0"/>
                <a:cs typeface="Times New Roman" panose="02020603050405020304" pitchFamily="18" charset="0"/>
              </a:rPr>
              <a:t>Scalability</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659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05978"/>
            <a:ext cx="6172200" cy="651272"/>
          </a:xfrm>
        </p:spPr>
        <p:txBody>
          <a:bodyPr>
            <a:normAutofit/>
          </a:bodyPr>
          <a:lstStyle/>
          <a:p>
            <a:r>
              <a:rPr lang="en-US" dirty="0"/>
              <a:t>Types of Firewalls</a:t>
            </a:r>
          </a:p>
        </p:txBody>
      </p:sp>
      <p:sp>
        <p:nvSpPr>
          <p:cNvPr id="3" name="Content Placeholder 2"/>
          <p:cNvSpPr>
            <a:spLocks noGrp="1"/>
          </p:cNvSpPr>
          <p:nvPr>
            <p:ph idx="1"/>
          </p:nvPr>
        </p:nvSpPr>
        <p:spPr>
          <a:xfrm>
            <a:off x="224725" y="971550"/>
            <a:ext cx="8214102" cy="4000500"/>
          </a:xfrm>
        </p:spPr>
        <p:txBody>
          <a:bodyPr>
            <a:normAutofit lnSpcReduction="10000"/>
          </a:bodyPr>
          <a:lstStyle/>
          <a:p>
            <a:pPr algn="just"/>
            <a:r>
              <a:rPr lang="en-US" sz="1800" b="1" dirty="0">
                <a:latin typeface="Times New Roman" panose="02020603050405020304" pitchFamily="18" charset="0"/>
                <a:cs typeface="Times New Roman" panose="02020603050405020304" pitchFamily="18" charset="0"/>
              </a:rPr>
              <a:t>1.Packet filtering</a:t>
            </a:r>
          </a:p>
          <a:p>
            <a:pPr algn="just">
              <a:buNone/>
            </a:pPr>
            <a:r>
              <a:rPr lang="en-US" sz="1800" dirty="0">
                <a:latin typeface="Times New Roman" panose="02020603050405020304" pitchFamily="18" charset="0"/>
                <a:cs typeface="Times New Roman" panose="02020603050405020304" pitchFamily="18" charset="0"/>
              </a:rPr>
              <a:t>     	A small amount of data is analyzed and distributed according to the filter’s standards.</a:t>
            </a:r>
          </a:p>
          <a:p>
            <a:pPr algn="just"/>
            <a:r>
              <a:rPr lang="en-US" sz="1800" b="1" dirty="0">
                <a:latin typeface="Times New Roman" panose="02020603050405020304" pitchFamily="18" charset="0"/>
                <a:cs typeface="Times New Roman" panose="02020603050405020304" pitchFamily="18" charset="0"/>
              </a:rPr>
              <a:t>2.Proxy service or Circuit level Gateway</a:t>
            </a:r>
          </a:p>
          <a:p>
            <a:pPr algn="just">
              <a:buNone/>
            </a:pPr>
            <a:r>
              <a:rPr lang="en-US" sz="1800" dirty="0">
                <a:latin typeface="Times New Roman" panose="02020603050405020304" pitchFamily="18" charset="0"/>
                <a:cs typeface="Times New Roman" panose="02020603050405020304" pitchFamily="18" charset="0"/>
              </a:rPr>
              <a:t>     	Network security system that protects while filtering messages at the application layer.</a:t>
            </a:r>
          </a:p>
          <a:p>
            <a:pPr algn="just"/>
            <a:r>
              <a:rPr lang="en-US" sz="1800" b="1" dirty="0">
                <a:latin typeface="Times New Roman" panose="02020603050405020304" pitchFamily="18" charset="0"/>
                <a:cs typeface="Times New Roman" panose="02020603050405020304" pitchFamily="18" charset="0"/>
              </a:rPr>
              <a:t>3.Application level Gateway</a:t>
            </a:r>
          </a:p>
          <a:p>
            <a:pPr lvl="1" algn="just"/>
            <a:r>
              <a:rPr lang="en-US" sz="1500" dirty="0">
                <a:solidFill>
                  <a:srgbClr val="273239"/>
                </a:solidFill>
                <a:latin typeface="Times New Roman" panose="02020603050405020304" pitchFamily="18" charset="0"/>
                <a:cs typeface="Times New Roman" panose="02020603050405020304" pitchFamily="18" charset="0"/>
              </a:rPr>
              <a:t>It operates at the application level. Multiple application gateways can run on the same host but each gateway is a separate server with its own processes.</a:t>
            </a:r>
          </a:p>
          <a:p>
            <a:pPr algn="just"/>
            <a:r>
              <a:rPr lang="en-US" sz="1500" b="1" dirty="0">
                <a:latin typeface="Times New Roman" panose="02020603050405020304" pitchFamily="18" charset="0"/>
                <a:cs typeface="Times New Roman" panose="02020603050405020304" pitchFamily="18" charset="0"/>
              </a:rPr>
              <a:t>4.Stateful inspection</a:t>
            </a:r>
          </a:p>
          <a:p>
            <a:pPr algn="just">
              <a:buNone/>
            </a:pPr>
            <a:r>
              <a:rPr lang="en-US" sz="1500" dirty="0">
                <a:latin typeface="Times New Roman" panose="02020603050405020304" pitchFamily="18" charset="0"/>
                <a:cs typeface="Times New Roman" panose="02020603050405020304" pitchFamily="18" charset="0"/>
              </a:rPr>
              <a:t>     Dynamic packet filtering that monitors active connections to determine which network packets to allow through the Firewall.</a:t>
            </a:r>
          </a:p>
          <a:p>
            <a:pPr marL="0" indent="0" algn="just">
              <a:buNone/>
            </a:pPr>
            <a:r>
              <a:rPr lang="en-US" sz="1800" b="1" dirty="0">
                <a:latin typeface="Times New Roman" panose="02020603050405020304" pitchFamily="18" charset="0"/>
                <a:cs typeface="Times New Roman" panose="02020603050405020304" pitchFamily="18" charset="0"/>
              </a:rPr>
              <a:t>5.Next Generation Firewall (NGFW)</a:t>
            </a:r>
          </a:p>
          <a:p>
            <a:pPr algn="just">
              <a:buNone/>
            </a:pPr>
            <a:r>
              <a:rPr lang="en-US" sz="1800" dirty="0">
                <a:latin typeface="Times New Roman" panose="02020603050405020304" pitchFamily="18" charset="0"/>
                <a:cs typeface="Times New Roman" panose="02020603050405020304" pitchFamily="18" charset="0"/>
              </a:rPr>
              <a:t>     Deep packet inspection Firewall with application-level inspection.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434" y="205979"/>
            <a:ext cx="8082366" cy="708422"/>
          </a:xfrm>
        </p:spPr>
        <p:txBody>
          <a:bodyPr/>
          <a:lstStyle/>
          <a:p>
            <a:r>
              <a:rPr lang="en-US" dirty="0"/>
              <a:t>Packet-filtering firewalls</a:t>
            </a:r>
          </a:p>
        </p:txBody>
      </p:sp>
      <p:sp>
        <p:nvSpPr>
          <p:cNvPr id="3" name="Content Placeholder 2"/>
          <p:cNvSpPr>
            <a:spLocks noGrp="1"/>
          </p:cNvSpPr>
          <p:nvPr>
            <p:ph idx="1"/>
          </p:nvPr>
        </p:nvSpPr>
        <p:spPr>
          <a:xfrm>
            <a:off x="457200" y="914401"/>
            <a:ext cx="7973878" cy="3680222"/>
          </a:xfrm>
        </p:spPr>
        <p:txBody>
          <a:bodyPr>
            <a:normAutofit fontScale="92500" lnSpcReduction="20000"/>
          </a:bodyPr>
          <a:lstStyle/>
          <a:p>
            <a:pPr algn="just"/>
            <a:r>
              <a:rPr lang="en-US" sz="2325" dirty="0">
                <a:latin typeface="Times New Roman" panose="02020603050405020304" pitchFamily="18" charset="0"/>
                <a:cs typeface="Times New Roman" panose="02020603050405020304" pitchFamily="18" charset="0"/>
              </a:rPr>
              <a:t>Packet-filtering firewalls operate at the network layer . Packet-filtering firewalls make processing </a:t>
            </a:r>
            <a:r>
              <a:rPr lang="en-US" sz="2325" b="1" dirty="0">
                <a:latin typeface="Times New Roman" panose="02020603050405020304" pitchFamily="18" charset="0"/>
                <a:cs typeface="Times New Roman" panose="02020603050405020304" pitchFamily="18" charset="0"/>
              </a:rPr>
              <a:t>decisions based </a:t>
            </a:r>
            <a:r>
              <a:rPr lang="en-US" sz="2325" dirty="0">
                <a:latin typeface="Times New Roman" panose="02020603050405020304" pitchFamily="18" charset="0"/>
                <a:cs typeface="Times New Roman" panose="02020603050405020304" pitchFamily="18" charset="0"/>
              </a:rPr>
              <a:t>on </a:t>
            </a:r>
            <a:r>
              <a:rPr lang="en-US" sz="2325" dirty="0">
                <a:solidFill>
                  <a:srgbClr val="FF0000"/>
                </a:solidFill>
                <a:latin typeface="Times New Roman" panose="02020603050405020304" pitchFamily="18" charset="0"/>
                <a:cs typeface="Times New Roman" panose="02020603050405020304" pitchFamily="18" charset="0"/>
              </a:rPr>
              <a:t>network addresses</a:t>
            </a:r>
            <a:r>
              <a:rPr lang="en-US" sz="2325" dirty="0">
                <a:latin typeface="Times New Roman" panose="02020603050405020304" pitchFamily="18" charset="0"/>
                <a:cs typeface="Times New Roman" panose="02020603050405020304" pitchFamily="18" charset="0"/>
              </a:rPr>
              <a:t>, </a:t>
            </a:r>
            <a:r>
              <a:rPr lang="en-US" sz="2325" dirty="0">
                <a:solidFill>
                  <a:srgbClr val="FF0000"/>
                </a:solidFill>
                <a:latin typeface="Times New Roman" panose="02020603050405020304" pitchFamily="18" charset="0"/>
                <a:cs typeface="Times New Roman" panose="02020603050405020304" pitchFamily="18" charset="0"/>
              </a:rPr>
              <a:t>ports</a:t>
            </a:r>
            <a:r>
              <a:rPr lang="en-US" sz="2325" dirty="0">
                <a:latin typeface="Times New Roman" panose="02020603050405020304" pitchFamily="18" charset="0"/>
                <a:cs typeface="Times New Roman" panose="02020603050405020304" pitchFamily="18" charset="0"/>
              </a:rPr>
              <a:t>, or </a:t>
            </a:r>
            <a:r>
              <a:rPr lang="en-US" sz="2325" dirty="0">
                <a:solidFill>
                  <a:srgbClr val="FF0000"/>
                </a:solidFill>
                <a:latin typeface="Times New Roman" panose="02020603050405020304" pitchFamily="18" charset="0"/>
                <a:cs typeface="Times New Roman" panose="02020603050405020304" pitchFamily="18" charset="0"/>
              </a:rPr>
              <a:t>protocols</a:t>
            </a:r>
            <a:r>
              <a:rPr lang="en-US" sz="2325" dirty="0">
                <a:latin typeface="Times New Roman" panose="02020603050405020304" pitchFamily="18" charset="0"/>
                <a:cs typeface="Times New Roman" panose="02020603050405020304" pitchFamily="18" charset="0"/>
              </a:rPr>
              <a:t>.</a:t>
            </a:r>
          </a:p>
          <a:p>
            <a:pPr algn="just"/>
            <a:r>
              <a:rPr lang="en-US" sz="2325" dirty="0">
                <a:latin typeface="Times New Roman" panose="02020603050405020304" pitchFamily="18" charset="0"/>
                <a:cs typeface="Times New Roman" panose="02020603050405020304" pitchFamily="18" charset="0"/>
              </a:rPr>
              <a:t>Packet-filtering firewalls </a:t>
            </a:r>
            <a:r>
              <a:rPr lang="en-US" sz="2325" dirty="0">
                <a:solidFill>
                  <a:srgbClr val="FF0000"/>
                </a:solidFill>
                <a:latin typeface="Times New Roman" panose="02020603050405020304" pitchFamily="18" charset="0"/>
                <a:cs typeface="Times New Roman" panose="02020603050405020304" pitchFamily="18" charset="0"/>
              </a:rPr>
              <a:t>are very fast</a:t>
            </a:r>
            <a:r>
              <a:rPr lang="en-US" sz="2325" dirty="0">
                <a:latin typeface="Times New Roman" panose="02020603050405020304" pitchFamily="18" charset="0"/>
                <a:cs typeface="Times New Roman" panose="02020603050405020304" pitchFamily="18" charset="0"/>
              </a:rPr>
              <a:t> </a:t>
            </a:r>
          </a:p>
          <a:p>
            <a:pPr algn="just"/>
            <a:r>
              <a:rPr lang="en-US" sz="2325" dirty="0">
                <a:latin typeface="Times New Roman" panose="02020603050405020304" pitchFamily="18" charset="0"/>
                <a:cs typeface="Times New Roman" panose="02020603050405020304" pitchFamily="18" charset="0"/>
              </a:rPr>
              <a:t>Do not do any internal inspection of the traffic. </a:t>
            </a:r>
          </a:p>
          <a:p>
            <a:pPr algn="just"/>
            <a:r>
              <a:rPr lang="en-US" sz="2325" dirty="0">
                <a:latin typeface="Times New Roman" panose="02020603050405020304" pitchFamily="18" charset="0"/>
                <a:cs typeface="Times New Roman" panose="02020603050405020304" pitchFamily="18" charset="0"/>
              </a:rPr>
              <a:t>Do </a:t>
            </a:r>
            <a:r>
              <a:rPr lang="en-US" sz="2325" b="1" dirty="0">
                <a:latin typeface="Times New Roman" panose="02020603050405020304" pitchFamily="18" charset="0"/>
                <a:cs typeface="Times New Roman" panose="02020603050405020304" pitchFamily="18" charset="0"/>
              </a:rPr>
              <a:t>not store any state information</a:t>
            </a:r>
            <a:r>
              <a:rPr lang="en-US" sz="2325" dirty="0">
                <a:latin typeface="Times New Roman" panose="02020603050405020304" pitchFamily="18" charset="0"/>
                <a:cs typeface="Times New Roman" panose="02020603050405020304" pitchFamily="18" charset="0"/>
              </a:rPr>
              <a:t>. </a:t>
            </a:r>
          </a:p>
          <a:p>
            <a:pPr algn="just"/>
            <a:r>
              <a:rPr lang="en-US" sz="2325" dirty="0">
                <a:latin typeface="Times New Roman" panose="02020603050405020304" pitchFamily="18" charset="0"/>
                <a:cs typeface="Times New Roman" panose="02020603050405020304" pitchFamily="18" charset="0"/>
              </a:rPr>
              <a:t>Packet-filtering firewalls are considered </a:t>
            </a:r>
            <a:r>
              <a:rPr lang="en-US" sz="2325" b="1" dirty="0">
                <a:latin typeface="Times New Roman" panose="02020603050405020304" pitchFamily="18" charset="0"/>
                <a:cs typeface="Times New Roman" panose="02020603050405020304" pitchFamily="18" charset="0"/>
              </a:rPr>
              <a:t>not to be very secure</a:t>
            </a:r>
            <a:r>
              <a:rPr lang="en-US" sz="2325" dirty="0">
                <a:latin typeface="Times New Roman" panose="02020603050405020304" pitchFamily="18" charset="0"/>
                <a:cs typeface="Times New Roman" panose="02020603050405020304" pitchFamily="18" charset="0"/>
              </a:rPr>
              <a:t>. This is because </a:t>
            </a:r>
            <a:r>
              <a:rPr lang="en-US" sz="2325" b="1" dirty="0">
                <a:latin typeface="Times New Roman" panose="02020603050405020304" pitchFamily="18" charset="0"/>
                <a:cs typeface="Times New Roman" panose="02020603050405020304" pitchFamily="18" charset="0"/>
              </a:rPr>
              <a:t>they will forward any traffic that is flowing on an approved port</a:t>
            </a:r>
            <a:r>
              <a:rPr lang="en-US" sz="2325" dirty="0">
                <a:latin typeface="Times New Roman" panose="02020603050405020304" pitchFamily="18" charset="0"/>
                <a:cs typeface="Times New Roman" panose="02020603050405020304" pitchFamily="18" charset="0"/>
              </a:rPr>
              <a:t>. </a:t>
            </a:r>
          </a:p>
          <a:p>
            <a:pPr algn="just"/>
            <a:r>
              <a:rPr lang="en-US" sz="2325" dirty="0">
                <a:latin typeface="Times New Roman" panose="02020603050405020304" pitchFamily="18" charset="0"/>
                <a:cs typeface="Times New Roman" panose="02020603050405020304" pitchFamily="18" charset="0"/>
              </a:rPr>
              <a:t>So there could be </a:t>
            </a:r>
            <a:r>
              <a:rPr lang="en-US" sz="2325" b="1" dirty="0">
                <a:latin typeface="Times New Roman" panose="02020603050405020304" pitchFamily="18" charset="0"/>
                <a:cs typeface="Times New Roman" panose="02020603050405020304" pitchFamily="18" charset="0"/>
              </a:rPr>
              <a:t>malicious traffic being sent</a:t>
            </a:r>
            <a:r>
              <a:rPr lang="en-US" sz="2325" dirty="0">
                <a:latin typeface="Times New Roman" panose="02020603050405020304" pitchFamily="18" charset="0"/>
                <a:cs typeface="Times New Roman" panose="02020603050405020304" pitchFamily="18" charset="0"/>
              </a:rPr>
              <a:t>, but as long as it’s on an acceptable port, it will not be blocked.</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1F782C4-A6FD-F71C-414C-5BEB5FDE33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84143" y="922150"/>
            <a:ext cx="6811010" cy="2936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207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05978"/>
            <a:ext cx="6172200" cy="651272"/>
          </a:xfrm>
        </p:spPr>
        <p:txBody>
          <a:bodyPr>
            <a:normAutofit/>
          </a:bodyPr>
          <a:lstStyle/>
          <a:p>
            <a:r>
              <a:rPr lang="en-US" b="1" dirty="0"/>
              <a:t>Proxy service</a:t>
            </a:r>
            <a:endParaRPr lang="en-US" dirty="0"/>
          </a:p>
        </p:txBody>
      </p:sp>
      <p:sp>
        <p:nvSpPr>
          <p:cNvPr id="3" name="Content Placeholder 2"/>
          <p:cNvSpPr>
            <a:spLocks noGrp="1"/>
          </p:cNvSpPr>
          <p:nvPr>
            <p:ph idx="1"/>
          </p:nvPr>
        </p:nvSpPr>
        <p:spPr>
          <a:xfrm>
            <a:off x="0" y="914400"/>
            <a:ext cx="8609308" cy="3886200"/>
          </a:xfrm>
        </p:spPr>
        <p:txBody>
          <a:bodyPr>
            <a:normAutofit/>
          </a:bodyPr>
          <a:lstStyle/>
          <a:p>
            <a:pPr algn="just"/>
            <a:r>
              <a:rPr lang="en-US" sz="1800" dirty="0">
                <a:latin typeface="Times New Roman" panose="02020603050405020304" pitchFamily="18" charset="0"/>
                <a:cs typeface="Times New Roman" panose="02020603050405020304" pitchFamily="18" charset="0"/>
              </a:rPr>
              <a:t>A proxy firewall is a network security system that protects network resources by filtering messages at the </a:t>
            </a:r>
            <a:r>
              <a:rPr lang="en-US" sz="1800" u="sng" dirty="0">
                <a:latin typeface="Times New Roman" panose="02020603050405020304" pitchFamily="18" charset="0"/>
                <a:cs typeface="Times New Roman" panose="02020603050405020304" pitchFamily="18" charset="0"/>
                <a:hlinkClick r:id="rId2"/>
              </a:rPr>
              <a:t>application layer</a:t>
            </a:r>
            <a:r>
              <a:rPr lang="en-US" sz="1800" dirty="0">
                <a:latin typeface="Times New Roman" panose="02020603050405020304" pitchFamily="18" charset="0"/>
                <a:cs typeface="Times New Roman" panose="02020603050405020304" pitchFamily="18" charset="0"/>
              </a:rPr>
              <a:t>. </a:t>
            </a:r>
          </a:p>
          <a:p>
            <a:pPr algn="just"/>
            <a:r>
              <a:rPr lang="en-US" sz="1800" dirty="0">
                <a:latin typeface="Times New Roman" panose="02020603050405020304" pitchFamily="18" charset="0"/>
                <a:cs typeface="Times New Roman" panose="02020603050405020304" pitchFamily="18" charset="0"/>
              </a:rPr>
              <a:t>A proxy firewall is also be called an </a:t>
            </a:r>
            <a:r>
              <a:rPr lang="en-US" sz="1800" i="1" u="sng" dirty="0">
                <a:latin typeface="Times New Roman" panose="02020603050405020304" pitchFamily="18" charset="0"/>
                <a:cs typeface="Times New Roman" panose="02020603050405020304" pitchFamily="18" charset="0"/>
                <a:hlinkClick r:id="rId3"/>
              </a:rPr>
              <a:t>application firewall</a:t>
            </a:r>
            <a:r>
              <a:rPr lang="en-US" sz="1800" dirty="0">
                <a:latin typeface="Times New Roman" panose="02020603050405020304" pitchFamily="18" charset="0"/>
                <a:cs typeface="Times New Roman" panose="02020603050405020304" pitchFamily="18" charset="0"/>
              </a:rPr>
              <a:t> or circuit level </a:t>
            </a:r>
            <a:r>
              <a:rPr lang="en-US" sz="1800" i="1" dirty="0">
                <a:latin typeface="Times New Roman" panose="02020603050405020304" pitchFamily="18" charset="0"/>
                <a:cs typeface="Times New Roman" panose="02020603050405020304" pitchFamily="18" charset="0"/>
              </a:rPr>
              <a:t>gateway firewall</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A proxy firewall is also a </a:t>
            </a:r>
            <a:r>
              <a:rPr lang="en-US" sz="1800" u="sng" dirty="0">
                <a:latin typeface="Times New Roman" panose="02020603050405020304" pitchFamily="18" charset="0"/>
                <a:cs typeface="Times New Roman" panose="02020603050405020304" pitchFamily="18" charset="0"/>
                <a:hlinkClick r:id="rId4"/>
              </a:rPr>
              <a:t>proxy server</a:t>
            </a:r>
            <a:r>
              <a:rPr lang="en-US" sz="1800" dirty="0">
                <a:latin typeface="Times New Roman" panose="02020603050405020304" pitchFamily="18" charset="0"/>
                <a:cs typeface="Times New Roman" panose="02020603050405020304" pitchFamily="18" charset="0"/>
              </a:rPr>
              <a:t>, but not all proxy servers are proxy firewalls. A proxy server acts as an </a:t>
            </a:r>
            <a:r>
              <a:rPr lang="en-US" sz="1800" b="1" dirty="0">
                <a:latin typeface="Times New Roman" panose="02020603050405020304" pitchFamily="18" charset="0"/>
                <a:cs typeface="Times New Roman" panose="02020603050405020304" pitchFamily="18" charset="0"/>
              </a:rPr>
              <a:t>intermediary between </a:t>
            </a:r>
            <a:r>
              <a:rPr lang="en-US" sz="1800" dirty="0">
                <a:latin typeface="Times New Roman" panose="02020603050405020304" pitchFamily="18" charset="0"/>
                <a:cs typeface="Times New Roman" panose="02020603050405020304" pitchFamily="18" charset="0"/>
              </a:rPr>
              <a:t>clients and servers. It can cache WebPages to reduce bandwidth demands, </a:t>
            </a:r>
            <a:r>
              <a:rPr lang="en-US" sz="1800" dirty="0">
                <a:solidFill>
                  <a:srgbClr val="FF0000"/>
                </a:solidFill>
                <a:latin typeface="Times New Roman" panose="02020603050405020304" pitchFamily="18" charset="0"/>
                <a:cs typeface="Times New Roman" panose="02020603050405020304" pitchFamily="18" charset="0"/>
              </a:rPr>
              <a:t>compress data, filter traffic and detect viruses</a:t>
            </a:r>
            <a:r>
              <a:rPr lang="en-US" sz="1800" dirty="0">
                <a:latin typeface="Times New Roman" panose="02020603050405020304" pitchFamily="18" charset="0"/>
                <a:cs typeface="Times New Roman" panose="02020603050405020304" pitchFamily="18" charset="0"/>
              </a:rPr>
              <a:t>. </a:t>
            </a:r>
          </a:p>
          <a:p>
            <a:pPr algn="just"/>
            <a:r>
              <a:rPr lang="en-US" sz="1800" dirty="0">
                <a:latin typeface="Times New Roman" panose="02020603050405020304" pitchFamily="18" charset="0"/>
                <a:cs typeface="Times New Roman" panose="02020603050405020304" pitchFamily="18" charset="0"/>
              </a:rPr>
              <a:t>A Proxy server can also be used to </a:t>
            </a:r>
            <a:r>
              <a:rPr lang="en-US" sz="1800" b="1" dirty="0">
                <a:latin typeface="Times New Roman" panose="02020603050405020304" pitchFamily="18" charset="0"/>
                <a:cs typeface="Times New Roman" panose="02020603050405020304" pitchFamily="18" charset="0"/>
              </a:rPr>
              <a:t>hide user information </a:t>
            </a:r>
            <a:r>
              <a:rPr lang="en-US" sz="1800" dirty="0">
                <a:latin typeface="Times New Roman" panose="02020603050405020304" pitchFamily="18" charset="0"/>
                <a:cs typeface="Times New Roman" panose="02020603050405020304" pitchFamily="18" charset="0"/>
              </a:rPr>
              <a:t>or to </a:t>
            </a:r>
            <a:r>
              <a:rPr lang="en-US" sz="1800" b="1" dirty="0">
                <a:latin typeface="Times New Roman" panose="02020603050405020304" pitchFamily="18" charset="0"/>
                <a:cs typeface="Times New Roman" panose="02020603050405020304" pitchFamily="18" charset="0"/>
              </a:rPr>
              <a:t>connect to services that would be blocked</a:t>
            </a:r>
            <a:r>
              <a:rPr lang="en-US" sz="1800" dirty="0">
                <a:latin typeface="Times New Roman" panose="02020603050405020304" pitchFamily="18" charset="0"/>
                <a:cs typeface="Times New Roman" panose="02020603050405020304" pitchFamily="18" charset="0"/>
              </a:rPr>
              <a:t>. </a:t>
            </a:r>
          </a:p>
          <a:p>
            <a:pPr algn="just"/>
            <a:r>
              <a:rPr lang="en-US" sz="1800" dirty="0">
                <a:latin typeface="Times New Roman" panose="02020603050405020304" pitchFamily="18" charset="0"/>
                <a:cs typeface="Times New Roman" panose="02020603050405020304" pitchFamily="18" charset="0"/>
              </a:rPr>
              <a:t>A proxy firewall inspects all </a:t>
            </a:r>
            <a:r>
              <a:rPr lang="en-US" sz="1800" u="sng" dirty="0">
                <a:latin typeface="Times New Roman" panose="02020603050405020304" pitchFamily="18" charset="0"/>
                <a:cs typeface="Times New Roman" panose="02020603050405020304" pitchFamily="18" charset="0"/>
                <a:hlinkClick r:id="rId5"/>
              </a:rPr>
              <a:t>network traffic</a:t>
            </a:r>
            <a:r>
              <a:rPr lang="en-US" sz="1800" dirty="0">
                <a:latin typeface="Times New Roman" panose="02020603050405020304" pitchFamily="18" charset="0"/>
                <a:cs typeface="Times New Roman" panose="02020603050405020304" pitchFamily="18" charset="0"/>
              </a:rPr>
              <a:t> to detect and protect against potential threats. </a:t>
            </a:r>
          </a:p>
          <a:p>
            <a:pPr algn="just"/>
            <a:r>
              <a:rPr lang="en-US" sz="1800" dirty="0">
                <a:latin typeface="Times New Roman" panose="02020603050405020304" pitchFamily="18" charset="0"/>
                <a:cs typeface="Times New Roman" panose="02020603050405020304" pitchFamily="18" charset="0"/>
              </a:rPr>
              <a:t>It can also detect network intrusion and enforce security policies.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tse2.mm.bing.net/th/id/OIP.um0TdvuZpM5jKtc7i5Y0bgHaFj?pid=Api&amp;P=0&amp;h=180"/>
          <p:cNvPicPr/>
          <p:nvPr/>
        </p:nvPicPr>
        <p:blipFill>
          <a:blip r:embed="rId2"/>
          <a:srcRect/>
          <a:stretch>
            <a:fillRect/>
          </a:stretch>
        </p:blipFill>
        <p:spPr bwMode="auto">
          <a:xfrm>
            <a:off x="852407" y="643180"/>
            <a:ext cx="7384942" cy="3998472"/>
          </a:xfrm>
          <a:prstGeom prst="rect">
            <a:avLst/>
          </a:prstGeom>
          <a:noFill/>
          <a:ln w="9525">
            <a:noFill/>
            <a:miter lim="800000"/>
            <a:headEnd/>
            <a:tailEnd/>
          </a:ln>
        </p:spPr>
      </p:pic>
    </p:spTree>
    <p:extLst>
      <p:ext uri="{BB962C8B-B14F-4D97-AF65-F5344CB8AC3E}">
        <p14:creationId xmlns:p14="http://schemas.microsoft.com/office/powerpoint/2010/main" val="178032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B726D-A688-AB60-A4C4-2921D4F98C5A}"/>
              </a:ext>
            </a:extLst>
          </p:cNvPr>
          <p:cNvSpPr>
            <a:spLocks noGrp="1"/>
          </p:cNvSpPr>
          <p:nvPr>
            <p:ph type="title"/>
          </p:nvPr>
        </p:nvSpPr>
        <p:spPr>
          <a:xfrm>
            <a:off x="1543050" y="139485"/>
            <a:ext cx="6057900" cy="746339"/>
          </a:xfrm>
        </p:spPr>
        <p:txBody>
          <a:bodyPr>
            <a:normAutofit fontScale="90000"/>
          </a:bodyPr>
          <a:lstStyle/>
          <a:p>
            <a:r>
              <a:rPr lang="en-US" b="1" dirty="0">
                <a:latin typeface="Times New Roman" panose="02020603050405020304" pitchFamily="18" charset="0"/>
                <a:cs typeface="Times New Roman" panose="02020603050405020304" pitchFamily="18" charset="0"/>
              </a:rPr>
              <a:t>Application-level Gateway</a:t>
            </a:r>
            <a:br>
              <a:rPr lang="en-US"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5DF7015-80C1-FC19-2004-E668471E6EF0}"/>
              </a:ext>
            </a:extLst>
          </p:cNvPr>
          <p:cNvSpPr>
            <a:spLocks noGrp="1"/>
          </p:cNvSpPr>
          <p:nvPr>
            <p:ph idx="1"/>
          </p:nvPr>
        </p:nvSpPr>
        <p:spPr>
          <a:xfrm>
            <a:off x="54243" y="1257301"/>
            <a:ext cx="8477573" cy="3082224"/>
          </a:xfrm>
        </p:spPr>
        <p:txBody>
          <a:bodyPr>
            <a:normAutofit fontScale="32500" lnSpcReduction="20000"/>
          </a:bodyPr>
          <a:lstStyle/>
          <a:p>
            <a:pPr algn="just" fontAlgn="base">
              <a:buFont typeface="Arial" panose="020B0604020202020204" pitchFamily="34" charset="0"/>
              <a:buChar char="•"/>
            </a:pPr>
            <a:r>
              <a:rPr lang="en-US" sz="4500" dirty="0">
                <a:solidFill>
                  <a:srgbClr val="273239"/>
                </a:solidFill>
                <a:latin typeface="Times New Roman" panose="02020603050405020304" pitchFamily="18" charset="0"/>
                <a:cs typeface="Times New Roman" panose="02020603050405020304" pitchFamily="18" charset="0"/>
              </a:rPr>
              <a:t>Application-level gateway is also called a </a:t>
            </a:r>
            <a:r>
              <a:rPr lang="en-US" sz="4500" b="1" dirty="0">
                <a:solidFill>
                  <a:srgbClr val="273239"/>
                </a:solidFill>
                <a:latin typeface="Times New Roman" panose="02020603050405020304" pitchFamily="18" charset="0"/>
                <a:cs typeface="Times New Roman" panose="02020603050405020304" pitchFamily="18" charset="0"/>
              </a:rPr>
              <a:t>bastion host</a:t>
            </a:r>
            <a:r>
              <a:rPr lang="en-US" sz="4500" dirty="0">
                <a:solidFill>
                  <a:srgbClr val="273239"/>
                </a:solidFill>
                <a:latin typeface="Times New Roman" panose="02020603050405020304" pitchFamily="18" charset="0"/>
                <a:cs typeface="Times New Roman" panose="02020603050405020304" pitchFamily="18" charset="0"/>
              </a:rPr>
              <a:t>. It operates at the application level. Multiple application gateways can run on the same host but each gateway is a separate server with its own processes.</a:t>
            </a:r>
          </a:p>
          <a:p>
            <a:pPr algn="just" fontAlgn="base">
              <a:buFont typeface="Arial" panose="020B0604020202020204" pitchFamily="34" charset="0"/>
              <a:buChar char="•"/>
            </a:pPr>
            <a:r>
              <a:rPr lang="en-US" sz="4500" dirty="0">
                <a:solidFill>
                  <a:srgbClr val="273239"/>
                </a:solidFill>
                <a:latin typeface="Times New Roman" panose="02020603050405020304" pitchFamily="18" charset="0"/>
                <a:cs typeface="Times New Roman" panose="02020603050405020304" pitchFamily="18" charset="0"/>
              </a:rPr>
              <a:t>These firewalls, also known as </a:t>
            </a:r>
            <a:r>
              <a:rPr lang="en-US" sz="4500" b="1" dirty="0">
                <a:solidFill>
                  <a:srgbClr val="273239"/>
                </a:solidFill>
                <a:latin typeface="Times New Roman" panose="02020603050405020304" pitchFamily="18" charset="0"/>
                <a:cs typeface="Times New Roman" panose="02020603050405020304" pitchFamily="18" charset="0"/>
              </a:rPr>
              <a:t>application proxies, </a:t>
            </a:r>
            <a:r>
              <a:rPr lang="en-US" sz="4500" dirty="0">
                <a:solidFill>
                  <a:srgbClr val="273239"/>
                </a:solidFill>
                <a:latin typeface="Times New Roman" panose="02020603050405020304" pitchFamily="18" charset="0"/>
                <a:cs typeface="Times New Roman" panose="02020603050405020304" pitchFamily="18" charset="0"/>
              </a:rPr>
              <a:t>provide the most secure type of data connection because they can examine every layer of the communication, including the application data.</a:t>
            </a:r>
          </a:p>
          <a:p>
            <a:pPr algn="just" fontAlgn="base">
              <a:buFont typeface="Arial" panose="020B0604020202020204" pitchFamily="34" charset="0"/>
              <a:buChar char="•"/>
            </a:pPr>
            <a:r>
              <a:rPr lang="en-US" sz="4500" dirty="0">
                <a:solidFill>
                  <a:srgbClr val="273239"/>
                </a:solidFill>
                <a:latin typeface="Times New Roman" panose="02020603050405020304" pitchFamily="18" charset="0"/>
                <a:cs typeface="Times New Roman" panose="02020603050405020304" pitchFamily="18" charset="0"/>
              </a:rPr>
              <a:t>Example: Consider FTP service.</a:t>
            </a:r>
          </a:p>
          <a:p>
            <a:pPr algn="just" fontAlgn="base"/>
            <a:r>
              <a:rPr lang="en-US" sz="4500" dirty="0">
                <a:solidFill>
                  <a:srgbClr val="273239"/>
                </a:solidFill>
                <a:latin typeface="Times New Roman" panose="02020603050405020304" pitchFamily="18" charset="0"/>
                <a:cs typeface="Times New Roman" panose="02020603050405020304" pitchFamily="18" charset="0"/>
              </a:rPr>
              <a:t>It works as follows:</a:t>
            </a:r>
          </a:p>
          <a:p>
            <a:pPr algn="just" fontAlgn="base"/>
            <a:r>
              <a:rPr lang="en-US" sz="4500" dirty="0">
                <a:solidFill>
                  <a:srgbClr val="273239"/>
                </a:solidFill>
                <a:latin typeface="Times New Roman" panose="02020603050405020304" pitchFamily="18" charset="0"/>
                <a:cs typeface="Times New Roman" panose="02020603050405020304" pitchFamily="18" charset="0"/>
              </a:rPr>
              <a:t>Step-1: User contacts the application gateway using a TCP/IP application such as HTTP.  </a:t>
            </a:r>
          </a:p>
          <a:p>
            <a:pPr algn="just" fontAlgn="base"/>
            <a:r>
              <a:rPr lang="en-US" sz="4500" dirty="0">
                <a:solidFill>
                  <a:srgbClr val="273239"/>
                </a:solidFill>
                <a:latin typeface="Times New Roman" panose="02020603050405020304" pitchFamily="18" charset="0"/>
                <a:cs typeface="Times New Roman" panose="02020603050405020304" pitchFamily="18" charset="0"/>
              </a:rPr>
              <a:t>Step-2: The application gateway asks about the remote host with which the user wants to establish a connection. It also asks for the user id and password that is required to access the services of the application gateway.  </a:t>
            </a:r>
          </a:p>
          <a:p>
            <a:pPr algn="just" fontAlgn="base"/>
            <a:r>
              <a:rPr lang="en-US" sz="4500" dirty="0">
                <a:solidFill>
                  <a:srgbClr val="273239"/>
                </a:solidFill>
                <a:latin typeface="Times New Roman" panose="02020603050405020304" pitchFamily="18" charset="0"/>
                <a:cs typeface="Times New Roman" panose="02020603050405020304" pitchFamily="18" charset="0"/>
              </a:rPr>
              <a:t>Step-3: After verifying the authenticity of the user, the application gateway accesses the remote host on behalf of the user to deliver the packets.</a:t>
            </a:r>
          </a:p>
          <a:p>
            <a:endParaRPr lang="en-IN" dirty="0"/>
          </a:p>
        </p:txBody>
      </p:sp>
    </p:spTree>
    <p:extLst>
      <p:ext uri="{BB962C8B-B14F-4D97-AF65-F5344CB8AC3E}">
        <p14:creationId xmlns:p14="http://schemas.microsoft.com/office/powerpoint/2010/main" val="3780081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tse3.mm.bing.net/th/id/OIP.s74iawn6gu9kOKITGlylpwHaFj?pid=Api&amp;P=0&amp;h=180"/>
          <p:cNvPicPr>
            <a:picLocks noGrp="1"/>
          </p:cNvPicPr>
          <p:nvPr>
            <p:ph idx="1"/>
          </p:nvPr>
        </p:nvPicPr>
        <p:blipFill>
          <a:blip r:embed="rId2"/>
          <a:srcRect/>
          <a:stretch>
            <a:fillRect/>
          </a:stretch>
        </p:blipFill>
        <p:spPr bwMode="auto">
          <a:xfrm>
            <a:off x="681925" y="867905"/>
            <a:ext cx="7229960" cy="364694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4165" y="102989"/>
            <a:ext cx="6172200" cy="594122"/>
          </a:xfrm>
        </p:spPr>
        <p:txBody>
          <a:bodyPr>
            <a:normAutofit fontScale="90000"/>
          </a:bodyPr>
          <a:lstStyle/>
          <a:p>
            <a:r>
              <a:rPr lang="en-US" b="1" dirty="0"/>
              <a:t>Stateful inspection</a:t>
            </a:r>
            <a:endParaRPr lang="en-US" dirty="0"/>
          </a:p>
        </p:txBody>
      </p:sp>
      <p:sp>
        <p:nvSpPr>
          <p:cNvPr id="3" name="Content Placeholder 2"/>
          <p:cNvSpPr>
            <a:spLocks noGrp="1"/>
          </p:cNvSpPr>
          <p:nvPr>
            <p:ph idx="1"/>
          </p:nvPr>
        </p:nvSpPr>
        <p:spPr>
          <a:xfrm>
            <a:off x="449451" y="800100"/>
            <a:ext cx="8469823" cy="3585920"/>
          </a:xfrm>
        </p:spPr>
        <p:txBody>
          <a:bodyPr>
            <a:noAutofit/>
          </a:bodyPr>
          <a:lstStyle/>
          <a:p>
            <a:pPr algn="just"/>
            <a:r>
              <a:rPr lang="en-US" sz="1500" b="1" dirty="0">
                <a:latin typeface="Times New Roman" pitchFamily="18" charset="0"/>
                <a:cs typeface="Times New Roman" pitchFamily="18" charset="0"/>
              </a:rPr>
              <a:t>Stateful Inspection Firewall –</a:t>
            </a:r>
            <a:r>
              <a:rPr lang="en-US" sz="1500" dirty="0">
                <a:latin typeface="Times New Roman" pitchFamily="18" charset="0"/>
                <a:cs typeface="Times New Roman" pitchFamily="18" charset="0"/>
              </a:rPr>
              <a:t> a technology that controls the flow of traffic between two or more networks. </a:t>
            </a:r>
          </a:p>
          <a:p>
            <a:pPr algn="just"/>
            <a:r>
              <a:rPr lang="en-US" sz="1500" dirty="0">
                <a:latin typeface="Times New Roman" pitchFamily="18" charset="0"/>
                <a:cs typeface="Times New Roman" pitchFamily="18" charset="0"/>
              </a:rPr>
              <a:t>SI Firewalls track the state of sessions and dropping packets that are not part of a session allowed by a pre-defined security policy. </a:t>
            </a:r>
          </a:p>
          <a:p>
            <a:pPr algn="just"/>
            <a:r>
              <a:rPr lang="en-US" sz="1500" dirty="0">
                <a:latin typeface="Times New Roman" pitchFamily="18" charset="0"/>
                <a:cs typeface="Times New Roman" pitchFamily="18" charset="0"/>
              </a:rPr>
              <a:t>This is </a:t>
            </a:r>
            <a:r>
              <a:rPr lang="en-US" sz="1500" b="1" dirty="0">
                <a:latin typeface="Times New Roman" pitchFamily="18" charset="0"/>
                <a:cs typeface="Times New Roman" pitchFamily="18" charset="0"/>
              </a:rPr>
              <a:t>sometimes called session-level protection</a:t>
            </a:r>
            <a:r>
              <a:rPr lang="en-US" sz="1500" dirty="0">
                <a:latin typeface="Times New Roman" pitchFamily="18" charset="0"/>
                <a:cs typeface="Times New Roman" pitchFamily="18" charset="0"/>
              </a:rPr>
              <a:t> because they keep state information for each network session and make allowed/denied decisions based on a session state table.</a:t>
            </a:r>
          </a:p>
          <a:p>
            <a:pPr algn="just"/>
            <a:r>
              <a:rPr lang="en-US" sz="1500" dirty="0">
                <a:latin typeface="Times New Roman" pitchFamily="18" charset="0"/>
                <a:cs typeface="Times New Roman" pitchFamily="18" charset="0"/>
              </a:rPr>
              <a:t>SI firewalls go beyond individual transmission control protocol (TCP) connections to involve many such connections.</a:t>
            </a:r>
          </a:p>
          <a:p>
            <a:pPr algn="just"/>
            <a:r>
              <a:rPr lang="en-US" sz="1500" dirty="0">
                <a:latin typeface="Times New Roman" pitchFamily="18" charset="0"/>
                <a:cs typeface="Times New Roman" pitchFamily="18" charset="0"/>
              </a:rPr>
              <a:t>SI firewalls support dynamic protocols by identifying </a:t>
            </a:r>
            <a:r>
              <a:rPr lang="en-US" sz="1500" b="1" dirty="0">
                <a:latin typeface="Times New Roman" pitchFamily="18" charset="0"/>
                <a:cs typeface="Times New Roman" pitchFamily="18" charset="0"/>
              </a:rPr>
              <a:t>port change instructions </a:t>
            </a:r>
            <a:r>
              <a:rPr lang="en-US" sz="1500" dirty="0">
                <a:latin typeface="Times New Roman" pitchFamily="18" charset="0"/>
                <a:cs typeface="Times New Roman" pitchFamily="18" charset="0"/>
              </a:rPr>
              <a:t>in client-server communication and comparing future sessions against these negotiated ports. </a:t>
            </a:r>
          </a:p>
          <a:p>
            <a:pPr algn="just"/>
            <a:r>
              <a:rPr lang="en-US" sz="1500" dirty="0">
                <a:latin typeface="Times New Roman" pitchFamily="18" charset="0"/>
                <a:cs typeface="Times New Roman" pitchFamily="18" charset="0"/>
              </a:rPr>
              <a:t>For instance, to track fire transfer protocol (FTP) sessions, the firewall inspects the control connection, used for issuing commands and negotiating dynamic ports, and then allows in various data connections for transferring files.</a:t>
            </a:r>
          </a:p>
          <a:p>
            <a:endParaRPr lang="en-US" sz="15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A8138FFF-DCFE-A24A-0CFB-4E9B0D98BD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05173" y="1597223"/>
            <a:ext cx="7563173" cy="260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386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70769-CD14-B647-25F7-7A48BF3CD546}"/>
              </a:ext>
            </a:extLst>
          </p:cNvPr>
          <p:cNvSpPr>
            <a:spLocks noGrp="1"/>
          </p:cNvSpPr>
          <p:nvPr>
            <p:ph type="title"/>
          </p:nvPr>
        </p:nvSpPr>
        <p:spPr>
          <a:xfrm>
            <a:off x="457200" y="205979"/>
            <a:ext cx="8229600" cy="576685"/>
          </a:xfrm>
        </p:spPr>
        <p:txBody>
          <a:bodyPr>
            <a:normAutofit fontScale="90000"/>
          </a:bodyPr>
          <a:lstStyle/>
          <a:p>
            <a:r>
              <a:rPr lang="en-IN" dirty="0"/>
              <a:t>Countermeasures in Cyber Security</a:t>
            </a:r>
          </a:p>
        </p:txBody>
      </p:sp>
      <p:sp>
        <p:nvSpPr>
          <p:cNvPr id="3" name="Content Placeholder 2">
            <a:extLst>
              <a:ext uri="{FF2B5EF4-FFF2-40B4-BE49-F238E27FC236}">
                <a16:creationId xmlns:a16="http://schemas.microsoft.com/office/drawing/2014/main" id="{F1B0C18B-AA79-B86E-F5DD-454EB3687C3C}"/>
              </a:ext>
            </a:extLst>
          </p:cNvPr>
          <p:cNvSpPr>
            <a:spLocks noGrp="1"/>
          </p:cNvSpPr>
          <p:nvPr>
            <p:ph idx="1"/>
          </p:nvPr>
        </p:nvSpPr>
        <p:spPr>
          <a:xfrm>
            <a:off x="364210" y="860156"/>
            <a:ext cx="8229600" cy="3811959"/>
          </a:xfrm>
        </p:spPr>
        <p:txBody>
          <a:bodyPr>
            <a:normAutofit fontScale="92500" lnSpcReduction="20000"/>
          </a:bodyPr>
          <a:lstStyle/>
          <a:p>
            <a:pPr algn="just"/>
            <a:r>
              <a:rPr lang="en-IN" b="1" dirty="0"/>
              <a:t>Countermeasures</a:t>
            </a:r>
            <a:r>
              <a:rPr lang="en-IN" dirty="0"/>
              <a:t> are the </a:t>
            </a:r>
            <a:r>
              <a:rPr lang="en-IN" b="1" dirty="0"/>
              <a:t>security measures, techniques, policies, and controls</a:t>
            </a:r>
            <a:r>
              <a:rPr lang="en-IN" dirty="0"/>
              <a:t> implemented to prevent, detect, minimize, or recover from cyber attacks and security threats.</a:t>
            </a:r>
          </a:p>
          <a:p>
            <a:pPr algn="just"/>
            <a:r>
              <a:rPr lang="en-IN" b="1" dirty="0"/>
              <a:t>Objectives of Countermeasures</a:t>
            </a:r>
            <a:endParaRPr lang="en-IN" dirty="0"/>
          </a:p>
          <a:p>
            <a:pPr lvl="0" algn="just"/>
            <a:r>
              <a:rPr lang="en-IN" dirty="0"/>
              <a:t>Prevent unauthorized access. </a:t>
            </a:r>
          </a:p>
          <a:p>
            <a:pPr lvl="0" algn="just"/>
            <a:r>
              <a:rPr lang="en-IN" dirty="0"/>
              <a:t>Protect sensitive data. </a:t>
            </a:r>
          </a:p>
          <a:p>
            <a:pPr lvl="0" algn="just"/>
            <a:r>
              <a:rPr lang="en-IN" dirty="0"/>
              <a:t>Detect cyber attacks quickly. </a:t>
            </a:r>
          </a:p>
          <a:p>
            <a:pPr lvl="0" algn="just"/>
            <a:r>
              <a:rPr lang="en-IN" dirty="0"/>
              <a:t>Minimize the impact of security incidents. </a:t>
            </a:r>
          </a:p>
          <a:p>
            <a:pPr lvl="0" algn="just"/>
            <a:r>
              <a:rPr lang="en-IN" dirty="0"/>
              <a:t>Ensure business continuity. </a:t>
            </a:r>
          </a:p>
          <a:p>
            <a:pPr algn="just"/>
            <a:r>
              <a:rPr lang="en-IN" dirty="0"/>
              <a:t>Maintain the confidentiality, integrity, and availability (CIA) of information.</a:t>
            </a:r>
          </a:p>
        </p:txBody>
      </p:sp>
    </p:spTree>
    <p:extLst>
      <p:ext uri="{BB962C8B-B14F-4D97-AF65-F5344CB8AC3E}">
        <p14:creationId xmlns:p14="http://schemas.microsoft.com/office/powerpoint/2010/main" val="1323228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AB216-1DD9-765D-8745-65124FCB060E}"/>
              </a:ext>
            </a:extLst>
          </p:cNvPr>
          <p:cNvSpPr>
            <a:spLocks noGrp="1"/>
          </p:cNvSpPr>
          <p:nvPr>
            <p:ph type="title"/>
          </p:nvPr>
        </p:nvSpPr>
        <p:spPr/>
        <p:txBody>
          <a:bodyPr>
            <a:normAutofit fontScale="90000"/>
          </a:bodyPr>
          <a:lstStyle/>
          <a:p>
            <a:r>
              <a:rPr lang="en-IN" b="1" dirty="0"/>
              <a:t>Types of Countermeasures</a:t>
            </a:r>
            <a:br>
              <a:rPr lang="en-IN" dirty="0"/>
            </a:br>
            <a:endParaRPr lang="en-IN" dirty="0"/>
          </a:p>
        </p:txBody>
      </p:sp>
      <p:sp>
        <p:nvSpPr>
          <p:cNvPr id="3" name="Content Placeholder 2">
            <a:extLst>
              <a:ext uri="{FF2B5EF4-FFF2-40B4-BE49-F238E27FC236}">
                <a16:creationId xmlns:a16="http://schemas.microsoft.com/office/drawing/2014/main" id="{9681DF66-7678-E038-8CE2-4AAEBF2536EB}"/>
              </a:ext>
            </a:extLst>
          </p:cNvPr>
          <p:cNvSpPr>
            <a:spLocks noGrp="1"/>
          </p:cNvSpPr>
          <p:nvPr>
            <p:ph idx="1"/>
          </p:nvPr>
        </p:nvSpPr>
        <p:spPr/>
        <p:txBody>
          <a:bodyPr>
            <a:normAutofit fontScale="85000" lnSpcReduction="20000"/>
          </a:bodyPr>
          <a:lstStyle/>
          <a:p>
            <a:pPr marL="0" indent="0">
              <a:buNone/>
            </a:pPr>
            <a:r>
              <a:rPr lang="en-IN" b="1" dirty="0"/>
              <a:t>1. Preventive Countermeasures</a:t>
            </a:r>
            <a:endParaRPr lang="en-IN" dirty="0"/>
          </a:p>
          <a:p>
            <a:pPr marL="0" indent="0">
              <a:buNone/>
            </a:pPr>
            <a:r>
              <a:rPr lang="en-IN" dirty="0"/>
              <a:t>These measures stop attacks before they occur.</a:t>
            </a:r>
          </a:p>
          <a:p>
            <a:r>
              <a:rPr lang="en-IN" b="1" dirty="0"/>
              <a:t>Examples:</a:t>
            </a:r>
            <a:endParaRPr lang="en-IN" dirty="0"/>
          </a:p>
          <a:p>
            <a:pPr marL="0" lvl="0" indent="0">
              <a:buNone/>
            </a:pPr>
            <a:r>
              <a:rPr lang="en-IN" dirty="0"/>
              <a:t>	Strong passwords </a:t>
            </a:r>
          </a:p>
          <a:p>
            <a:pPr marL="0" lvl="0" indent="0">
              <a:buNone/>
            </a:pPr>
            <a:r>
              <a:rPr lang="en-IN" dirty="0"/>
              <a:t>	Multi-Factor Authentication (MFA) </a:t>
            </a:r>
          </a:p>
          <a:p>
            <a:pPr marL="0" lvl="0" indent="0">
              <a:buNone/>
            </a:pPr>
            <a:r>
              <a:rPr lang="en-IN" dirty="0"/>
              <a:t>	Firewalls </a:t>
            </a:r>
          </a:p>
          <a:p>
            <a:pPr marL="0" lvl="0" indent="0">
              <a:buNone/>
            </a:pPr>
            <a:r>
              <a:rPr lang="en-IN" dirty="0"/>
              <a:t>	Antivirus software </a:t>
            </a:r>
          </a:p>
          <a:p>
            <a:pPr marL="0" lvl="0" indent="0">
              <a:buNone/>
            </a:pPr>
            <a:r>
              <a:rPr lang="en-IN" dirty="0"/>
              <a:t>	Data encryption </a:t>
            </a:r>
          </a:p>
          <a:p>
            <a:pPr marL="0" lvl="0" indent="0">
              <a:buNone/>
            </a:pPr>
            <a:r>
              <a:rPr lang="en-IN" dirty="0"/>
              <a:t>	Security awareness training </a:t>
            </a:r>
          </a:p>
          <a:p>
            <a:pPr marL="0" indent="0">
              <a:buNone/>
            </a:pPr>
            <a:br>
              <a:rPr lang="en-IN" dirty="0"/>
            </a:br>
            <a:endParaRPr lang="en-IN" dirty="0"/>
          </a:p>
          <a:p>
            <a:endParaRPr lang="en-IN" dirty="0"/>
          </a:p>
        </p:txBody>
      </p:sp>
    </p:spTree>
    <p:extLst>
      <p:ext uri="{BB962C8B-B14F-4D97-AF65-F5344CB8AC3E}">
        <p14:creationId xmlns:p14="http://schemas.microsoft.com/office/powerpoint/2010/main" val="444585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FCE46D-3289-E19B-3113-DEE3F6F8A466}"/>
              </a:ext>
            </a:extLst>
          </p:cNvPr>
          <p:cNvSpPr>
            <a:spLocks noGrp="1"/>
          </p:cNvSpPr>
          <p:nvPr>
            <p:ph idx="1"/>
          </p:nvPr>
        </p:nvSpPr>
        <p:spPr>
          <a:xfrm>
            <a:off x="457200" y="488197"/>
            <a:ext cx="8229600" cy="4106426"/>
          </a:xfrm>
        </p:spPr>
        <p:txBody>
          <a:bodyPr>
            <a:normAutofit/>
          </a:bodyPr>
          <a:lstStyle/>
          <a:p>
            <a:r>
              <a:rPr lang="en-IN" b="1" dirty="0"/>
              <a:t>2. Detective Countermeasures</a:t>
            </a:r>
            <a:endParaRPr lang="en-IN" dirty="0"/>
          </a:p>
          <a:p>
            <a:r>
              <a:rPr lang="en-IN" dirty="0"/>
              <a:t>These measures identify attacks or suspicious activities.</a:t>
            </a:r>
          </a:p>
          <a:p>
            <a:r>
              <a:rPr lang="en-IN" b="1" dirty="0"/>
              <a:t>Examples:</a:t>
            </a:r>
            <a:endParaRPr lang="en-IN" dirty="0"/>
          </a:p>
          <a:p>
            <a:pPr marL="0" lvl="0" indent="0">
              <a:buNone/>
            </a:pPr>
            <a:r>
              <a:rPr lang="en-IN" dirty="0"/>
              <a:t>	Intrusion Detection Systems (IDS) </a:t>
            </a:r>
          </a:p>
          <a:p>
            <a:pPr marL="0" lvl="0" indent="0">
              <a:buNone/>
            </a:pPr>
            <a:r>
              <a:rPr lang="en-IN" dirty="0"/>
              <a:t>	Security monitoring </a:t>
            </a:r>
          </a:p>
          <a:p>
            <a:pPr marL="0" lvl="0" indent="0">
              <a:buNone/>
            </a:pPr>
            <a:r>
              <a:rPr lang="en-IN" dirty="0"/>
              <a:t>	Log analysis </a:t>
            </a:r>
          </a:p>
          <a:p>
            <a:pPr marL="0" lvl="0" indent="0">
              <a:buNone/>
            </a:pPr>
            <a:r>
              <a:rPr lang="en-IN" dirty="0"/>
              <a:t>	Vulnerability scanning </a:t>
            </a:r>
          </a:p>
          <a:p>
            <a:pPr marL="0" lvl="0" indent="0">
              <a:buNone/>
            </a:pPr>
            <a:r>
              <a:rPr lang="en-IN" dirty="0"/>
              <a:t>	Security audits </a:t>
            </a:r>
          </a:p>
          <a:p>
            <a:endParaRPr lang="en-IN" dirty="0"/>
          </a:p>
        </p:txBody>
      </p:sp>
    </p:spTree>
    <p:extLst>
      <p:ext uri="{BB962C8B-B14F-4D97-AF65-F5344CB8AC3E}">
        <p14:creationId xmlns:p14="http://schemas.microsoft.com/office/powerpoint/2010/main" val="26626224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B3946E-0547-0655-38E4-4B6EF35A0A53}"/>
              </a:ext>
            </a:extLst>
          </p:cNvPr>
          <p:cNvSpPr>
            <a:spLocks noGrp="1"/>
          </p:cNvSpPr>
          <p:nvPr>
            <p:ph idx="1"/>
          </p:nvPr>
        </p:nvSpPr>
        <p:spPr>
          <a:xfrm>
            <a:off x="457200" y="379708"/>
            <a:ext cx="8229600" cy="4214915"/>
          </a:xfrm>
        </p:spPr>
        <p:txBody>
          <a:bodyPr>
            <a:normAutofit lnSpcReduction="10000"/>
          </a:bodyPr>
          <a:lstStyle/>
          <a:p>
            <a:r>
              <a:rPr lang="en-IN" b="1" dirty="0"/>
              <a:t>3. Corrective Countermeasures</a:t>
            </a:r>
            <a:endParaRPr lang="en-IN" dirty="0"/>
          </a:p>
          <a:p>
            <a:r>
              <a:rPr lang="en-IN" dirty="0"/>
              <a:t>These measures reduce damage and restore systems after an attack.</a:t>
            </a:r>
          </a:p>
          <a:p>
            <a:r>
              <a:rPr lang="en-IN" b="1" dirty="0"/>
              <a:t>Examples:</a:t>
            </a:r>
            <a:endParaRPr lang="en-IN" dirty="0"/>
          </a:p>
          <a:p>
            <a:pPr lvl="1"/>
            <a:r>
              <a:rPr lang="en-IN" dirty="0"/>
              <a:t>Restoring data from backups </a:t>
            </a:r>
          </a:p>
          <a:p>
            <a:pPr lvl="1"/>
            <a:r>
              <a:rPr lang="en-IN" dirty="0"/>
              <a:t>Removing malware </a:t>
            </a:r>
          </a:p>
          <a:p>
            <a:pPr lvl="1"/>
            <a:r>
              <a:rPr lang="en-IN" dirty="0"/>
              <a:t>Applying security patches </a:t>
            </a:r>
          </a:p>
          <a:p>
            <a:pPr lvl="1"/>
            <a:r>
              <a:rPr lang="en-IN" dirty="0"/>
              <a:t>Resetting compromised passwords </a:t>
            </a:r>
          </a:p>
          <a:p>
            <a:pPr lvl="1"/>
            <a:r>
              <a:rPr lang="en-IN" dirty="0"/>
              <a:t>Recovering affected systems </a:t>
            </a:r>
          </a:p>
          <a:p>
            <a:pPr marL="0" indent="0">
              <a:buNone/>
            </a:pPr>
            <a:br>
              <a:rPr lang="en-IN" dirty="0"/>
            </a:br>
            <a:endParaRPr lang="en-IN" dirty="0"/>
          </a:p>
          <a:p>
            <a:endParaRPr lang="en-IN" dirty="0"/>
          </a:p>
        </p:txBody>
      </p:sp>
    </p:spTree>
    <p:extLst>
      <p:ext uri="{BB962C8B-B14F-4D97-AF65-F5344CB8AC3E}">
        <p14:creationId xmlns:p14="http://schemas.microsoft.com/office/powerpoint/2010/main" val="4285838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92E6D65-3BBB-796B-CB6A-BCF3422BC1B8}"/>
              </a:ext>
            </a:extLst>
          </p:cNvPr>
          <p:cNvGraphicFramePr>
            <a:graphicFrameLocks noGrp="1"/>
          </p:cNvGraphicFramePr>
          <p:nvPr>
            <p:ph idx="1"/>
            <p:extLst>
              <p:ext uri="{D42A27DB-BD31-4B8C-83A1-F6EECF244321}">
                <p14:modId xmlns:p14="http://schemas.microsoft.com/office/powerpoint/2010/main" val="4154416323"/>
              </p:ext>
            </p:extLst>
          </p:nvPr>
        </p:nvGraphicFramePr>
        <p:xfrm>
          <a:off x="457200" y="976395"/>
          <a:ext cx="8229600" cy="3448368"/>
        </p:xfrm>
        <a:graphic>
          <a:graphicData uri="http://schemas.openxmlformats.org/drawingml/2006/table">
            <a:tbl>
              <a:tblPr firstRow="1" firstCol="1" bandRow="1">
                <a:tableStyleId>{7BB7F7F7-D12E-4AE9-9629-C1C5CECE5D20}</a:tableStyleId>
              </a:tblPr>
              <a:tblGrid>
                <a:gridCol w="4114800">
                  <a:extLst>
                    <a:ext uri="{9D8B030D-6E8A-4147-A177-3AD203B41FA5}">
                      <a16:colId xmlns:a16="http://schemas.microsoft.com/office/drawing/2014/main" val="3069165638"/>
                    </a:ext>
                  </a:extLst>
                </a:gridCol>
                <a:gridCol w="4114800">
                  <a:extLst>
                    <a:ext uri="{9D8B030D-6E8A-4147-A177-3AD203B41FA5}">
                      <a16:colId xmlns:a16="http://schemas.microsoft.com/office/drawing/2014/main" val="2126230122"/>
                    </a:ext>
                  </a:extLst>
                </a:gridCol>
              </a:tblGrid>
              <a:tr h="313488">
                <a:tc>
                  <a:txBody>
                    <a:bodyPr/>
                    <a:lstStyle/>
                    <a:p>
                      <a:pPr marL="0" marR="0">
                        <a:lnSpc>
                          <a:spcPct val="107000"/>
                        </a:lnSpc>
                        <a:spcAft>
                          <a:spcPts val="800"/>
                        </a:spcAft>
                        <a:buNone/>
                      </a:pPr>
                      <a:r>
                        <a:rPr lang="en-IN" sz="1100" b="1" kern="100" dirty="0">
                          <a:effectLst/>
                        </a:rPr>
                        <a:t>Countermeasure</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dirty="0">
                          <a:effectLst/>
                        </a:rPr>
                        <a:t>Purpose</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4185866167"/>
                  </a:ext>
                </a:extLst>
              </a:tr>
              <a:tr h="313488">
                <a:tc>
                  <a:txBody>
                    <a:bodyPr/>
                    <a:lstStyle/>
                    <a:p>
                      <a:pPr marL="0" marR="0">
                        <a:lnSpc>
                          <a:spcPct val="107000"/>
                        </a:lnSpc>
                        <a:spcAft>
                          <a:spcPts val="800"/>
                        </a:spcAft>
                        <a:buNone/>
                      </a:pPr>
                      <a:r>
                        <a:rPr lang="en-IN" sz="1100" kern="100" dirty="0">
                          <a:effectLst/>
                        </a:rPr>
                        <a:t>Firewall</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Blocks unauthorized network access.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307970004"/>
                  </a:ext>
                </a:extLst>
              </a:tr>
              <a:tr h="313488">
                <a:tc>
                  <a:txBody>
                    <a:bodyPr/>
                    <a:lstStyle/>
                    <a:p>
                      <a:pPr marL="0" marR="0">
                        <a:lnSpc>
                          <a:spcPct val="107000"/>
                        </a:lnSpc>
                        <a:spcAft>
                          <a:spcPts val="800"/>
                        </a:spcAft>
                        <a:buNone/>
                      </a:pPr>
                      <a:r>
                        <a:rPr lang="en-IN" sz="1100" kern="100">
                          <a:effectLst/>
                        </a:rPr>
                        <a:t>Antivirus Software</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Detects and removes malware.</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885147220"/>
                  </a:ext>
                </a:extLst>
              </a:tr>
              <a:tr h="313488">
                <a:tc>
                  <a:txBody>
                    <a:bodyPr/>
                    <a:lstStyle/>
                    <a:p>
                      <a:pPr marL="0" marR="0">
                        <a:lnSpc>
                          <a:spcPct val="107000"/>
                        </a:lnSpc>
                        <a:spcAft>
                          <a:spcPts val="800"/>
                        </a:spcAft>
                        <a:buNone/>
                      </a:pPr>
                      <a:r>
                        <a:rPr lang="en-IN" sz="1100" kern="100">
                          <a:effectLst/>
                        </a:rPr>
                        <a:t>Multi-Factor Authentication (MFA)</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Adds an extra layer of login security.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351778121"/>
                  </a:ext>
                </a:extLst>
              </a:tr>
              <a:tr h="313488">
                <a:tc>
                  <a:txBody>
                    <a:bodyPr/>
                    <a:lstStyle/>
                    <a:p>
                      <a:pPr marL="0" marR="0">
                        <a:lnSpc>
                          <a:spcPct val="107000"/>
                        </a:lnSpc>
                        <a:spcAft>
                          <a:spcPts val="800"/>
                        </a:spcAft>
                        <a:buNone/>
                      </a:pPr>
                      <a:r>
                        <a:rPr lang="en-IN" sz="1100" kern="100">
                          <a:effectLst/>
                        </a:rPr>
                        <a:t>Encryption</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Protects data from unauthorized access.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146297494"/>
                  </a:ext>
                </a:extLst>
              </a:tr>
              <a:tr h="313488">
                <a:tc>
                  <a:txBody>
                    <a:bodyPr/>
                    <a:lstStyle/>
                    <a:p>
                      <a:pPr marL="0" marR="0">
                        <a:lnSpc>
                          <a:spcPct val="107000"/>
                        </a:lnSpc>
                        <a:spcAft>
                          <a:spcPts val="800"/>
                        </a:spcAft>
                        <a:buNone/>
                      </a:pPr>
                      <a:r>
                        <a:rPr lang="en-IN" sz="1100" kern="100" dirty="0">
                          <a:effectLst/>
                        </a:rPr>
                        <a:t>Regular Software Updates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Fixes security vulnerabilities.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095078299"/>
                  </a:ext>
                </a:extLst>
              </a:tr>
              <a:tr h="313488">
                <a:tc>
                  <a:txBody>
                    <a:bodyPr/>
                    <a:lstStyle/>
                    <a:p>
                      <a:pPr marL="0" marR="0">
                        <a:lnSpc>
                          <a:spcPct val="107000"/>
                        </a:lnSpc>
                        <a:spcAft>
                          <a:spcPts val="800"/>
                        </a:spcAft>
                        <a:buNone/>
                      </a:pPr>
                      <a:r>
                        <a:rPr lang="en-IN" sz="1100" kern="100">
                          <a:effectLst/>
                        </a:rPr>
                        <a:t>Backup and Recovery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Restores data after attacks or failures.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765389291"/>
                  </a:ext>
                </a:extLst>
              </a:tr>
              <a:tr h="313488">
                <a:tc>
                  <a:txBody>
                    <a:bodyPr/>
                    <a:lstStyle/>
                    <a:p>
                      <a:pPr marL="0" marR="0">
                        <a:lnSpc>
                          <a:spcPct val="107000"/>
                        </a:lnSpc>
                        <a:spcAft>
                          <a:spcPts val="800"/>
                        </a:spcAft>
                        <a:buNone/>
                      </a:pPr>
                      <a:r>
                        <a:rPr lang="en-IN" sz="1100" kern="100">
                          <a:effectLst/>
                        </a:rPr>
                        <a:t>Intrusion Detection System (IDS)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Detects suspicious activities.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396453801"/>
                  </a:ext>
                </a:extLst>
              </a:tr>
              <a:tr h="313488">
                <a:tc>
                  <a:txBody>
                    <a:bodyPr/>
                    <a:lstStyle/>
                    <a:p>
                      <a:pPr marL="0" marR="0">
                        <a:lnSpc>
                          <a:spcPct val="107000"/>
                        </a:lnSpc>
                        <a:spcAft>
                          <a:spcPts val="800"/>
                        </a:spcAft>
                        <a:buNone/>
                      </a:pPr>
                      <a:r>
                        <a:rPr lang="en-IN" sz="1100" kern="100">
                          <a:effectLst/>
                        </a:rPr>
                        <a:t>Intrusion Prevention System (IPS)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Detects and blocks attacks automatically.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4017043476"/>
                  </a:ext>
                </a:extLst>
              </a:tr>
              <a:tr h="313488">
                <a:tc>
                  <a:txBody>
                    <a:bodyPr/>
                    <a:lstStyle/>
                    <a:p>
                      <a:pPr marL="0" marR="0">
                        <a:lnSpc>
                          <a:spcPct val="107000"/>
                        </a:lnSpc>
                        <a:spcAft>
                          <a:spcPts val="800"/>
                        </a:spcAft>
                        <a:buNone/>
                      </a:pPr>
                      <a:r>
                        <a:rPr lang="en-IN" sz="1100" kern="100">
                          <a:effectLst/>
                        </a:rPr>
                        <a:t>Access Control</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Restricts access to authorized users only.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401233550"/>
                  </a:ext>
                </a:extLst>
              </a:tr>
              <a:tr h="313488">
                <a:tc>
                  <a:txBody>
                    <a:bodyPr/>
                    <a:lstStyle/>
                    <a:p>
                      <a:pPr marL="0" marR="0">
                        <a:lnSpc>
                          <a:spcPct val="107000"/>
                        </a:lnSpc>
                        <a:spcAft>
                          <a:spcPts val="800"/>
                        </a:spcAft>
                        <a:buNone/>
                      </a:pPr>
                      <a:r>
                        <a:rPr lang="en-IN" sz="1100" kern="100">
                          <a:effectLst/>
                        </a:rPr>
                        <a:t>Security Awareness Training</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Educates users about cyber threats.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725851175"/>
                  </a:ext>
                </a:extLst>
              </a:tr>
            </a:tbl>
          </a:graphicData>
        </a:graphic>
      </p:graphicFrame>
      <p:sp>
        <p:nvSpPr>
          <p:cNvPr id="7" name="Title 6">
            <a:extLst>
              <a:ext uri="{FF2B5EF4-FFF2-40B4-BE49-F238E27FC236}">
                <a16:creationId xmlns:a16="http://schemas.microsoft.com/office/drawing/2014/main" id="{9F9E32FB-F270-133C-AE5A-D4CA7857BB67}"/>
              </a:ext>
            </a:extLst>
          </p:cNvPr>
          <p:cNvSpPr txBox="1">
            <a:spLocks noGrp="1"/>
          </p:cNvSpPr>
          <p:nvPr>
            <p:ph type="title"/>
          </p:nvPr>
        </p:nvSpPr>
        <p:spPr>
          <a:xfrm>
            <a:off x="457200" y="206375"/>
            <a:ext cx="8229600" cy="857250"/>
          </a:xfrm>
          <a:prstGeom prst="rect">
            <a:avLst/>
          </a:prstGeom>
          <a:noFill/>
        </p:spPr>
        <p:txBody>
          <a:bodyPr wrap="square">
            <a:spAutoFit/>
          </a:bodyPr>
          <a:lstStyle/>
          <a:p>
            <a:pPr marL="0" marR="0">
              <a:lnSpc>
                <a:spcPct val="107000"/>
              </a:lnSpc>
              <a:spcAft>
                <a:spcPts val="800"/>
              </a:spcAft>
              <a:buNone/>
            </a:pPr>
            <a:r>
              <a:rPr lang="en-IN" sz="1400" b="1" kern="100" dirty="0">
                <a:effectLst/>
                <a:latin typeface="Calibri" panose="020F0502020204030204" pitchFamily="34" charset="0"/>
                <a:ea typeface="Calibri" panose="020F0502020204030204" pitchFamily="34" charset="0"/>
                <a:cs typeface="Mangal" panose="02040503050203030202" pitchFamily="18" charset="0"/>
              </a:rPr>
              <a:t>Common Cyber Security Countermeasures</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272952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58B3-FDAF-80B9-CBFF-663C6E43FAB7}"/>
              </a:ext>
            </a:extLst>
          </p:cNvPr>
          <p:cNvSpPr>
            <a:spLocks noGrp="1"/>
          </p:cNvSpPr>
          <p:nvPr>
            <p:ph type="title"/>
          </p:nvPr>
        </p:nvSpPr>
        <p:spPr/>
        <p:txBody>
          <a:bodyPr>
            <a:normAutofit fontScale="90000"/>
          </a:bodyPr>
          <a:lstStyle/>
          <a:p>
            <a:r>
              <a:rPr lang="en-IN" b="1" dirty="0"/>
              <a:t>Example</a:t>
            </a:r>
            <a:br>
              <a:rPr lang="en-IN" dirty="0"/>
            </a:br>
            <a:endParaRPr lang="en-IN" dirty="0"/>
          </a:p>
        </p:txBody>
      </p:sp>
      <p:sp>
        <p:nvSpPr>
          <p:cNvPr id="3" name="Content Placeholder 2">
            <a:extLst>
              <a:ext uri="{FF2B5EF4-FFF2-40B4-BE49-F238E27FC236}">
                <a16:creationId xmlns:a16="http://schemas.microsoft.com/office/drawing/2014/main" id="{492FA067-51A6-D16A-8598-49B25B5931FA}"/>
              </a:ext>
            </a:extLst>
          </p:cNvPr>
          <p:cNvSpPr>
            <a:spLocks noGrp="1"/>
          </p:cNvSpPr>
          <p:nvPr>
            <p:ph idx="1"/>
          </p:nvPr>
        </p:nvSpPr>
        <p:spPr/>
        <p:txBody>
          <a:bodyPr>
            <a:normAutofit fontScale="92500"/>
          </a:bodyPr>
          <a:lstStyle/>
          <a:p>
            <a:r>
              <a:rPr lang="en-IN" b="1" dirty="0"/>
              <a:t>Scenario:</a:t>
            </a:r>
            <a:r>
              <a:rPr lang="en-IN" dirty="0"/>
              <a:t> An attacker sends a phishing email containing malware.</a:t>
            </a:r>
          </a:p>
          <a:p>
            <a:r>
              <a:rPr lang="en-IN" b="1" dirty="0"/>
              <a:t>Countermeasures:</a:t>
            </a:r>
            <a:endParaRPr lang="en-IN" dirty="0"/>
          </a:p>
          <a:p>
            <a:pPr lvl="0"/>
            <a:r>
              <a:rPr lang="en-IN" dirty="0"/>
              <a:t>Email filtering blocks the malicious email. </a:t>
            </a:r>
          </a:p>
          <a:p>
            <a:pPr lvl="0"/>
            <a:r>
              <a:rPr lang="en-IN" dirty="0"/>
              <a:t>Antivirus detects and removes the malware. </a:t>
            </a:r>
          </a:p>
          <a:p>
            <a:pPr lvl="0"/>
            <a:r>
              <a:rPr lang="en-IN" dirty="0"/>
              <a:t>Employee awareness training helps users recognize phishing attempts. </a:t>
            </a:r>
          </a:p>
          <a:p>
            <a:pPr lvl="0"/>
            <a:r>
              <a:rPr lang="en-IN" dirty="0"/>
              <a:t>MFA prevents account compromise even if a password is stolen. </a:t>
            </a:r>
          </a:p>
          <a:p>
            <a:r>
              <a:rPr lang="en-IN" dirty="0"/>
              <a:t>Data backups allow recovery if files are affected. </a:t>
            </a:r>
          </a:p>
        </p:txBody>
      </p:sp>
    </p:spTree>
    <p:extLst>
      <p:ext uri="{BB962C8B-B14F-4D97-AF65-F5344CB8AC3E}">
        <p14:creationId xmlns:p14="http://schemas.microsoft.com/office/powerpoint/2010/main" val="1712770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30CD4-B1D1-4C78-ED5C-3EE612E69877}"/>
              </a:ext>
            </a:extLst>
          </p:cNvPr>
          <p:cNvSpPr>
            <a:spLocks noGrp="1"/>
          </p:cNvSpPr>
          <p:nvPr>
            <p:ph type="title"/>
          </p:nvPr>
        </p:nvSpPr>
        <p:spPr/>
        <p:txBody>
          <a:bodyPr>
            <a:normAutofit fontScale="90000"/>
          </a:bodyPr>
          <a:lstStyle/>
          <a:p>
            <a:r>
              <a:rPr lang="en-IN" b="1" dirty="0"/>
              <a:t>Benefits of Countermeasures</a:t>
            </a:r>
            <a:br>
              <a:rPr lang="en-IN" dirty="0"/>
            </a:br>
            <a:endParaRPr lang="en-IN" dirty="0"/>
          </a:p>
        </p:txBody>
      </p:sp>
      <p:sp>
        <p:nvSpPr>
          <p:cNvPr id="3" name="Content Placeholder 2">
            <a:extLst>
              <a:ext uri="{FF2B5EF4-FFF2-40B4-BE49-F238E27FC236}">
                <a16:creationId xmlns:a16="http://schemas.microsoft.com/office/drawing/2014/main" id="{7D31A7D5-AAA9-1E42-72AE-88C71DA187F7}"/>
              </a:ext>
            </a:extLst>
          </p:cNvPr>
          <p:cNvSpPr>
            <a:spLocks noGrp="1"/>
          </p:cNvSpPr>
          <p:nvPr>
            <p:ph idx="1"/>
          </p:nvPr>
        </p:nvSpPr>
        <p:spPr/>
        <p:txBody>
          <a:bodyPr/>
          <a:lstStyle/>
          <a:p>
            <a:pPr lvl="0" algn="just"/>
            <a:r>
              <a:rPr lang="en-IN" dirty="0"/>
              <a:t>Reduce cyber security risks. </a:t>
            </a:r>
          </a:p>
          <a:p>
            <a:pPr lvl="0" algn="just"/>
            <a:r>
              <a:rPr lang="en-IN" dirty="0"/>
              <a:t>Protect confidential information. </a:t>
            </a:r>
          </a:p>
          <a:p>
            <a:pPr lvl="0" algn="just"/>
            <a:r>
              <a:rPr lang="en-IN" dirty="0"/>
              <a:t>Prevent financial losses. </a:t>
            </a:r>
          </a:p>
          <a:p>
            <a:pPr lvl="0" algn="just"/>
            <a:r>
              <a:rPr lang="en-IN" dirty="0"/>
              <a:t>Improve system availability. </a:t>
            </a:r>
          </a:p>
          <a:p>
            <a:pPr lvl="0" algn="just"/>
            <a:r>
              <a:rPr lang="en-IN" dirty="0"/>
              <a:t>Ensure compliance with security regulations. </a:t>
            </a:r>
          </a:p>
          <a:p>
            <a:pPr algn="just"/>
            <a:r>
              <a:rPr lang="en-IN" dirty="0"/>
              <a:t>Increase user confidence and trust. </a:t>
            </a:r>
          </a:p>
        </p:txBody>
      </p:sp>
    </p:spTree>
    <p:extLst>
      <p:ext uri="{BB962C8B-B14F-4D97-AF65-F5344CB8AC3E}">
        <p14:creationId xmlns:p14="http://schemas.microsoft.com/office/powerpoint/2010/main" val="18732936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F4679-880E-0579-C34E-BC65939C7A5E}"/>
              </a:ext>
            </a:extLst>
          </p:cNvPr>
          <p:cNvSpPr>
            <a:spLocks noGrp="1"/>
          </p:cNvSpPr>
          <p:nvPr>
            <p:ph type="title"/>
          </p:nvPr>
        </p:nvSpPr>
        <p:spPr/>
        <p:txBody>
          <a:bodyPr>
            <a:normAutofit fontScale="90000"/>
          </a:bodyPr>
          <a:lstStyle/>
          <a:p>
            <a:r>
              <a:rPr lang="en-IN" b="1" dirty="0"/>
              <a:t>Best Practices</a:t>
            </a:r>
            <a:br>
              <a:rPr lang="en-IN" dirty="0"/>
            </a:br>
            <a:endParaRPr lang="en-IN" dirty="0"/>
          </a:p>
        </p:txBody>
      </p:sp>
      <p:sp>
        <p:nvSpPr>
          <p:cNvPr id="3" name="Content Placeholder 2">
            <a:extLst>
              <a:ext uri="{FF2B5EF4-FFF2-40B4-BE49-F238E27FC236}">
                <a16:creationId xmlns:a16="http://schemas.microsoft.com/office/drawing/2014/main" id="{1856A855-ED71-3CB7-32B4-D847F09D6A9D}"/>
              </a:ext>
            </a:extLst>
          </p:cNvPr>
          <p:cNvSpPr>
            <a:spLocks noGrp="1"/>
          </p:cNvSpPr>
          <p:nvPr>
            <p:ph idx="1"/>
          </p:nvPr>
        </p:nvSpPr>
        <p:spPr/>
        <p:txBody>
          <a:bodyPr>
            <a:normAutofit lnSpcReduction="10000"/>
          </a:bodyPr>
          <a:lstStyle/>
          <a:p>
            <a:pPr lvl="0"/>
            <a:r>
              <a:rPr lang="en-IN" dirty="0"/>
              <a:t>Use strong, unique passwords. </a:t>
            </a:r>
          </a:p>
          <a:p>
            <a:pPr lvl="0"/>
            <a:r>
              <a:rPr lang="en-IN" dirty="0"/>
              <a:t>Enable Multi-Factor Authentication (MFA). </a:t>
            </a:r>
          </a:p>
          <a:p>
            <a:pPr lvl="0"/>
            <a:r>
              <a:rPr lang="en-IN" dirty="0"/>
              <a:t>Keep operating systems and applications updated. </a:t>
            </a:r>
          </a:p>
          <a:p>
            <a:pPr lvl="0"/>
            <a:r>
              <a:rPr lang="en-IN" dirty="0"/>
              <a:t>Perform regular data backups. </a:t>
            </a:r>
          </a:p>
          <a:p>
            <a:pPr lvl="0"/>
            <a:r>
              <a:rPr lang="en-IN" dirty="0"/>
              <a:t>Install antivirus and firewall protection. </a:t>
            </a:r>
          </a:p>
          <a:p>
            <a:pPr lvl="0"/>
            <a:r>
              <a:rPr lang="en-IN" dirty="0"/>
              <a:t>Monitor network activity continuously. </a:t>
            </a:r>
          </a:p>
          <a:p>
            <a:pPr lvl="0"/>
            <a:r>
              <a:rPr lang="en-IN" dirty="0"/>
              <a:t>Conduct periodic security audits. </a:t>
            </a:r>
          </a:p>
          <a:p>
            <a:pPr lvl="0"/>
            <a:r>
              <a:rPr lang="en-IN" dirty="0"/>
              <a:t>Train employees on cybersecurity best practices.</a:t>
            </a:r>
          </a:p>
          <a:p>
            <a:endParaRPr lang="en-IN" dirty="0"/>
          </a:p>
        </p:txBody>
      </p:sp>
    </p:spTree>
    <p:extLst>
      <p:ext uri="{BB962C8B-B14F-4D97-AF65-F5344CB8AC3E}">
        <p14:creationId xmlns:p14="http://schemas.microsoft.com/office/powerpoint/2010/main" val="1149363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3A566-4B2F-D8B3-22C4-5B2BE356FE1C}"/>
              </a:ext>
            </a:extLst>
          </p:cNvPr>
          <p:cNvSpPr>
            <a:spLocks noGrp="1"/>
          </p:cNvSpPr>
          <p:nvPr>
            <p:ph type="title"/>
          </p:nvPr>
        </p:nvSpPr>
        <p:spPr/>
        <p:txBody>
          <a:bodyPr>
            <a:normAutofit fontScale="90000"/>
          </a:bodyPr>
          <a:lstStyle/>
          <a:p>
            <a:r>
              <a:rPr lang="en-IN" b="1" dirty="0"/>
              <a:t>Configuration of Firewalls</a:t>
            </a:r>
            <a:br>
              <a:rPr lang="en-IN" dirty="0"/>
            </a:br>
            <a:endParaRPr lang="en-IN" dirty="0"/>
          </a:p>
        </p:txBody>
      </p:sp>
      <p:sp>
        <p:nvSpPr>
          <p:cNvPr id="3" name="Content Placeholder 2">
            <a:extLst>
              <a:ext uri="{FF2B5EF4-FFF2-40B4-BE49-F238E27FC236}">
                <a16:creationId xmlns:a16="http://schemas.microsoft.com/office/drawing/2014/main" id="{3F120903-0731-C05A-364E-D8376064514D}"/>
              </a:ext>
            </a:extLst>
          </p:cNvPr>
          <p:cNvSpPr>
            <a:spLocks noGrp="1"/>
          </p:cNvSpPr>
          <p:nvPr>
            <p:ph idx="1"/>
          </p:nvPr>
        </p:nvSpPr>
        <p:spPr/>
        <p:txBody>
          <a:bodyPr>
            <a:normAutofit/>
          </a:bodyPr>
          <a:lstStyle/>
          <a:p>
            <a:pPr marL="0" indent="0">
              <a:buNone/>
            </a:pPr>
            <a:r>
              <a:rPr lang="en-IN" b="1" dirty="0"/>
              <a:t>Introduction</a:t>
            </a:r>
            <a:endParaRPr lang="en-IN" dirty="0"/>
          </a:p>
          <a:p>
            <a:pPr algn="just"/>
            <a:r>
              <a:rPr lang="en-IN" dirty="0"/>
              <a:t>A </a:t>
            </a:r>
            <a:r>
              <a:rPr lang="en-IN" b="1" dirty="0"/>
              <a:t>firewall</a:t>
            </a:r>
            <a:r>
              <a:rPr lang="en-IN" dirty="0"/>
              <a:t> is a network security device or software that monitors and controls incoming and outgoing network traffic based on predefined security rules. </a:t>
            </a:r>
          </a:p>
          <a:p>
            <a:pPr algn="just"/>
            <a:r>
              <a:rPr lang="en-IN" dirty="0"/>
              <a:t>Proper firewall configuration helps protect computers and networks from unauthorized access, malware, and cyber attacks.</a:t>
            </a:r>
          </a:p>
          <a:p>
            <a:pPr marL="0" indent="0">
              <a:buNone/>
            </a:pPr>
            <a:endParaRPr lang="en-IN" dirty="0"/>
          </a:p>
          <a:p>
            <a:endParaRPr lang="en-IN" dirty="0"/>
          </a:p>
        </p:txBody>
      </p:sp>
    </p:spTree>
    <p:extLst>
      <p:ext uri="{BB962C8B-B14F-4D97-AF65-F5344CB8AC3E}">
        <p14:creationId xmlns:p14="http://schemas.microsoft.com/office/powerpoint/2010/main" val="2759571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E4851-C188-9786-9E6E-CE57B6014BAA}"/>
              </a:ext>
            </a:extLst>
          </p:cNvPr>
          <p:cNvSpPr>
            <a:spLocks noGrp="1"/>
          </p:cNvSpPr>
          <p:nvPr>
            <p:ph type="title"/>
          </p:nvPr>
        </p:nvSpPr>
        <p:spPr>
          <a:xfrm>
            <a:off x="457200" y="205979"/>
            <a:ext cx="8229600" cy="553438"/>
          </a:xfrm>
        </p:spPr>
        <p:txBody>
          <a:bodyPr>
            <a:normAutofit fontScale="90000"/>
          </a:bodyPr>
          <a:lstStyle/>
          <a:p>
            <a:r>
              <a:rPr lang="en-IN" b="1" dirty="0"/>
              <a:t>Steps in Firewall Configuration</a:t>
            </a:r>
            <a:br>
              <a:rPr lang="en-IN" dirty="0"/>
            </a:br>
            <a:endParaRPr lang="en-IN" dirty="0"/>
          </a:p>
        </p:txBody>
      </p:sp>
      <p:sp>
        <p:nvSpPr>
          <p:cNvPr id="3" name="Content Placeholder 2">
            <a:extLst>
              <a:ext uri="{FF2B5EF4-FFF2-40B4-BE49-F238E27FC236}">
                <a16:creationId xmlns:a16="http://schemas.microsoft.com/office/drawing/2014/main" id="{67F0CF18-363C-6047-B15A-FA43EC1A621F}"/>
              </a:ext>
            </a:extLst>
          </p:cNvPr>
          <p:cNvSpPr>
            <a:spLocks noGrp="1"/>
          </p:cNvSpPr>
          <p:nvPr>
            <p:ph idx="1"/>
          </p:nvPr>
        </p:nvSpPr>
        <p:spPr>
          <a:xfrm>
            <a:off x="457200" y="588936"/>
            <a:ext cx="8229600" cy="4262033"/>
          </a:xfrm>
        </p:spPr>
        <p:txBody>
          <a:bodyPr>
            <a:normAutofit fontScale="92500" lnSpcReduction="20000"/>
          </a:bodyPr>
          <a:lstStyle/>
          <a:p>
            <a:r>
              <a:rPr lang="en-IN" b="1" dirty="0"/>
              <a:t>1. Define Security Policy</a:t>
            </a:r>
            <a:endParaRPr lang="en-IN" dirty="0"/>
          </a:p>
          <a:p>
            <a:pPr lvl="1"/>
            <a:r>
              <a:rPr lang="en-IN" dirty="0"/>
              <a:t>Identify which services and applications are allowed. </a:t>
            </a:r>
          </a:p>
          <a:p>
            <a:pPr lvl="1"/>
            <a:r>
              <a:rPr lang="en-IN" dirty="0"/>
              <a:t>Determine which traffic should be blocked. </a:t>
            </a:r>
          </a:p>
          <a:p>
            <a:pPr lvl="1"/>
            <a:r>
              <a:rPr lang="en-IN" dirty="0"/>
              <a:t>Establish security requirements for the organization. </a:t>
            </a:r>
          </a:p>
          <a:p>
            <a:pPr lvl="1"/>
            <a:r>
              <a:rPr lang="en-IN" b="1" dirty="0"/>
              <a:t>Example:</a:t>
            </a:r>
            <a:endParaRPr lang="en-IN" dirty="0"/>
          </a:p>
          <a:p>
            <a:pPr lvl="2"/>
            <a:r>
              <a:rPr lang="en-IN" dirty="0"/>
              <a:t>Allow HTTP (Port 80) and HTTPS (Port 443). </a:t>
            </a:r>
          </a:p>
          <a:p>
            <a:pPr lvl="2"/>
            <a:r>
              <a:rPr lang="en-IN" dirty="0"/>
              <a:t>Block unnecessary ports such as Telnet (Port 23). </a:t>
            </a:r>
          </a:p>
          <a:p>
            <a:pPr marL="0" indent="0">
              <a:buNone/>
            </a:pPr>
            <a:br>
              <a:rPr lang="en-IN" dirty="0"/>
            </a:br>
            <a:r>
              <a:rPr lang="en-IN" b="1" dirty="0"/>
              <a:t>2. Choose the Firewall Type</a:t>
            </a:r>
            <a:endParaRPr lang="en-IN" dirty="0"/>
          </a:p>
          <a:p>
            <a:pPr lvl="1"/>
            <a:r>
              <a:rPr lang="en-IN" dirty="0"/>
              <a:t>Select an appropriate firewall based on organizational needs.</a:t>
            </a:r>
          </a:p>
          <a:p>
            <a:pPr lvl="1"/>
            <a:r>
              <a:rPr lang="en-IN" dirty="0"/>
              <a:t>Packet Filtering Firewall </a:t>
            </a:r>
          </a:p>
          <a:p>
            <a:pPr lvl="1"/>
            <a:r>
              <a:rPr lang="en-IN" dirty="0"/>
              <a:t>Stateful Inspection Firewall </a:t>
            </a:r>
          </a:p>
          <a:p>
            <a:pPr lvl="1"/>
            <a:r>
              <a:rPr lang="en-IN" dirty="0"/>
              <a:t>Proxy Firewall </a:t>
            </a:r>
          </a:p>
          <a:p>
            <a:pPr lvl="1"/>
            <a:r>
              <a:rPr lang="en-IN" dirty="0"/>
              <a:t>Next-Generation Firewall (NGFW) </a:t>
            </a:r>
          </a:p>
          <a:p>
            <a:endParaRPr lang="en-IN" dirty="0"/>
          </a:p>
        </p:txBody>
      </p:sp>
    </p:spTree>
    <p:extLst>
      <p:ext uri="{BB962C8B-B14F-4D97-AF65-F5344CB8AC3E}">
        <p14:creationId xmlns:p14="http://schemas.microsoft.com/office/powerpoint/2010/main" val="2986936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AD4AEE-A42A-CDBB-7541-F8D386DAB716}"/>
              </a:ext>
            </a:extLst>
          </p:cNvPr>
          <p:cNvSpPr>
            <a:spLocks noGrp="1"/>
          </p:cNvSpPr>
          <p:nvPr>
            <p:ph idx="1"/>
          </p:nvPr>
        </p:nvSpPr>
        <p:spPr>
          <a:xfrm>
            <a:off x="457200" y="170480"/>
            <a:ext cx="8229600" cy="4765729"/>
          </a:xfrm>
        </p:spPr>
        <p:txBody>
          <a:bodyPr>
            <a:normAutofit fontScale="92500" lnSpcReduction="20000"/>
          </a:bodyPr>
          <a:lstStyle/>
          <a:p>
            <a:r>
              <a:rPr lang="en-IN" b="1" dirty="0"/>
              <a:t>3. Configure Network Interfaces</a:t>
            </a:r>
            <a:endParaRPr lang="en-IN" dirty="0"/>
          </a:p>
          <a:p>
            <a:pPr lvl="1"/>
            <a:r>
              <a:rPr lang="en-IN" dirty="0"/>
              <a:t>Assign firewall interfaces to different network zones.</a:t>
            </a:r>
          </a:p>
          <a:p>
            <a:pPr lvl="1"/>
            <a:r>
              <a:rPr lang="en-IN" b="1" dirty="0"/>
              <a:t>Example:</a:t>
            </a:r>
            <a:endParaRPr lang="en-IN" dirty="0"/>
          </a:p>
          <a:p>
            <a:pPr lvl="2"/>
            <a:r>
              <a:rPr lang="en-IN" b="1" dirty="0"/>
              <a:t>Internal Interface (LAN):</a:t>
            </a:r>
            <a:r>
              <a:rPr lang="en-IN" dirty="0"/>
              <a:t> Trusted network </a:t>
            </a:r>
          </a:p>
          <a:p>
            <a:pPr lvl="2"/>
            <a:r>
              <a:rPr lang="en-IN" b="1" dirty="0"/>
              <a:t>External Interface (WAN):</a:t>
            </a:r>
            <a:r>
              <a:rPr lang="en-IN" dirty="0"/>
              <a:t> Internet connection </a:t>
            </a:r>
          </a:p>
          <a:p>
            <a:pPr lvl="2"/>
            <a:r>
              <a:rPr lang="en-IN" b="1" dirty="0"/>
              <a:t>DMZ Interface:</a:t>
            </a:r>
            <a:r>
              <a:rPr lang="en-IN" dirty="0"/>
              <a:t> Public-facing servers </a:t>
            </a:r>
          </a:p>
          <a:p>
            <a:pPr marL="0" indent="0">
              <a:buNone/>
            </a:pPr>
            <a:br>
              <a:rPr lang="en-IN" dirty="0"/>
            </a:br>
            <a:r>
              <a:rPr lang="en-IN" b="1" dirty="0"/>
              <a:t>4. Configure Firewall Rules</a:t>
            </a:r>
            <a:endParaRPr lang="en-IN" dirty="0"/>
          </a:p>
          <a:p>
            <a:r>
              <a:rPr lang="en-IN" dirty="0"/>
              <a:t>Create rules that define which traffic is allowed or denied.</a:t>
            </a:r>
          </a:p>
          <a:p>
            <a:r>
              <a:rPr lang="en-IN" b="1" dirty="0"/>
              <a:t>Rule Components:</a:t>
            </a:r>
            <a:endParaRPr lang="en-IN" dirty="0"/>
          </a:p>
          <a:p>
            <a:pPr lvl="1"/>
            <a:r>
              <a:rPr lang="en-IN" dirty="0"/>
              <a:t>Source IP address </a:t>
            </a:r>
          </a:p>
          <a:p>
            <a:pPr lvl="1"/>
            <a:r>
              <a:rPr lang="en-IN" dirty="0"/>
              <a:t>Destination IP address </a:t>
            </a:r>
          </a:p>
          <a:p>
            <a:pPr lvl="1"/>
            <a:r>
              <a:rPr lang="en-IN" dirty="0"/>
              <a:t>Protocol (TCP/UDP/ICMP) </a:t>
            </a:r>
          </a:p>
          <a:p>
            <a:pPr lvl="1"/>
            <a:r>
              <a:rPr lang="en-IN" dirty="0"/>
              <a:t>Port number </a:t>
            </a:r>
          </a:p>
          <a:p>
            <a:pPr lvl="1"/>
            <a:r>
              <a:rPr lang="en-IN" dirty="0"/>
              <a:t>Action (Allow or Deny) </a:t>
            </a:r>
          </a:p>
          <a:p>
            <a:endParaRPr lang="en-IN" dirty="0"/>
          </a:p>
        </p:txBody>
      </p:sp>
    </p:spTree>
    <p:extLst>
      <p:ext uri="{BB962C8B-B14F-4D97-AF65-F5344CB8AC3E}">
        <p14:creationId xmlns:p14="http://schemas.microsoft.com/office/powerpoint/2010/main" val="3603195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05DEB-71AE-025D-46BA-2059AA5BBB69}"/>
              </a:ext>
            </a:extLst>
          </p:cNvPr>
          <p:cNvSpPr>
            <a:spLocks noGrp="1"/>
          </p:cNvSpPr>
          <p:nvPr>
            <p:ph type="title"/>
          </p:nvPr>
        </p:nvSpPr>
        <p:spPr/>
        <p:txBody>
          <a:bodyPr/>
          <a:lstStyle/>
          <a:p>
            <a:r>
              <a:rPr lang="en-US" dirty="0"/>
              <a:t>Example Rules</a:t>
            </a:r>
            <a:endParaRPr lang="en-IN" dirty="0"/>
          </a:p>
        </p:txBody>
      </p:sp>
      <p:graphicFrame>
        <p:nvGraphicFramePr>
          <p:cNvPr id="4" name="Content Placeholder 3">
            <a:extLst>
              <a:ext uri="{FF2B5EF4-FFF2-40B4-BE49-F238E27FC236}">
                <a16:creationId xmlns:a16="http://schemas.microsoft.com/office/drawing/2014/main" id="{6DA175E0-7F58-EBDC-B0C7-CED83141AB2D}"/>
              </a:ext>
            </a:extLst>
          </p:cNvPr>
          <p:cNvGraphicFramePr>
            <a:graphicFrameLocks noGrp="1"/>
          </p:cNvGraphicFramePr>
          <p:nvPr>
            <p:ph idx="1"/>
            <p:extLst>
              <p:ext uri="{D42A27DB-BD31-4B8C-83A1-F6EECF244321}">
                <p14:modId xmlns:p14="http://schemas.microsoft.com/office/powerpoint/2010/main" val="27820659"/>
              </p:ext>
            </p:extLst>
          </p:nvPr>
        </p:nvGraphicFramePr>
        <p:xfrm>
          <a:off x="805913" y="1596325"/>
          <a:ext cx="6919990" cy="3029915"/>
        </p:xfrm>
        <a:graphic>
          <a:graphicData uri="http://schemas.openxmlformats.org/drawingml/2006/table">
            <a:tbl>
              <a:tblPr firstRow="1" firstCol="1" bandRow="1">
                <a:tableStyleId>{7BB7F7F7-D12E-4AE9-9629-C1C5CECE5D20}</a:tableStyleId>
              </a:tblPr>
              <a:tblGrid>
                <a:gridCol w="751667">
                  <a:extLst>
                    <a:ext uri="{9D8B030D-6E8A-4147-A177-3AD203B41FA5}">
                      <a16:colId xmlns:a16="http://schemas.microsoft.com/office/drawing/2014/main" val="984760313"/>
                    </a:ext>
                  </a:extLst>
                </a:gridCol>
                <a:gridCol w="1511084">
                  <a:extLst>
                    <a:ext uri="{9D8B030D-6E8A-4147-A177-3AD203B41FA5}">
                      <a16:colId xmlns:a16="http://schemas.microsoft.com/office/drawing/2014/main" val="4264976490"/>
                    </a:ext>
                  </a:extLst>
                </a:gridCol>
                <a:gridCol w="1441343">
                  <a:extLst>
                    <a:ext uri="{9D8B030D-6E8A-4147-A177-3AD203B41FA5}">
                      <a16:colId xmlns:a16="http://schemas.microsoft.com/office/drawing/2014/main" val="410600354"/>
                    </a:ext>
                  </a:extLst>
                </a:gridCol>
                <a:gridCol w="929898">
                  <a:extLst>
                    <a:ext uri="{9D8B030D-6E8A-4147-A177-3AD203B41FA5}">
                      <a16:colId xmlns:a16="http://schemas.microsoft.com/office/drawing/2014/main" val="728238264"/>
                    </a:ext>
                  </a:extLst>
                </a:gridCol>
                <a:gridCol w="2285998">
                  <a:extLst>
                    <a:ext uri="{9D8B030D-6E8A-4147-A177-3AD203B41FA5}">
                      <a16:colId xmlns:a16="http://schemas.microsoft.com/office/drawing/2014/main" val="3785812595"/>
                    </a:ext>
                  </a:extLst>
                </a:gridCol>
              </a:tblGrid>
              <a:tr h="605983">
                <a:tc>
                  <a:txBody>
                    <a:bodyPr/>
                    <a:lstStyle/>
                    <a:p>
                      <a:pPr marL="0" marR="0">
                        <a:lnSpc>
                          <a:spcPct val="107000"/>
                        </a:lnSpc>
                        <a:spcAft>
                          <a:spcPts val="800"/>
                        </a:spcAft>
                        <a:buNone/>
                      </a:pPr>
                      <a:r>
                        <a:rPr lang="en-IN" sz="1100" b="1" kern="100">
                          <a:effectLst/>
                        </a:rPr>
                        <a:t>Rule</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Source</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Destination</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Port</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dirty="0">
                          <a:effectLst/>
                        </a:rPr>
                        <a:t>Action</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123061701"/>
                  </a:ext>
                </a:extLst>
              </a:tr>
              <a:tr h="605983">
                <a:tc>
                  <a:txBody>
                    <a:bodyPr/>
                    <a:lstStyle/>
                    <a:p>
                      <a:pPr marL="0" marR="0">
                        <a:lnSpc>
                          <a:spcPct val="107000"/>
                        </a:lnSpc>
                        <a:spcAft>
                          <a:spcPts val="800"/>
                        </a:spcAft>
                        <a:buNone/>
                      </a:pPr>
                      <a:r>
                        <a:rPr lang="en-IN" sz="1100" kern="100">
                          <a:effectLst/>
                        </a:rPr>
                        <a:t>1</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Web Server</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80</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Allow</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4061776600"/>
                  </a:ext>
                </a:extLst>
              </a:tr>
              <a:tr h="605983">
                <a:tc>
                  <a:txBody>
                    <a:bodyPr/>
                    <a:lstStyle/>
                    <a:p>
                      <a:pPr marL="0" marR="0">
                        <a:lnSpc>
                          <a:spcPct val="107000"/>
                        </a:lnSpc>
                        <a:spcAft>
                          <a:spcPts val="800"/>
                        </a:spcAft>
                        <a:buNone/>
                      </a:pPr>
                      <a:r>
                        <a:rPr lang="en-IN" sz="1100" kern="100">
                          <a:effectLst/>
                        </a:rPr>
                        <a:t>2</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Web Server</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443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Allow</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643615390"/>
                  </a:ext>
                </a:extLst>
              </a:tr>
              <a:tr h="605983">
                <a:tc>
                  <a:txBody>
                    <a:bodyPr/>
                    <a:lstStyle/>
                    <a:p>
                      <a:pPr marL="0" marR="0">
                        <a:lnSpc>
                          <a:spcPct val="107000"/>
                        </a:lnSpc>
                        <a:spcAft>
                          <a:spcPts val="800"/>
                        </a:spcAft>
                        <a:buNone/>
                      </a:pPr>
                      <a:r>
                        <a:rPr lang="en-IN" sz="1100" kern="100">
                          <a:effectLst/>
                        </a:rPr>
                        <a:t>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Any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Internal Network</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23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Deny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341481491"/>
                  </a:ext>
                </a:extLst>
              </a:tr>
              <a:tr h="605983">
                <a:tc>
                  <a:txBody>
                    <a:bodyPr/>
                    <a:lstStyle/>
                    <a:p>
                      <a:pPr marL="0" marR="0">
                        <a:lnSpc>
                          <a:spcPct val="107000"/>
                        </a:lnSpc>
                        <a:spcAft>
                          <a:spcPts val="800"/>
                        </a:spcAft>
                        <a:buNone/>
                      </a:pPr>
                      <a:r>
                        <a:rPr lang="en-IN" sz="1100" kern="100">
                          <a:effectLst/>
                        </a:rPr>
                        <a:t>4</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Internal Network</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Internet</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53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Allow</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946367054"/>
                  </a:ext>
                </a:extLst>
              </a:tr>
            </a:tbl>
          </a:graphicData>
        </a:graphic>
      </p:graphicFrame>
    </p:spTree>
    <p:extLst>
      <p:ext uri="{BB962C8B-B14F-4D97-AF65-F5344CB8AC3E}">
        <p14:creationId xmlns:p14="http://schemas.microsoft.com/office/powerpoint/2010/main" val="2783770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5E2455-C5A9-6838-E750-FDC873B044C5}"/>
              </a:ext>
            </a:extLst>
          </p:cNvPr>
          <p:cNvSpPr>
            <a:spLocks noGrp="1"/>
          </p:cNvSpPr>
          <p:nvPr>
            <p:ph idx="1"/>
          </p:nvPr>
        </p:nvSpPr>
        <p:spPr>
          <a:xfrm>
            <a:off x="457200" y="185980"/>
            <a:ext cx="8229600" cy="4408643"/>
          </a:xfrm>
        </p:spPr>
        <p:txBody>
          <a:bodyPr>
            <a:normAutofit fontScale="92500" lnSpcReduction="10000"/>
          </a:bodyPr>
          <a:lstStyle/>
          <a:p>
            <a:r>
              <a:rPr lang="en-IN" b="1" dirty="0"/>
              <a:t>5. Configure Network Address Translation (NAT)</a:t>
            </a:r>
            <a:endParaRPr lang="en-IN" dirty="0"/>
          </a:p>
          <a:p>
            <a:pPr lvl="1"/>
            <a:r>
              <a:rPr lang="en-IN" dirty="0"/>
              <a:t>Hide internal IP addresses. </a:t>
            </a:r>
          </a:p>
          <a:p>
            <a:pPr lvl="1"/>
            <a:r>
              <a:rPr lang="en-IN" dirty="0"/>
              <a:t>Allow multiple devices to share a public IP address. </a:t>
            </a:r>
          </a:p>
          <a:p>
            <a:pPr lvl="1"/>
            <a:r>
              <a:rPr lang="en-IN" dirty="0"/>
              <a:t>Protect internal network information. </a:t>
            </a:r>
          </a:p>
          <a:p>
            <a:r>
              <a:rPr lang="en-IN" b="1" dirty="0"/>
              <a:t>6. Enable Logging and Monitoring</a:t>
            </a:r>
            <a:endParaRPr lang="en-IN" dirty="0"/>
          </a:p>
          <a:p>
            <a:pPr lvl="1"/>
            <a:r>
              <a:rPr lang="en-IN" dirty="0"/>
              <a:t>Record allowed and blocked traffic. </a:t>
            </a:r>
          </a:p>
          <a:p>
            <a:pPr lvl="1"/>
            <a:r>
              <a:rPr lang="en-IN" dirty="0"/>
              <a:t>Monitor suspicious activities. </a:t>
            </a:r>
          </a:p>
          <a:p>
            <a:pPr lvl="1"/>
            <a:r>
              <a:rPr lang="en-IN" dirty="0"/>
              <a:t>Generate security alerts. </a:t>
            </a:r>
          </a:p>
          <a:p>
            <a:r>
              <a:rPr lang="en-IN" b="1" dirty="0"/>
              <a:t>7. Enable Intrusion Detection/Prevention (Optional)</a:t>
            </a:r>
            <a:endParaRPr lang="en-IN" dirty="0"/>
          </a:p>
          <a:p>
            <a:pPr marL="0" indent="0">
              <a:buNone/>
            </a:pPr>
            <a:r>
              <a:rPr lang="en-IN" dirty="0"/>
              <a:t>Some firewalls include:</a:t>
            </a:r>
          </a:p>
          <a:p>
            <a:pPr lvl="1"/>
            <a:r>
              <a:rPr lang="en-IN" dirty="0"/>
              <a:t>Intrusion Detection System (IDS) </a:t>
            </a:r>
          </a:p>
          <a:p>
            <a:pPr lvl="1"/>
            <a:r>
              <a:rPr lang="en-IN" dirty="0"/>
              <a:t>Intrusion Prevention System (IPS) </a:t>
            </a:r>
          </a:p>
          <a:p>
            <a:pPr lvl="1"/>
            <a:r>
              <a:rPr lang="en-IN" dirty="0"/>
              <a:t>These features detect and block known cyber attacks.</a:t>
            </a:r>
          </a:p>
          <a:p>
            <a:endParaRPr lang="en-IN" dirty="0"/>
          </a:p>
          <a:p>
            <a:pPr marL="0" indent="0">
              <a:buNone/>
            </a:pPr>
            <a:endParaRPr lang="en-IN" dirty="0"/>
          </a:p>
        </p:txBody>
      </p:sp>
    </p:spTree>
    <p:extLst>
      <p:ext uri="{BB962C8B-B14F-4D97-AF65-F5344CB8AC3E}">
        <p14:creationId xmlns:p14="http://schemas.microsoft.com/office/powerpoint/2010/main" val="36572489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94E238-6439-C97E-B6A4-57CFE4E12F42}"/>
              </a:ext>
            </a:extLst>
          </p:cNvPr>
          <p:cNvSpPr>
            <a:spLocks noGrp="1"/>
          </p:cNvSpPr>
          <p:nvPr>
            <p:ph idx="1"/>
          </p:nvPr>
        </p:nvSpPr>
        <p:spPr>
          <a:xfrm>
            <a:off x="457200" y="511444"/>
            <a:ext cx="8229600" cy="4083179"/>
          </a:xfrm>
        </p:spPr>
        <p:txBody>
          <a:bodyPr>
            <a:normAutofit fontScale="70000" lnSpcReduction="20000"/>
          </a:bodyPr>
          <a:lstStyle/>
          <a:p>
            <a:r>
              <a:rPr lang="en-IN" b="1" dirty="0"/>
              <a:t>8. Test Firewall Rules</a:t>
            </a:r>
            <a:endParaRPr lang="en-IN" dirty="0"/>
          </a:p>
          <a:p>
            <a:r>
              <a:rPr lang="en-IN" dirty="0"/>
              <a:t>Verify that:</a:t>
            </a:r>
          </a:p>
          <a:p>
            <a:pPr lvl="1"/>
            <a:r>
              <a:rPr lang="en-IN" dirty="0"/>
              <a:t>Authorized traffic is allowed. </a:t>
            </a:r>
          </a:p>
          <a:p>
            <a:pPr lvl="1"/>
            <a:r>
              <a:rPr lang="en-IN" dirty="0"/>
              <a:t>Unauthorized traffic is blocked. </a:t>
            </a:r>
          </a:p>
          <a:p>
            <a:pPr lvl="1"/>
            <a:r>
              <a:rPr lang="en-IN" dirty="0"/>
              <a:t>Applications function correctly. </a:t>
            </a:r>
          </a:p>
          <a:p>
            <a:pPr lvl="1"/>
            <a:r>
              <a:rPr lang="en-IN" dirty="0"/>
              <a:t>Common testing tools:</a:t>
            </a:r>
          </a:p>
          <a:p>
            <a:pPr lvl="2"/>
            <a:r>
              <a:rPr lang="en-IN" dirty="0"/>
              <a:t>Ping </a:t>
            </a:r>
          </a:p>
          <a:p>
            <a:pPr lvl="2"/>
            <a:r>
              <a:rPr lang="en-IN" dirty="0"/>
              <a:t>Nmap </a:t>
            </a:r>
          </a:p>
          <a:p>
            <a:pPr lvl="2"/>
            <a:r>
              <a:rPr lang="en-IN" dirty="0"/>
              <a:t>Telnet </a:t>
            </a:r>
          </a:p>
          <a:p>
            <a:pPr lvl="2"/>
            <a:r>
              <a:rPr lang="en-IN" dirty="0"/>
              <a:t>Packet analyzers (e.g., Wireshark) </a:t>
            </a:r>
          </a:p>
          <a:p>
            <a:endParaRPr lang="en-IN" dirty="0"/>
          </a:p>
          <a:p>
            <a:r>
              <a:rPr lang="en-IN" b="1" dirty="0"/>
              <a:t>9. Regular Maintenance</a:t>
            </a:r>
            <a:endParaRPr lang="en-IN" dirty="0"/>
          </a:p>
          <a:p>
            <a:pPr lvl="1"/>
            <a:r>
              <a:rPr lang="en-IN" dirty="0"/>
              <a:t>Update firewall firmware and software. </a:t>
            </a:r>
          </a:p>
          <a:p>
            <a:pPr lvl="1"/>
            <a:r>
              <a:rPr lang="en-IN" dirty="0"/>
              <a:t>Review firewall rules periodically. </a:t>
            </a:r>
          </a:p>
          <a:p>
            <a:pPr lvl="1"/>
            <a:r>
              <a:rPr lang="en-IN" dirty="0"/>
              <a:t>Remove unused or outdated rules. </a:t>
            </a:r>
          </a:p>
          <a:p>
            <a:pPr lvl="1"/>
            <a:r>
              <a:rPr lang="en-IN" dirty="0"/>
              <a:t>Back up the firewall configuration. </a:t>
            </a:r>
          </a:p>
          <a:p>
            <a:pPr lvl="1"/>
            <a:r>
              <a:rPr lang="en-IN" dirty="0"/>
              <a:t>Monitor security logs regularly</a:t>
            </a:r>
          </a:p>
        </p:txBody>
      </p:sp>
    </p:spTree>
    <p:extLst>
      <p:ext uri="{BB962C8B-B14F-4D97-AF65-F5344CB8AC3E}">
        <p14:creationId xmlns:p14="http://schemas.microsoft.com/office/powerpoint/2010/main" val="2989486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16DB8-A70F-EA10-5669-2B79C32F58CC}"/>
              </a:ext>
            </a:extLst>
          </p:cNvPr>
          <p:cNvSpPr>
            <a:spLocks noGrp="1"/>
          </p:cNvSpPr>
          <p:nvPr>
            <p:ph type="title"/>
          </p:nvPr>
        </p:nvSpPr>
        <p:spPr/>
        <p:txBody>
          <a:bodyPr>
            <a:normAutofit fontScale="90000"/>
          </a:bodyPr>
          <a:lstStyle/>
          <a:p>
            <a:r>
              <a:rPr lang="en-IN" b="1" dirty="0"/>
              <a:t>Firewall Configuration Best Practices</a:t>
            </a:r>
            <a:br>
              <a:rPr lang="en-IN" dirty="0"/>
            </a:br>
            <a:endParaRPr lang="en-IN" dirty="0"/>
          </a:p>
        </p:txBody>
      </p:sp>
      <p:sp>
        <p:nvSpPr>
          <p:cNvPr id="3" name="Content Placeholder 2">
            <a:extLst>
              <a:ext uri="{FF2B5EF4-FFF2-40B4-BE49-F238E27FC236}">
                <a16:creationId xmlns:a16="http://schemas.microsoft.com/office/drawing/2014/main" id="{26D3C418-6ED6-C283-D160-F004FC33C3FC}"/>
              </a:ext>
            </a:extLst>
          </p:cNvPr>
          <p:cNvSpPr>
            <a:spLocks noGrp="1"/>
          </p:cNvSpPr>
          <p:nvPr>
            <p:ph idx="1"/>
          </p:nvPr>
        </p:nvSpPr>
        <p:spPr>
          <a:xfrm>
            <a:off x="457200" y="1200151"/>
            <a:ext cx="8229600" cy="3737370"/>
          </a:xfrm>
        </p:spPr>
        <p:txBody>
          <a:bodyPr>
            <a:normAutofit lnSpcReduction="10000"/>
          </a:bodyPr>
          <a:lstStyle/>
          <a:p>
            <a:pPr lvl="0"/>
            <a:r>
              <a:rPr lang="en-IN" dirty="0"/>
              <a:t>Follow the </a:t>
            </a:r>
            <a:r>
              <a:rPr lang="en-IN" b="1" dirty="0"/>
              <a:t>principle of least privilege</a:t>
            </a:r>
            <a:r>
              <a:rPr lang="en-IN" dirty="0"/>
              <a:t> (allow only necessary traffic). </a:t>
            </a:r>
          </a:p>
          <a:p>
            <a:pPr lvl="0"/>
            <a:r>
              <a:rPr lang="en-IN" dirty="0"/>
              <a:t>Change default administrator usernames and passwords. </a:t>
            </a:r>
          </a:p>
          <a:p>
            <a:pPr lvl="0"/>
            <a:r>
              <a:rPr lang="en-IN" dirty="0"/>
              <a:t>Disable unused services and ports. </a:t>
            </a:r>
          </a:p>
          <a:p>
            <a:pPr lvl="0"/>
            <a:r>
              <a:rPr lang="en-IN" dirty="0"/>
              <a:t>Allow only required inbound connections. </a:t>
            </a:r>
          </a:p>
          <a:p>
            <a:pPr lvl="0"/>
            <a:r>
              <a:rPr lang="en-IN" dirty="0"/>
              <a:t>Restrict remote administration. </a:t>
            </a:r>
          </a:p>
          <a:p>
            <a:pPr lvl="0"/>
            <a:r>
              <a:rPr lang="en-IN" dirty="0"/>
              <a:t>Enable logging and regular monitoring. </a:t>
            </a:r>
          </a:p>
          <a:p>
            <a:pPr lvl="0"/>
            <a:r>
              <a:rPr lang="en-IN" dirty="0"/>
              <a:t>Keep firewall software updated. </a:t>
            </a:r>
          </a:p>
          <a:p>
            <a:r>
              <a:rPr lang="en-IN" dirty="0"/>
              <a:t>Test firewall rules after every configuration change</a:t>
            </a:r>
          </a:p>
        </p:txBody>
      </p:sp>
    </p:spTree>
    <p:extLst>
      <p:ext uri="{BB962C8B-B14F-4D97-AF65-F5344CB8AC3E}">
        <p14:creationId xmlns:p14="http://schemas.microsoft.com/office/powerpoint/2010/main" val="2870731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F2F71-2C22-B859-B6B4-116D0F01F096}"/>
              </a:ext>
            </a:extLst>
          </p:cNvPr>
          <p:cNvSpPr>
            <a:spLocks noGrp="1"/>
          </p:cNvSpPr>
          <p:nvPr>
            <p:ph type="title"/>
          </p:nvPr>
        </p:nvSpPr>
        <p:spPr/>
        <p:txBody>
          <a:bodyPr>
            <a:normAutofit fontScale="90000"/>
          </a:bodyPr>
          <a:lstStyle/>
          <a:p>
            <a:r>
              <a:rPr lang="en-IN" b="1" dirty="0"/>
              <a:t>Example Firewall Configuration</a:t>
            </a:r>
            <a:br>
              <a:rPr lang="en-IN" dirty="0"/>
            </a:br>
            <a:endParaRPr lang="en-IN" dirty="0"/>
          </a:p>
        </p:txBody>
      </p:sp>
      <p:graphicFrame>
        <p:nvGraphicFramePr>
          <p:cNvPr id="7" name="Content Placeholder 6">
            <a:extLst>
              <a:ext uri="{FF2B5EF4-FFF2-40B4-BE49-F238E27FC236}">
                <a16:creationId xmlns:a16="http://schemas.microsoft.com/office/drawing/2014/main" id="{3FCC2256-6FEC-FF40-7E0D-ED0F7112A73B}"/>
              </a:ext>
            </a:extLst>
          </p:cNvPr>
          <p:cNvGraphicFramePr>
            <a:graphicFrameLocks noGrp="1"/>
          </p:cNvGraphicFramePr>
          <p:nvPr>
            <p:ph idx="1"/>
            <p:extLst>
              <p:ext uri="{D42A27DB-BD31-4B8C-83A1-F6EECF244321}">
                <p14:modId xmlns:p14="http://schemas.microsoft.com/office/powerpoint/2010/main" val="3496609956"/>
              </p:ext>
            </p:extLst>
          </p:nvPr>
        </p:nvGraphicFramePr>
        <p:xfrm>
          <a:off x="1208869" y="1828800"/>
          <a:ext cx="5850610" cy="2448736"/>
        </p:xfrm>
        <a:graphic>
          <a:graphicData uri="http://schemas.openxmlformats.org/drawingml/2006/table">
            <a:tbl>
              <a:tblPr firstRow="1" firstCol="1" bandRow="1">
                <a:tableStyleId>{7BB7F7F7-D12E-4AE9-9629-C1C5CECE5D20}</a:tableStyleId>
              </a:tblPr>
              <a:tblGrid>
                <a:gridCol w="1462653">
                  <a:extLst>
                    <a:ext uri="{9D8B030D-6E8A-4147-A177-3AD203B41FA5}">
                      <a16:colId xmlns:a16="http://schemas.microsoft.com/office/drawing/2014/main" val="1616155800"/>
                    </a:ext>
                  </a:extLst>
                </a:gridCol>
                <a:gridCol w="718930">
                  <a:extLst>
                    <a:ext uri="{9D8B030D-6E8A-4147-A177-3AD203B41FA5}">
                      <a16:colId xmlns:a16="http://schemas.microsoft.com/office/drawing/2014/main" val="3186858807"/>
                    </a:ext>
                  </a:extLst>
                </a:gridCol>
                <a:gridCol w="947557">
                  <a:extLst>
                    <a:ext uri="{9D8B030D-6E8A-4147-A177-3AD203B41FA5}">
                      <a16:colId xmlns:a16="http://schemas.microsoft.com/office/drawing/2014/main" val="1210874084"/>
                    </a:ext>
                  </a:extLst>
                </a:gridCol>
                <a:gridCol w="2721470">
                  <a:extLst>
                    <a:ext uri="{9D8B030D-6E8A-4147-A177-3AD203B41FA5}">
                      <a16:colId xmlns:a16="http://schemas.microsoft.com/office/drawing/2014/main" val="1486084480"/>
                    </a:ext>
                  </a:extLst>
                </a:gridCol>
              </a:tblGrid>
              <a:tr h="306092">
                <a:tc>
                  <a:txBody>
                    <a:bodyPr/>
                    <a:lstStyle/>
                    <a:p>
                      <a:pPr marL="0" marR="0">
                        <a:lnSpc>
                          <a:spcPct val="107000"/>
                        </a:lnSpc>
                        <a:spcAft>
                          <a:spcPts val="800"/>
                        </a:spcAft>
                        <a:buNone/>
                      </a:pPr>
                      <a:r>
                        <a:rPr lang="en-IN" sz="1100" b="1" kern="100">
                          <a:effectLst/>
                        </a:rPr>
                        <a:t>Service</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Port</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Protocol</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dirty="0">
                          <a:effectLst/>
                        </a:rPr>
                        <a:t>Action</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637042283"/>
                  </a:ext>
                </a:extLst>
              </a:tr>
              <a:tr h="306092">
                <a:tc>
                  <a:txBody>
                    <a:bodyPr/>
                    <a:lstStyle/>
                    <a:p>
                      <a:pPr marL="0" marR="0">
                        <a:lnSpc>
                          <a:spcPct val="107000"/>
                        </a:lnSpc>
                        <a:spcAft>
                          <a:spcPts val="800"/>
                        </a:spcAft>
                        <a:buNone/>
                      </a:pPr>
                      <a:r>
                        <a:rPr lang="en-IN" sz="1100" kern="100">
                          <a:effectLst/>
                        </a:rPr>
                        <a:t>HTTP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80</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Allow</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908191911"/>
                  </a:ext>
                </a:extLst>
              </a:tr>
              <a:tr h="306092">
                <a:tc>
                  <a:txBody>
                    <a:bodyPr/>
                    <a:lstStyle/>
                    <a:p>
                      <a:pPr marL="0" marR="0">
                        <a:lnSpc>
                          <a:spcPct val="107000"/>
                        </a:lnSpc>
                        <a:spcAft>
                          <a:spcPts val="800"/>
                        </a:spcAft>
                        <a:buNone/>
                      </a:pPr>
                      <a:r>
                        <a:rPr lang="en-IN" sz="1100" kern="100">
                          <a:effectLst/>
                        </a:rPr>
                        <a:t>HTTPS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443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Allow</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505168744"/>
                  </a:ext>
                </a:extLst>
              </a:tr>
              <a:tr h="306092">
                <a:tc>
                  <a:txBody>
                    <a:bodyPr/>
                    <a:lstStyle/>
                    <a:p>
                      <a:pPr marL="0" marR="0">
                        <a:lnSpc>
                          <a:spcPct val="107000"/>
                        </a:lnSpc>
                        <a:spcAft>
                          <a:spcPts val="800"/>
                        </a:spcAft>
                        <a:buNone/>
                      </a:pPr>
                      <a:r>
                        <a:rPr lang="en-IN" sz="1100" kern="100">
                          <a:effectLst/>
                        </a:rPr>
                        <a:t>DNS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53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UDP/TCP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Allow</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018024386"/>
                  </a:ext>
                </a:extLst>
              </a:tr>
              <a:tr h="306092">
                <a:tc>
                  <a:txBody>
                    <a:bodyPr/>
                    <a:lstStyle/>
                    <a:p>
                      <a:pPr marL="0" marR="0">
                        <a:lnSpc>
                          <a:spcPct val="107000"/>
                        </a:lnSpc>
                        <a:spcAft>
                          <a:spcPts val="800"/>
                        </a:spcAft>
                        <a:buNone/>
                      </a:pPr>
                      <a:r>
                        <a:rPr lang="en-IN" sz="1100" kern="100">
                          <a:effectLst/>
                        </a:rPr>
                        <a:t>SSH</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22</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Allow (Administrators Only)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4228985135"/>
                  </a:ext>
                </a:extLst>
              </a:tr>
              <a:tr h="306092">
                <a:tc>
                  <a:txBody>
                    <a:bodyPr/>
                    <a:lstStyle/>
                    <a:p>
                      <a:pPr marL="0" marR="0">
                        <a:lnSpc>
                          <a:spcPct val="107000"/>
                        </a:lnSpc>
                        <a:spcAft>
                          <a:spcPts val="800"/>
                        </a:spcAft>
                        <a:buNone/>
                      </a:pPr>
                      <a:r>
                        <a:rPr lang="en-IN" sz="1100" kern="100">
                          <a:effectLst/>
                        </a:rPr>
                        <a:t>FTP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21</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Deny (If Not Required)</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571755756"/>
                  </a:ext>
                </a:extLst>
              </a:tr>
              <a:tr h="306092">
                <a:tc>
                  <a:txBody>
                    <a:bodyPr/>
                    <a:lstStyle/>
                    <a:p>
                      <a:pPr marL="0" marR="0">
                        <a:lnSpc>
                          <a:spcPct val="107000"/>
                        </a:lnSpc>
                        <a:spcAft>
                          <a:spcPts val="800"/>
                        </a:spcAft>
                        <a:buNone/>
                      </a:pPr>
                      <a:r>
                        <a:rPr lang="en-IN" sz="1100" kern="100">
                          <a:effectLst/>
                        </a:rPr>
                        <a:t>Telnet</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23</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Deny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048119197"/>
                  </a:ext>
                </a:extLst>
              </a:tr>
              <a:tr h="306092">
                <a:tc>
                  <a:txBody>
                    <a:bodyPr/>
                    <a:lstStyle/>
                    <a:p>
                      <a:pPr marL="0" marR="0">
                        <a:lnSpc>
                          <a:spcPct val="107000"/>
                        </a:lnSpc>
                        <a:spcAft>
                          <a:spcPts val="800"/>
                        </a:spcAft>
                        <a:buNone/>
                      </a:pPr>
                      <a:r>
                        <a:rPr lang="en-IN" sz="1100" kern="100">
                          <a:effectLst/>
                        </a:rPr>
                        <a:t>All Other Traffic</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Deny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161593413"/>
                  </a:ext>
                </a:extLst>
              </a:tr>
            </a:tbl>
          </a:graphicData>
        </a:graphic>
      </p:graphicFrame>
    </p:spTree>
    <p:extLst>
      <p:ext uri="{BB962C8B-B14F-4D97-AF65-F5344CB8AC3E}">
        <p14:creationId xmlns:p14="http://schemas.microsoft.com/office/powerpoint/2010/main" val="35809836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B472E-4DEF-9F97-0F71-D62A2CD82D87}"/>
              </a:ext>
            </a:extLst>
          </p:cNvPr>
          <p:cNvSpPr>
            <a:spLocks noGrp="1"/>
          </p:cNvSpPr>
          <p:nvPr>
            <p:ph type="title"/>
          </p:nvPr>
        </p:nvSpPr>
        <p:spPr/>
        <p:txBody>
          <a:bodyPr/>
          <a:lstStyle/>
          <a:p>
            <a:r>
              <a:rPr lang="en-IN" b="1" dirty="0"/>
              <a:t>Advantages of Proper Firewall Configuration</a:t>
            </a:r>
            <a:endParaRPr lang="en-IN" dirty="0"/>
          </a:p>
        </p:txBody>
      </p:sp>
      <p:sp>
        <p:nvSpPr>
          <p:cNvPr id="3" name="Content Placeholder 2">
            <a:extLst>
              <a:ext uri="{FF2B5EF4-FFF2-40B4-BE49-F238E27FC236}">
                <a16:creationId xmlns:a16="http://schemas.microsoft.com/office/drawing/2014/main" id="{92461883-949A-E08B-7865-9368204A10B1}"/>
              </a:ext>
            </a:extLst>
          </p:cNvPr>
          <p:cNvSpPr>
            <a:spLocks noGrp="1"/>
          </p:cNvSpPr>
          <p:nvPr>
            <p:ph idx="1"/>
          </p:nvPr>
        </p:nvSpPr>
        <p:spPr>
          <a:xfrm>
            <a:off x="457200" y="1200151"/>
            <a:ext cx="8229600" cy="3581076"/>
          </a:xfrm>
        </p:spPr>
        <p:txBody>
          <a:bodyPr/>
          <a:lstStyle/>
          <a:p>
            <a:pPr lvl="0"/>
            <a:r>
              <a:rPr lang="en-IN" dirty="0"/>
              <a:t>Prevents unauthorized access. </a:t>
            </a:r>
          </a:p>
          <a:p>
            <a:pPr lvl="0"/>
            <a:r>
              <a:rPr lang="en-IN" dirty="0"/>
              <a:t>Protects against malware and cyber attacks. </a:t>
            </a:r>
          </a:p>
          <a:p>
            <a:pPr lvl="0"/>
            <a:r>
              <a:rPr lang="en-IN" dirty="0"/>
              <a:t>Controls network traffic. </a:t>
            </a:r>
          </a:p>
          <a:p>
            <a:pPr lvl="0"/>
            <a:r>
              <a:rPr lang="en-IN" dirty="0"/>
              <a:t>Improves network security. </a:t>
            </a:r>
          </a:p>
          <a:p>
            <a:pPr lvl="0"/>
            <a:r>
              <a:rPr lang="en-IN" dirty="0"/>
              <a:t>Helps ensure compliance with security policies. </a:t>
            </a:r>
          </a:p>
          <a:p>
            <a:pPr lvl="0"/>
            <a:r>
              <a:rPr lang="en-IN" dirty="0"/>
              <a:t>Provides logging and auditing for incident analysis. </a:t>
            </a:r>
          </a:p>
          <a:p>
            <a:endParaRPr lang="en-IN" dirty="0"/>
          </a:p>
        </p:txBody>
      </p:sp>
    </p:spTree>
    <p:extLst>
      <p:ext uri="{BB962C8B-B14F-4D97-AF65-F5344CB8AC3E}">
        <p14:creationId xmlns:p14="http://schemas.microsoft.com/office/powerpoint/2010/main" val="2312263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5D33A-0BE9-2C8A-93F4-7B6563A75B46}"/>
              </a:ext>
            </a:extLst>
          </p:cNvPr>
          <p:cNvSpPr>
            <a:spLocks noGrp="1"/>
          </p:cNvSpPr>
          <p:nvPr>
            <p:ph type="title"/>
          </p:nvPr>
        </p:nvSpPr>
        <p:spPr/>
        <p:txBody>
          <a:bodyPr/>
          <a:lstStyle/>
          <a:p>
            <a:r>
              <a:rPr lang="en-IN" b="1" dirty="0"/>
              <a:t>Proxy Servers and Anonymizers</a:t>
            </a:r>
            <a:endParaRPr lang="en-IN" dirty="0"/>
          </a:p>
        </p:txBody>
      </p:sp>
      <p:sp>
        <p:nvSpPr>
          <p:cNvPr id="3" name="Content Placeholder 2">
            <a:extLst>
              <a:ext uri="{FF2B5EF4-FFF2-40B4-BE49-F238E27FC236}">
                <a16:creationId xmlns:a16="http://schemas.microsoft.com/office/drawing/2014/main" id="{1BA4726E-DD4C-370E-E809-41CB75E6F69A}"/>
              </a:ext>
            </a:extLst>
          </p:cNvPr>
          <p:cNvSpPr>
            <a:spLocks noGrp="1"/>
          </p:cNvSpPr>
          <p:nvPr>
            <p:ph idx="1"/>
          </p:nvPr>
        </p:nvSpPr>
        <p:spPr/>
        <p:txBody>
          <a:bodyPr/>
          <a:lstStyle/>
          <a:p>
            <a:r>
              <a:rPr lang="en-IN" b="1" dirty="0"/>
              <a:t>Introduction</a:t>
            </a:r>
            <a:endParaRPr lang="en-IN" dirty="0"/>
          </a:p>
          <a:p>
            <a:r>
              <a:rPr lang="en-IN" dirty="0"/>
              <a:t>In modern computer networks, users often require </a:t>
            </a:r>
            <a:r>
              <a:rPr lang="en-IN" b="1" dirty="0"/>
              <a:t>security, privacy, and controlled Internet access</a:t>
            </a:r>
            <a:r>
              <a:rPr lang="en-IN" dirty="0"/>
              <a:t>. </a:t>
            </a:r>
          </a:p>
          <a:p>
            <a:r>
              <a:rPr lang="en-IN" b="1" dirty="0"/>
              <a:t>Proxy servers</a:t>
            </a:r>
            <a:r>
              <a:rPr lang="en-IN" dirty="0"/>
              <a:t> and </a:t>
            </a:r>
            <a:r>
              <a:rPr lang="en-IN" b="1" dirty="0"/>
              <a:t>anonymizers</a:t>
            </a:r>
            <a:r>
              <a:rPr lang="en-IN" dirty="0"/>
              <a:t> help achieve these goals by acting as intermediaries between users and Internet resources. They improve security, protect user identity, and help organizations monitor and manage web traffic.</a:t>
            </a:r>
          </a:p>
          <a:p>
            <a:endParaRPr lang="en-IN" dirty="0"/>
          </a:p>
        </p:txBody>
      </p:sp>
    </p:spTree>
    <p:extLst>
      <p:ext uri="{BB962C8B-B14F-4D97-AF65-F5344CB8AC3E}">
        <p14:creationId xmlns:p14="http://schemas.microsoft.com/office/powerpoint/2010/main" val="24720485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DC882-B1A3-B69A-B12D-BDAEECD6BBD5}"/>
              </a:ext>
            </a:extLst>
          </p:cNvPr>
          <p:cNvSpPr>
            <a:spLocks noGrp="1"/>
          </p:cNvSpPr>
          <p:nvPr>
            <p:ph type="title"/>
          </p:nvPr>
        </p:nvSpPr>
        <p:spPr/>
        <p:txBody>
          <a:bodyPr>
            <a:normAutofit fontScale="90000"/>
          </a:bodyPr>
          <a:lstStyle/>
          <a:p>
            <a:r>
              <a:rPr lang="en-IN" b="1" dirty="0"/>
              <a:t>Proxy Server</a:t>
            </a:r>
            <a:br>
              <a:rPr lang="en-IN" dirty="0"/>
            </a:br>
            <a:endParaRPr lang="en-IN" dirty="0"/>
          </a:p>
        </p:txBody>
      </p:sp>
      <p:sp>
        <p:nvSpPr>
          <p:cNvPr id="3" name="Content Placeholder 2">
            <a:extLst>
              <a:ext uri="{FF2B5EF4-FFF2-40B4-BE49-F238E27FC236}">
                <a16:creationId xmlns:a16="http://schemas.microsoft.com/office/drawing/2014/main" id="{3411AD36-9D9D-1FE2-9A5B-317784855112}"/>
              </a:ext>
            </a:extLst>
          </p:cNvPr>
          <p:cNvSpPr>
            <a:spLocks noGrp="1"/>
          </p:cNvSpPr>
          <p:nvPr>
            <p:ph idx="1"/>
          </p:nvPr>
        </p:nvSpPr>
        <p:spPr>
          <a:xfrm>
            <a:off x="457200" y="898901"/>
            <a:ext cx="8229600" cy="3974691"/>
          </a:xfrm>
        </p:spPr>
        <p:txBody>
          <a:bodyPr>
            <a:normAutofit fontScale="77500" lnSpcReduction="20000"/>
          </a:bodyPr>
          <a:lstStyle/>
          <a:p>
            <a:r>
              <a:rPr lang="en-IN" b="1" dirty="0"/>
              <a:t>Definition</a:t>
            </a:r>
            <a:endParaRPr lang="en-IN" dirty="0"/>
          </a:p>
          <a:p>
            <a:pPr lvl="1"/>
            <a:r>
              <a:rPr lang="en-IN" dirty="0"/>
              <a:t>A </a:t>
            </a:r>
            <a:r>
              <a:rPr lang="en-IN" b="1" dirty="0"/>
              <a:t>proxy server</a:t>
            </a:r>
            <a:r>
              <a:rPr lang="en-IN" dirty="0"/>
              <a:t> is a computer or software that acts as an intermediary between a client and a destination server. It receives requests from clients, processes them, and forwards them to the appropriate web server.</a:t>
            </a:r>
          </a:p>
          <a:p>
            <a:r>
              <a:rPr lang="en-IN" b="1" dirty="0"/>
              <a:t>Definition:</a:t>
            </a:r>
            <a:endParaRPr lang="en-IN" dirty="0"/>
          </a:p>
          <a:p>
            <a:pPr lvl="1"/>
            <a:r>
              <a:rPr lang="en-IN" dirty="0"/>
              <a:t>A </a:t>
            </a:r>
            <a:r>
              <a:rPr lang="en-IN" b="1" dirty="0"/>
              <a:t>proxy server</a:t>
            </a:r>
            <a:r>
              <a:rPr lang="en-IN" dirty="0"/>
              <a:t> is an intermediary server that receives client requests and forwards them to the destination server while providing security, caching, and access control.</a:t>
            </a:r>
          </a:p>
          <a:p>
            <a:pPr marL="0" indent="0">
              <a:buNone/>
            </a:pPr>
            <a:endParaRPr lang="en-IN" dirty="0"/>
          </a:p>
          <a:p>
            <a:r>
              <a:rPr lang="en-IN" b="1" dirty="0"/>
              <a:t>Working of a Proxy Server</a:t>
            </a:r>
            <a:endParaRPr lang="en-IN" dirty="0"/>
          </a:p>
          <a:p>
            <a:pPr lvl="1"/>
            <a:r>
              <a:rPr lang="en-IN" dirty="0"/>
              <a:t>A client sends a request to access a website.</a:t>
            </a:r>
          </a:p>
          <a:p>
            <a:pPr lvl="1"/>
            <a:r>
              <a:rPr lang="en-IN" dirty="0"/>
              <a:t>The request is received by the proxy server.</a:t>
            </a:r>
          </a:p>
          <a:p>
            <a:pPr lvl="1"/>
            <a:r>
              <a:rPr lang="en-IN" dirty="0"/>
              <a:t>The proxy checks the request against security policies.</a:t>
            </a:r>
          </a:p>
          <a:p>
            <a:pPr lvl="1"/>
            <a:r>
              <a:rPr lang="en-IN" dirty="0"/>
              <a:t>If permitted, the proxy forwards the request to the destination server.</a:t>
            </a:r>
          </a:p>
          <a:p>
            <a:pPr lvl="1"/>
            <a:r>
              <a:rPr lang="en-IN" dirty="0"/>
              <a:t>The destination server sends the response to the proxy.</a:t>
            </a:r>
          </a:p>
          <a:p>
            <a:pPr lvl="1"/>
            <a:r>
              <a:rPr lang="en-IN" dirty="0"/>
              <a:t>The proxy forwards the response back to the client.</a:t>
            </a:r>
          </a:p>
          <a:p>
            <a:endParaRPr lang="en-IN" dirty="0"/>
          </a:p>
        </p:txBody>
      </p:sp>
    </p:spTree>
    <p:extLst>
      <p:ext uri="{BB962C8B-B14F-4D97-AF65-F5344CB8AC3E}">
        <p14:creationId xmlns:p14="http://schemas.microsoft.com/office/powerpoint/2010/main" val="3129907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50251-5882-B84C-163B-B55207DB9394}"/>
              </a:ext>
            </a:extLst>
          </p:cNvPr>
          <p:cNvSpPr>
            <a:spLocks noGrp="1"/>
          </p:cNvSpPr>
          <p:nvPr>
            <p:ph type="title"/>
          </p:nvPr>
        </p:nvSpPr>
        <p:spPr/>
        <p:txBody>
          <a:bodyPr>
            <a:normAutofit fontScale="90000"/>
          </a:bodyPr>
          <a:lstStyle/>
          <a:p>
            <a:r>
              <a:rPr lang="en-IN" b="1" dirty="0"/>
              <a:t>Functions of a Proxy Server</a:t>
            </a:r>
            <a:br>
              <a:rPr lang="en-IN" dirty="0"/>
            </a:br>
            <a:endParaRPr lang="en-IN" dirty="0"/>
          </a:p>
        </p:txBody>
      </p:sp>
      <p:sp>
        <p:nvSpPr>
          <p:cNvPr id="3" name="Content Placeholder 2">
            <a:extLst>
              <a:ext uri="{FF2B5EF4-FFF2-40B4-BE49-F238E27FC236}">
                <a16:creationId xmlns:a16="http://schemas.microsoft.com/office/drawing/2014/main" id="{9AD773EE-418B-941A-2E19-156FBAAB3CD1}"/>
              </a:ext>
            </a:extLst>
          </p:cNvPr>
          <p:cNvSpPr>
            <a:spLocks noGrp="1"/>
          </p:cNvSpPr>
          <p:nvPr>
            <p:ph idx="1"/>
          </p:nvPr>
        </p:nvSpPr>
        <p:spPr/>
        <p:txBody>
          <a:bodyPr>
            <a:normAutofit/>
          </a:bodyPr>
          <a:lstStyle/>
          <a:p>
            <a:pPr lvl="0"/>
            <a:r>
              <a:rPr lang="en-IN" dirty="0"/>
              <a:t>Hides the client's IP address.</a:t>
            </a:r>
          </a:p>
          <a:p>
            <a:pPr lvl="0"/>
            <a:r>
              <a:rPr lang="en-IN" dirty="0"/>
              <a:t>Filters Internet traffic.</a:t>
            </a:r>
          </a:p>
          <a:p>
            <a:pPr lvl="0"/>
            <a:r>
              <a:rPr lang="en-IN" dirty="0"/>
              <a:t>Blocks unauthorized websites.</a:t>
            </a:r>
          </a:p>
          <a:p>
            <a:pPr lvl="0"/>
            <a:r>
              <a:rPr lang="en-IN" dirty="0"/>
              <a:t>Caches frequently accessed web pages.</a:t>
            </a:r>
          </a:p>
          <a:p>
            <a:pPr lvl="0"/>
            <a:r>
              <a:rPr lang="en-IN" dirty="0"/>
              <a:t>Improves browsing speed.</a:t>
            </a:r>
          </a:p>
          <a:p>
            <a:pPr lvl="0"/>
            <a:r>
              <a:rPr lang="en-IN" dirty="0"/>
              <a:t>Monitors and logs user activity.</a:t>
            </a:r>
          </a:p>
          <a:p>
            <a:r>
              <a:rPr lang="en-IN" dirty="0"/>
              <a:t>Enhances network security</a:t>
            </a:r>
          </a:p>
        </p:txBody>
      </p:sp>
    </p:spTree>
    <p:extLst>
      <p:ext uri="{BB962C8B-B14F-4D97-AF65-F5344CB8AC3E}">
        <p14:creationId xmlns:p14="http://schemas.microsoft.com/office/powerpoint/2010/main" val="35320218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B694D-E6C8-35BB-E2F1-E24A2CB8344B}"/>
              </a:ext>
            </a:extLst>
          </p:cNvPr>
          <p:cNvSpPr>
            <a:spLocks noGrp="1"/>
          </p:cNvSpPr>
          <p:nvPr>
            <p:ph type="title"/>
          </p:nvPr>
        </p:nvSpPr>
        <p:spPr/>
        <p:txBody>
          <a:bodyPr>
            <a:normAutofit fontScale="90000"/>
          </a:bodyPr>
          <a:lstStyle/>
          <a:p>
            <a:r>
              <a:rPr lang="en-IN" b="1" dirty="0"/>
              <a:t>Types of Proxy Servers</a:t>
            </a:r>
            <a:br>
              <a:rPr lang="en-IN" dirty="0"/>
            </a:br>
            <a:endParaRPr lang="en-IN" dirty="0"/>
          </a:p>
        </p:txBody>
      </p:sp>
      <p:sp>
        <p:nvSpPr>
          <p:cNvPr id="3" name="Content Placeholder 2">
            <a:extLst>
              <a:ext uri="{FF2B5EF4-FFF2-40B4-BE49-F238E27FC236}">
                <a16:creationId xmlns:a16="http://schemas.microsoft.com/office/drawing/2014/main" id="{DB19AB09-DA6B-B615-E452-A58CFCCE20A4}"/>
              </a:ext>
            </a:extLst>
          </p:cNvPr>
          <p:cNvSpPr>
            <a:spLocks noGrp="1"/>
          </p:cNvSpPr>
          <p:nvPr>
            <p:ph idx="1"/>
          </p:nvPr>
        </p:nvSpPr>
        <p:spPr>
          <a:xfrm>
            <a:off x="457200" y="705173"/>
            <a:ext cx="8229600" cy="3889450"/>
          </a:xfrm>
        </p:spPr>
        <p:txBody>
          <a:bodyPr>
            <a:normAutofit fontScale="85000" lnSpcReduction="20000"/>
          </a:bodyPr>
          <a:lstStyle/>
          <a:p>
            <a:r>
              <a:rPr lang="en-IN" b="1" dirty="0"/>
              <a:t>1. Forward Proxy</a:t>
            </a:r>
            <a:endParaRPr lang="en-IN" dirty="0"/>
          </a:p>
          <a:p>
            <a:pPr lvl="1"/>
            <a:r>
              <a:rPr lang="en-IN" dirty="0"/>
              <a:t>Represents clients.</a:t>
            </a:r>
          </a:p>
          <a:p>
            <a:pPr lvl="1"/>
            <a:r>
              <a:rPr lang="en-IN" dirty="0"/>
              <a:t>Used to access Internet resources securely.</a:t>
            </a:r>
          </a:p>
          <a:p>
            <a:r>
              <a:rPr lang="en-IN" b="1" dirty="0"/>
              <a:t>2. Reverse Proxy</a:t>
            </a:r>
            <a:endParaRPr lang="en-IN" dirty="0"/>
          </a:p>
          <a:p>
            <a:pPr lvl="1"/>
            <a:r>
              <a:rPr lang="en-IN" dirty="0"/>
              <a:t>Represents servers.</a:t>
            </a:r>
          </a:p>
          <a:p>
            <a:pPr lvl="1"/>
            <a:r>
              <a:rPr lang="en-IN" dirty="0"/>
              <a:t>Protects web servers and balances incoming traffic.</a:t>
            </a:r>
          </a:p>
          <a:p>
            <a:r>
              <a:rPr lang="en-IN" b="1" dirty="0"/>
              <a:t>3. Transparent Proxy</a:t>
            </a:r>
            <a:endParaRPr lang="en-IN" dirty="0"/>
          </a:p>
          <a:p>
            <a:pPr lvl="1"/>
            <a:r>
              <a:rPr lang="en-IN" dirty="0"/>
              <a:t>Intercepts traffic without changing client settings.</a:t>
            </a:r>
          </a:p>
          <a:p>
            <a:pPr lvl="2"/>
            <a:r>
              <a:rPr lang="en-IN" dirty="0"/>
              <a:t>Commonly used for web filtering and caching.</a:t>
            </a:r>
          </a:p>
          <a:p>
            <a:r>
              <a:rPr lang="en-IN" b="1" dirty="0"/>
              <a:t>4. Anonymous Proxy</a:t>
            </a:r>
            <a:endParaRPr lang="en-IN" dirty="0"/>
          </a:p>
          <a:p>
            <a:pPr lvl="1"/>
            <a:r>
              <a:rPr lang="en-IN" dirty="0"/>
              <a:t>Hides the client's IP address while identifying itself as a proxy.</a:t>
            </a:r>
          </a:p>
          <a:p>
            <a:r>
              <a:rPr lang="en-IN" b="1" dirty="0"/>
              <a:t>5. High-Anonymity (Elite) Proxy</a:t>
            </a:r>
            <a:endParaRPr lang="en-IN" dirty="0"/>
          </a:p>
          <a:p>
            <a:pPr lvl="1"/>
            <a:r>
              <a:rPr lang="en-IN" dirty="0"/>
              <a:t>Completely hides the client's identity and the use of a proxy</a:t>
            </a:r>
          </a:p>
        </p:txBody>
      </p:sp>
    </p:spTree>
    <p:extLst>
      <p:ext uri="{BB962C8B-B14F-4D97-AF65-F5344CB8AC3E}">
        <p14:creationId xmlns:p14="http://schemas.microsoft.com/office/powerpoint/2010/main" val="581053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A4D5C-C6C3-EF27-CEA1-52CB48150F97}"/>
              </a:ext>
            </a:extLst>
          </p:cNvPr>
          <p:cNvSpPr>
            <a:spLocks noGrp="1"/>
          </p:cNvSpPr>
          <p:nvPr>
            <p:ph type="title"/>
          </p:nvPr>
        </p:nvSpPr>
        <p:spPr/>
        <p:txBody>
          <a:bodyPr>
            <a:normAutofit fontScale="90000"/>
          </a:bodyPr>
          <a:lstStyle/>
          <a:p>
            <a:r>
              <a:rPr lang="en-IN" b="1" dirty="0"/>
              <a:t>Advantages  and Disadvantages of Proxy Servers</a:t>
            </a:r>
            <a:br>
              <a:rPr lang="en-IN" dirty="0"/>
            </a:br>
            <a:endParaRPr lang="en-IN" dirty="0"/>
          </a:p>
        </p:txBody>
      </p:sp>
      <p:sp>
        <p:nvSpPr>
          <p:cNvPr id="3" name="Content Placeholder 2">
            <a:extLst>
              <a:ext uri="{FF2B5EF4-FFF2-40B4-BE49-F238E27FC236}">
                <a16:creationId xmlns:a16="http://schemas.microsoft.com/office/drawing/2014/main" id="{931CAEE9-A96C-4E1E-C997-9B5B2EA8EF8E}"/>
              </a:ext>
            </a:extLst>
          </p:cNvPr>
          <p:cNvSpPr>
            <a:spLocks noGrp="1"/>
          </p:cNvSpPr>
          <p:nvPr>
            <p:ph idx="1"/>
          </p:nvPr>
        </p:nvSpPr>
        <p:spPr>
          <a:xfrm>
            <a:off x="457200" y="697424"/>
            <a:ext cx="8229600" cy="4300779"/>
          </a:xfrm>
        </p:spPr>
        <p:txBody>
          <a:bodyPr>
            <a:normAutofit fontScale="92500" lnSpcReduction="20000"/>
          </a:bodyPr>
          <a:lstStyle/>
          <a:p>
            <a:pPr lvl="0"/>
            <a:endParaRPr lang="en-IN" dirty="0"/>
          </a:p>
          <a:p>
            <a:pPr lvl="0"/>
            <a:r>
              <a:rPr lang="en-IN" b="1" dirty="0"/>
              <a:t>Advantages </a:t>
            </a:r>
          </a:p>
          <a:p>
            <a:pPr lvl="1"/>
            <a:r>
              <a:rPr lang="en-IN" dirty="0"/>
              <a:t>Enhances security.</a:t>
            </a:r>
          </a:p>
          <a:p>
            <a:pPr lvl="1"/>
            <a:r>
              <a:rPr lang="en-IN" dirty="0"/>
              <a:t>Provides web filtering.</a:t>
            </a:r>
          </a:p>
          <a:p>
            <a:pPr lvl="1"/>
            <a:r>
              <a:rPr lang="en-IN" dirty="0"/>
              <a:t>Improves performance through caching.</a:t>
            </a:r>
          </a:p>
          <a:p>
            <a:pPr lvl="1"/>
            <a:r>
              <a:rPr lang="en-IN" dirty="0"/>
              <a:t>Hides client IP addresses.</a:t>
            </a:r>
          </a:p>
          <a:p>
            <a:pPr lvl="1"/>
            <a:r>
              <a:rPr lang="en-IN" dirty="0"/>
              <a:t>Reduces bandwidth usage.</a:t>
            </a:r>
          </a:p>
          <a:p>
            <a:pPr lvl="1"/>
            <a:r>
              <a:rPr lang="en-IN" dirty="0"/>
              <a:t>Monitors Internet usage.</a:t>
            </a:r>
          </a:p>
          <a:p>
            <a:r>
              <a:rPr lang="en-IN" b="1" dirty="0"/>
              <a:t>Disadvantages</a:t>
            </a:r>
            <a:endParaRPr lang="en-IN" dirty="0"/>
          </a:p>
          <a:p>
            <a:pPr lvl="1"/>
            <a:r>
              <a:rPr lang="en-IN" dirty="0"/>
              <a:t>May slow network performance.</a:t>
            </a:r>
          </a:p>
          <a:p>
            <a:pPr lvl="1"/>
            <a:r>
              <a:rPr lang="en-IN" dirty="0"/>
              <a:t>Incorrect configuration can create security risks.</a:t>
            </a:r>
          </a:p>
          <a:p>
            <a:pPr lvl="1"/>
            <a:r>
              <a:rPr lang="en-IN" dirty="0"/>
              <a:t>Free proxies may not be trustworthy.</a:t>
            </a:r>
          </a:p>
          <a:p>
            <a:pPr lvl="1"/>
            <a:r>
              <a:rPr lang="en-IN" dirty="0"/>
              <a:t>Some websites block proxy traffic.</a:t>
            </a:r>
          </a:p>
          <a:p>
            <a:endParaRPr lang="en-IN" dirty="0"/>
          </a:p>
          <a:p>
            <a:endParaRPr lang="en-IN" dirty="0"/>
          </a:p>
        </p:txBody>
      </p:sp>
    </p:spTree>
    <p:extLst>
      <p:ext uri="{BB962C8B-B14F-4D97-AF65-F5344CB8AC3E}">
        <p14:creationId xmlns:p14="http://schemas.microsoft.com/office/powerpoint/2010/main" val="31824225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C33E5-7473-0889-A9D5-22487C2BE20A}"/>
              </a:ext>
            </a:extLst>
          </p:cNvPr>
          <p:cNvSpPr>
            <a:spLocks noGrp="1"/>
          </p:cNvSpPr>
          <p:nvPr>
            <p:ph type="title"/>
          </p:nvPr>
        </p:nvSpPr>
        <p:spPr>
          <a:xfrm>
            <a:off x="457200" y="205979"/>
            <a:ext cx="8229600" cy="483696"/>
          </a:xfrm>
        </p:spPr>
        <p:txBody>
          <a:bodyPr>
            <a:normAutofit fontScale="90000"/>
          </a:bodyPr>
          <a:lstStyle/>
          <a:p>
            <a:r>
              <a:rPr lang="en-IN" b="1" dirty="0"/>
              <a:t>Anonymizers</a:t>
            </a:r>
            <a:br>
              <a:rPr lang="en-IN" dirty="0"/>
            </a:br>
            <a:endParaRPr lang="en-IN" dirty="0"/>
          </a:p>
        </p:txBody>
      </p:sp>
      <p:sp>
        <p:nvSpPr>
          <p:cNvPr id="3" name="Content Placeholder 2">
            <a:extLst>
              <a:ext uri="{FF2B5EF4-FFF2-40B4-BE49-F238E27FC236}">
                <a16:creationId xmlns:a16="http://schemas.microsoft.com/office/drawing/2014/main" id="{088E9B46-6890-8F0F-41EB-B52CCB535E2B}"/>
              </a:ext>
            </a:extLst>
          </p:cNvPr>
          <p:cNvSpPr>
            <a:spLocks noGrp="1"/>
          </p:cNvSpPr>
          <p:nvPr>
            <p:ph idx="1"/>
          </p:nvPr>
        </p:nvSpPr>
        <p:spPr>
          <a:xfrm>
            <a:off x="457200" y="557939"/>
            <a:ext cx="8229600" cy="4440264"/>
          </a:xfrm>
        </p:spPr>
        <p:txBody>
          <a:bodyPr>
            <a:normAutofit/>
          </a:bodyPr>
          <a:lstStyle/>
          <a:p>
            <a:r>
              <a:rPr lang="en-IN" b="1" dirty="0"/>
              <a:t>Definition</a:t>
            </a:r>
            <a:endParaRPr lang="en-IN" dirty="0"/>
          </a:p>
          <a:p>
            <a:pPr algn="just"/>
            <a:r>
              <a:rPr lang="en-IN" dirty="0"/>
              <a:t>An </a:t>
            </a:r>
            <a:r>
              <a:rPr lang="en-IN" b="1" dirty="0"/>
              <a:t>anonymizer</a:t>
            </a:r>
            <a:r>
              <a:rPr lang="en-IN" dirty="0"/>
              <a:t> is a service or software that hides a user's identity by masking the user's IP address while accessing websites.</a:t>
            </a:r>
          </a:p>
          <a:p>
            <a:pPr algn="just"/>
            <a:r>
              <a:rPr lang="en-IN" b="1" dirty="0"/>
              <a:t>Working of an Anonymizer</a:t>
            </a:r>
            <a:endParaRPr lang="en-IN" dirty="0"/>
          </a:p>
          <a:p>
            <a:pPr lvl="1" algn="just"/>
            <a:r>
              <a:rPr lang="en-IN" dirty="0"/>
              <a:t>The user connects to an anonymizer.</a:t>
            </a:r>
          </a:p>
          <a:p>
            <a:pPr lvl="1" algn="just"/>
            <a:r>
              <a:rPr lang="en-IN" dirty="0"/>
              <a:t>The anonymizer replaces the user's IP address with its own.</a:t>
            </a:r>
          </a:p>
          <a:p>
            <a:pPr lvl="1" algn="just"/>
            <a:r>
              <a:rPr lang="en-IN" dirty="0"/>
              <a:t>The request is forwarded to the destination website.</a:t>
            </a:r>
          </a:p>
          <a:p>
            <a:pPr lvl="1" algn="just"/>
            <a:r>
              <a:rPr lang="en-IN" dirty="0"/>
              <a:t>The website responds to the anonymizer.</a:t>
            </a:r>
          </a:p>
          <a:p>
            <a:pPr lvl="1" algn="just"/>
            <a:r>
              <a:rPr lang="en-IN" dirty="0"/>
              <a:t>The anonymizer sends the response back to the user.</a:t>
            </a:r>
          </a:p>
          <a:p>
            <a:endParaRPr lang="en-IN" dirty="0"/>
          </a:p>
        </p:txBody>
      </p:sp>
    </p:spTree>
    <p:extLst>
      <p:ext uri="{BB962C8B-B14F-4D97-AF65-F5344CB8AC3E}">
        <p14:creationId xmlns:p14="http://schemas.microsoft.com/office/powerpoint/2010/main" val="37912723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8DE5DD-58D6-4562-2665-57BA2A6E2036}"/>
              </a:ext>
            </a:extLst>
          </p:cNvPr>
          <p:cNvSpPr>
            <a:spLocks noGrp="1"/>
          </p:cNvSpPr>
          <p:nvPr>
            <p:ph idx="1"/>
          </p:nvPr>
        </p:nvSpPr>
        <p:spPr>
          <a:xfrm>
            <a:off x="457200" y="69742"/>
            <a:ext cx="8229600" cy="4951709"/>
          </a:xfrm>
        </p:spPr>
        <p:txBody>
          <a:bodyPr>
            <a:normAutofit fontScale="77500" lnSpcReduction="20000"/>
          </a:bodyPr>
          <a:lstStyle/>
          <a:p>
            <a:r>
              <a:rPr lang="en-IN" b="1" dirty="0"/>
              <a:t>Features of Anonymizers</a:t>
            </a:r>
            <a:endParaRPr lang="en-IN" dirty="0"/>
          </a:p>
          <a:p>
            <a:pPr lvl="1"/>
            <a:r>
              <a:rPr lang="en-IN" dirty="0"/>
              <a:t>Hide the user's IP address.</a:t>
            </a:r>
          </a:p>
          <a:p>
            <a:pPr lvl="1"/>
            <a:r>
              <a:rPr lang="en-IN" dirty="0"/>
              <a:t>Protect user privacy.</a:t>
            </a:r>
          </a:p>
          <a:p>
            <a:pPr lvl="1"/>
            <a:r>
              <a:rPr lang="en-IN" dirty="0"/>
              <a:t>Prevent online tracking.</a:t>
            </a:r>
          </a:p>
          <a:p>
            <a:pPr lvl="1"/>
            <a:r>
              <a:rPr lang="en-IN" dirty="0"/>
              <a:t>Provide anonymous web browsing.</a:t>
            </a:r>
          </a:p>
          <a:p>
            <a:pPr lvl="1"/>
            <a:r>
              <a:rPr lang="en-IN" dirty="0"/>
              <a:t>Help bypass geographic restrictions (where permitted).</a:t>
            </a:r>
          </a:p>
          <a:p>
            <a:pPr marL="0" indent="0">
              <a:buNone/>
            </a:pPr>
            <a:endParaRPr lang="en-IN" dirty="0"/>
          </a:p>
          <a:p>
            <a:r>
              <a:rPr lang="en-IN" b="1" dirty="0"/>
              <a:t>Advantages of Anonymizers</a:t>
            </a:r>
            <a:endParaRPr lang="en-IN" dirty="0"/>
          </a:p>
          <a:p>
            <a:pPr lvl="1"/>
            <a:r>
              <a:rPr lang="en-IN" dirty="0"/>
              <a:t>Protect online privacy.</a:t>
            </a:r>
          </a:p>
          <a:p>
            <a:pPr lvl="1"/>
            <a:r>
              <a:rPr lang="en-IN" dirty="0"/>
              <a:t>Hide user identity.</a:t>
            </a:r>
          </a:p>
          <a:p>
            <a:pPr lvl="1"/>
            <a:r>
              <a:rPr lang="en-IN" dirty="0"/>
              <a:t>Reduce tracking by websites.</a:t>
            </a:r>
          </a:p>
          <a:p>
            <a:pPr lvl="1"/>
            <a:r>
              <a:rPr lang="en-IN" dirty="0"/>
              <a:t>Increase anonymity.</a:t>
            </a:r>
          </a:p>
          <a:p>
            <a:pPr lvl="1"/>
            <a:r>
              <a:rPr lang="en-IN" dirty="0"/>
              <a:t>Improve browsing privacy.</a:t>
            </a:r>
          </a:p>
          <a:p>
            <a:endParaRPr lang="en-IN" b="1" dirty="0"/>
          </a:p>
          <a:p>
            <a:r>
              <a:rPr lang="en-IN" b="1" dirty="0"/>
              <a:t>Disadvantages of Anonymizers</a:t>
            </a:r>
            <a:endParaRPr lang="en-IN" dirty="0"/>
          </a:p>
          <a:p>
            <a:pPr lvl="1"/>
            <a:r>
              <a:rPr lang="en-IN" dirty="0"/>
              <a:t>Can reduce Internet speed.</a:t>
            </a:r>
          </a:p>
          <a:p>
            <a:pPr lvl="1"/>
            <a:r>
              <a:rPr lang="en-IN" dirty="0"/>
              <a:t>Some websites block anonymous users.</a:t>
            </a:r>
          </a:p>
          <a:p>
            <a:pPr lvl="1"/>
            <a:r>
              <a:rPr lang="en-IN" dirty="0"/>
              <a:t>Free services may collect user data.</a:t>
            </a:r>
          </a:p>
          <a:p>
            <a:pPr lvl="1"/>
            <a:r>
              <a:rPr lang="en-IN" dirty="0"/>
              <a:t>Do not guarantee complete anonymity.</a:t>
            </a:r>
          </a:p>
          <a:p>
            <a:endParaRPr lang="en-IN" dirty="0"/>
          </a:p>
        </p:txBody>
      </p:sp>
    </p:spTree>
    <p:extLst>
      <p:ext uri="{BB962C8B-B14F-4D97-AF65-F5344CB8AC3E}">
        <p14:creationId xmlns:p14="http://schemas.microsoft.com/office/powerpoint/2010/main" val="22487930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C81AC-197E-96F4-5C60-9E9B0D3B03DD}"/>
              </a:ext>
            </a:extLst>
          </p:cNvPr>
          <p:cNvSpPr>
            <a:spLocks noGrp="1"/>
          </p:cNvSpPr>
          <p:nvPr>
            <p:ph type="title"/>
          </p:nvPr>
        </p:nvSpPr>
        <p:spPr/>
        <p:txBody>
          <a:bodyPr>
            <a:normAutofit fontScale="90000"/>
          </a:bodyPr>
          <a:lstStyle/>
          <a:p>
            <a:r>
              <a:rPr lang="en-IN" b="1" dirty="0"/>
              <a:t>Difference Between Proxy Server and Anonymizer</a:t>
            </a:r>
            <a:br>
              <a:rPr lang="en-IN" dirty="0"/>
            </a:br>
            <a:endParaRPr lang="en-IN" dirty="0"/>
          </a:p>
        </p:txBody>
      </p:sp>
      <p:graphicFrame>
        <p:nvGraphicFramePr>
          <p:cNvPr id="7" name="Content Placeholder 6">
            <a:extLst>
              <a:ext uri="{FF2B5EF4-FFF2-40B4-BE49-F238E27FC236}">
                <a16:creationId xmlns:a16="http://schemas.microsoft.com/office/drawing/2014/main" id="{B2EDC66C-68F2-4A64-77F0-0FEDC6A0AB96}"/>
              </a:ext>
            </a:extLst>
          </p:cNvPr>
          <p:cNvGraphicFramePr>
            <a:graphicFrameLocks noGrp="1"/>
          </p:cNvGraphicFramePr>
          <p:nvPr>
            <p:ph idx="1"/>
            <p:extLst>
              <p:ext uri="{D42A27DB-BD31-4B8C-83A1-F6EECF244321}">
                <p14:modId xmlns:p14="http://schemas.microsoft.com/office/powerpoint/2010/main" val="2169056304"/>
              </p:ext>
            </p:extLst>
          </p:nvPr>
        </p:nvGraphicFramePr>
        <p:xfrm>
          <a:off x="945397" y="1363850"/>
          <a:ext cx="6734014" cy="3223650"/>
        </p:xfrm>
        <a:graphic>
          <a:graphicData uri="http://schemas.openxmlformats.org/drawingml/2006/table">
            <a:tbl>
              <a:tblPr firstRow="1" firstCol="1" bandRow="1">
                <a:tableStyleId>{7BB7F7F7-D12E-4AE9-9629-C1C5CECE5D20}</a:tableStyleId>
              </a:tblPr>
              <a:tblGrid>
                <a:gridCol w="3367007">
                  <a:extLst>
                    <a:ext uri="{9D8B030D-6E8A-4147-A177-3AD203B41FA5}">
                      <a16:colId xmlns:a16="http://schemas.microsoft.com/office/drawing/2014/main" val="553309947"/>
                    </a:ext>
                  </a:extLst>
                </a:gridCol>
                <a:gridCol w="3367007">
                  <a:extLst>
                    <a:ext uri="{9D8B030D-6E8A-4147-A177-3AD203B41FA5}">
                      <a16:colId xmlns:a16="http://schemas.microsoft.com/office/drawing/2014/main" val="2361834255"/>
                    </a:ext>
                  </a:extLst>
                </a:gridCol>
              </a:tblGrid>
              <a:tr h="409863">
                <a:tc>
                  <a:txBody>
                    <a:bodyPr/>
                    <a:lstStyle/>
                    <a:p>
                      <a:pPr marL="0" marR="0" algn="ctr">
                        <a:lnSpc>
                          <a:spcPct val="107000"/>
                        </a:lnSpc>
                        <a:spcAft>
                          <a:spcPts val="800"/>
                        </a:spcAft>
                        <a:buNone/>
                      </a:pPr>
                      <a:r>
                        <a:rPr lang="en-IN" sz="1200" kern="0">
                          <a:effectLst/>
                        </a:rPr>
                        <a:t>Proxy Server</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gn="ctr">
                        <a:lnSpc>
                          <a:spcPct val="107000"/>
                        </a:lnSpc>
                        <a:spcAft>
                          <a:spcPts val="800"/>
                        </a:spcAft>
                        <a:buNone/>
                      </a:pPr>
                      <a:r>
                        <a:rPr lang="en-IN" sz="1200" kern="0">
                          <a:effectLst/>
                        </a:rPr>
                        <a:t>Anonymizer</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4201525106"/>
                  </a:ext>
                </a:extLst>
              </a:tr>
              <a:tr h="801308">
                <a:tc>
                  <a:txBody>
                    <a:bodyPr/>
                    <a:lstStyle/>
                    <a:p>
                      <a:pPr marL="0" marR="0">
                        <a:lnSpc>
                          <a:spcPct val="107000"/>
                        </a:lnSpc>
                        <a:spcAft>
                          <a:spcPts val="800"/>
                        </a:spcAft>
                        <a:buNone/>
                      </a:pPr>
                      <a:r>
                        <a:rPr lang="en-IN" sz="1200" kern="0" dirty="0">
                          <a:effectLst/>
                        </a:rPr>
                        <a:t>Acts as an intermediary for network communication.</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Focuses on hiding the user's identity.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891520012"/>
                  </a:ext>
                </a:extLst>
              </a:tr>
              <a:tr h="801308">
                <a:tc>
                  <a:txBody>
                    <a:bodyPr/>
                    <a:lstStyle/>
                    <a:p>
                      <a:pPr marL="0" marR="0">
                        <a:lnSpc>
                          <a:spcPct val="107000"/>
                        </a:lnSpc>
                        <a:spcAft>
                          <a:spcPts val="800"/>
                        </a:spcAft>
                        <a:buNone/>
                      </a:pPr>
                      <a:r>
                        <a:rPr lang="en-IN" sz="1200" kern="0" dirty="0">
                          <a:effectLst/>
                        </a:rPr>
                        <a:t>Used for security, filtering, and caching.</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Used mainly for privacy and anonymous browsing.</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89288859"/>
                  </a:ext>
                </a:extLst>
              </a:tr>
              <a:tr h="801308">
                <a:tc>
                  <a:txBody>
                    <a:bodyPr/>
                    <a:lstStyle/>
                    <a:p>
                      <a:pPr marL="0" marR="0">
                        <a:lnSpc>
                          <a:spcPct val="107000"/>
                        </a:lnSpc>
                        <a:spcAft>
                          <a:spcPts val="800"/>
                        </a:spcAft>
                        <a:buNone/>
                      </a:pPr>
                      <a:r>
                        <a:rPr lang="en-IN" sz="1200" kern="0">
                          <a:effectLst/>
                        </a:rPr>
                        <a:t>May or may not hide the user's IP address.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dirty="0">
                          <a:effectLst/>
                        </a:rPr>
                        <a:t>Always attempts to hide the user's IP address.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935545719"/>
                  </a:ext>
                </a:extLst>
              </a:tr>
              <a:tr h="409863">
                <a:tc>
                  <a:txBody>
                    <a:bodyPr/>
                    <a:lstStyle/>
                    <a:p>
                      <a:pPr marL="0" marR="0">
                        <a:lnSpc>
                          <a:spcPct val="107000"/>
                        </a:lnSpc>
                        <a:spcAft>
                          <a:spcPts val="800"/>
                        </a:spcAft>
                        <a:buNone/>
                      </a:pPr>
                      <a:r>
                        <a:rPr lang="en-IN" sz="1200" kern="0">
                          <a:effectLst/>
                        </a:rPr>
                        <a:t>Frequently used by organizations.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dirty="0">
                          <a:effectLst/>
                        </a:rPr>
                        <a:t>Commonly used by individuals.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681294457"/>
                  </a:ext>
                </a:extLst>
              </a:tr>
            </a:tbl>
          </a:graphicData>
        </a:graphic>
      </p:graphicFrame>
    </p:spTree>
    <p:extLst>
      <p:ext uri="{BB962C8B-B14F-4D97-AF65-F5344CB8AC3E}">
        <p14:creationId xmlns:p14="http://schemas.microsoft.com/office/powerpoint/2010/main" val="37820050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6F744-B732-B7F1-1793-0B246A0992ED}"/>
              </a:ext>
            </a:extLst>
          </p:cNvPr>
          <p:cNvSpPr>
            <a:spLocks noGrp="1"/>
          </p:cNvSpPr>
          <p:nvPr>
            <p:ph type="title"/>
          </p:nvPr>
        </p:nvSpPr>
        <p:spPr/>
        <p:txBody>
          <a:bodyPr>
            <a:normAutofit fontScale="90000"/>
          </a:bodyPr>
          <a:lstStyle/>
          <a:p>
            <a:r>
              <a:rPr lang="en-IN" b="1" dirty="0"/>
              <a:t>Applications</a:t>
            </a:r>
            <a:br>
              <a:rPr lang="en-IN" dirty="0"/>
            </a:br>
            <a:endParaRPr lang="en-IN" dirty="0"/>
          </a:p>
        </p:txBody>
      </p:sp>
      <p:sp>
        <p:nvSpPr>
          <p:cNvPr id="3" name="Content Placeholder 2">
            <a:extLst>
              <a:ext uri="{FF2B5EF4-FFF2-40B4-BE49-F238E27FC236}">
                <a16:creationId xmlns:a16="http://schemas.microsoft.com/office/drawing/2014/main" id="{0BB84445-5577-65BD-1AE8-865512FC8D26}"/>
              </a:ext>
            </a:extLst>
          </p:cNvPr>
          <p:cNvSpPr>
            <a:spLocks noGrp="1"/>
          </p:cNvSpPr>
          <p:nvPr>
            <p:ph idx="1"/>
          </p:nvPr>
        </p:nvSpPr>
        <p:spPr/>
        <p:txBody>
          <a:bodyPr>
            <a:normAutofit/>
          </a:bodyPr>
          <a:lstStyle/>
          <a:p>
            <a:pPr lvl="0"/>
            <a:r>
              <a:rPr lang="en-IN" dirty="0"/>
              <a:t>Secure web browsing</a:t>
            </a:r>
          </a:p>
          <a:p>
            <a:pPr lvl="0"/>
            <a:r>
              <a:rPr lang="en-IN" dirty="0"/>
              <a:t>Internet access control</a:t>
            </a:r>
          </a:p>
          <a:p>
            <a:pPr lvl="0"/>
            <a:r>
              <a:rPr lang="en-IN" dirty="0"/>
              <a:t>Website caching</a:t>
            </a:r>
          </a:p>
          <a:p>
            <a:pPr lvl="0"/>
            <a:r>
              <a:rPr lang="en-IN" dirty="0"/>
              <a:t>Network monitoring</a:t>
            </a:r>
          </a:p>
          <a:p>
            <a:pPr lvl="0"/>
            <a:r>
              <a:rPr lang="en-IN" dirty="0"/>
              <a:t>Anonymous browsing</a:t>
            </a:r>
          </a:p>
          <a:p>
            <a:pPr lvl="0"/>
            <a:r>
              <a:rPr lang="en-IN" dirty="0"/>
              <a:t>Privacy protection</a:t>
            </a:r>
          </a:p>
          <a:p>
            <a:pPr lvl="0"/>
            <a:r>
              <a:rPr lang="en-IN" dirty="0"/>
              <a:t>Content filtering</a:t>
            </a:r>
          </a:p>
          <a:p>
            <a:endParaRPr lang="en-IN" dirty="0"/>
          </a:p>
        </p:txBody>
      </p:sp>
    </p:spTree>
    <p:extLst>
      <p:ext uri="{BB962C8B-B14F-4D97-AF65-F5344CB8AC3E}">
        <p14:creationId xmlns:p14="http://schemas.microsoft.com/office/powerpoint/2010/main" val="2676209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BBD8-36A1-6D65-F36D-AF5B7026C8BA}"/>
              </a:ext>
            </a:extLst>
          </p:cNvPr>
          <p:cNvSpPr>
            <a:spLocks noGrp="1"/>
          </p:cNvSpPr>
          <p:nvPr>
            <p:ph type="title"/>
          </p:nvPr>
        </p:nvSpPr>
        <p:spPr/>
        <p:txBody>
          <a:bodyPr>
            <a:normAutofit fontScale="90000"/>
          </a:bodyPr>
          <a:lstStyle/>
          <a:p>
            <a:r>
              <a:rPr lang="en-IN" b="1" dirty="0"/>
              <a:t>VPN Security</a:t>
            </a:r>
            <a:br>
              <a:rPr lang="en-IN" dirty="0"/>
            </a:br>
            <a:endParaRPr lang="en-IN" dirty="0"/>
          </a:p>
        </p:txBody>
      </p:sp>
      <p:sp>
        <p:nvSpPr>
          <p:cNvPr id="3" name="Content Placeholder 2">
            <a:extLst>
              <a:ext uri="{FF2B5EF4-FFF2-40B4-BE49-F238E27FC236}">
                <a16:creationId xmlns:a16="http://schemas.microsoft.com/office/drawing/2014/main" id="{D7BE290C-CD49-88EC-C1B9-EAFB4AE75055}"/>
              </a:ext>
            </a:extLst>
          </p:cNvPr>
          <p:cNvSpPr>
            <a:spLocks noGrp="1"/>
          </p:cNvSpPr>
          <p:nvPr>
            <p:ph idx="1"/>
          </p:nvPr>
        </p:nvSpPr>
        <p:spPr>
          <a:xfrm>
            <a:off x="457200" y="712922"/>
            <a:ext cx="8229600" cy="4107051"/>
          </a:xfrm>
        </p:spPr>
        <p:txBody>
          <a:bodyPr>
            <a:normAutofit fontScale="92500" lnSpcReduction="20000"/>
          </a:bodyPr>
          <a:lstStyle/>
          <a:p>
            <a:r>
              <a:rPr lang="en-IN" b="1" dirty="0"/>
              <a:t>Introduction</a:t>
            </a:r>
            <a:endParaRPr lang="en-IN" dirty="0"/>
          </a:p>
          <a:p>
            <a:pPr algn="just"/>
            <a:r>
              <a:rPr lang="en-IN" dirty="0"/>
              <a:t>A </a:t>
            </a:r>
            <a:r>
              <a:rPr lang="en-IN" b="1" dirty="0"/>
              <a:t>Virtual Private Network (VPN)</a:t>
            </a:r>
            <a:r>
              <a:rPr lang="en-IN" dirty="0"/>
              <a:t> is a technology that creates a </a:t>
            </a:r>
            <a:r>
              <a:rPr lang="en-IN" b="1" dirty="0"/>
              <a:t>secure and encrypted connection</a:t>
            </a:r>
            <a:r>
              <a:rPr lang="en-IN" dirty="0"/>
              <a:t> over a public network such as the Internet. VPN security protects data from unauthorized access by encrypting communication between users and the destination network, ensuring secure remote access and private communication.</a:t>
            </a:r>
          </a:p>
          <a:p>
            <a:pPr algn="just"/>
            <a:endParaRPr lang="en-IN" b="1" dirty="0"/>
          </a:p>
          <a:p>
            <a:pPr algn="just"/>
            <a:r>
              <a:rPr lang="en-IN" b="1" dirty="0"/>
              <a:t>Definition</a:t>
            </a:r>
          </a:p>
          <a:p>
            <a:pPr algn="just"/>
            <a:endParaRPr lang="en-IN" dirty="0"/>
          </a:p>
          <a:p>
            <a:pPr algn="just"/>
            <a:r>
              <a:rPr lang="en-IN" b="1" dirty="0"/>
              <a:t>VPN Security</a:t>
            </a:r>
            <a:r>
              <a:rPr lang="en-IN" dirty="0"/>
              <a:t> refers to the methods and technologies used to protect data transmitted through a Virtual Private Network by providing </a:t>
            </a:r>
            <a:r>
              <a:rPr lang="en-IN" b="1" dirty="0"/>
              <a:t>confidentiality, integrity, authentication, and privacy</a:t>
            </a:r>
            <a:r>
              <a:rPr lang="en-IN" dirty="0"/>
              <a:t>.</a:t>
            </a:r>
          </a:p>
          <a:p>
            <a:endParaRPr lang="en-IN" dirty="0"/>
          </a:p>
          <a:p>
            <a:endParaRPr lang="en-IN" dirty="0"/>
          </a:p>
        </p:txBody>
      </p:sp>
    </p:spTree>
    <p:extLst>
      <p:ext uri="{BB962C8B-B14F-4D97-AF65-F5344CB8AC3E}">
        <p14:creationId xmlns:p14="http://schemas.microsoft.com/office/powerpoint/2010/main" val="3728698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08C1-260C-54EC-6218-6E3054EA894C}"/>
              </a:ext>
            </a:extLst>
          </p:cNvPr>
          <p:cNvSpPr>
            <a:spLocks noGrp="1"/>
          </p:cNvSpPr>
          <p:nvPr>
            <p:ph type="title"/>
          </p:nvPr>
        </p:nvSpPr>
        <p:spPr>
          <a:xfrm>
            <a:off x="0" y="205493"/>
            <a:ext cx="8229600" cy="857250"/>
          </a:xfrm>
        </p:spPr>
        <p:txBody>
          <a:bodyPr>
            <a:normAutofit fontScale="90000"/>
          </a:bodyPr>
          <a:lstStyle/>
          <a:p>
            <a:r>
              <a:rPr lang="en-IN" b="1" dirty="0"/>
              <a:t>Need for VPN Security</a:t>
            </a:r>
            <a:br>
              <a:rPr lang="en-IN" dirty="0"/>
            </a:br>
            <a:endParaRPr lang="en-IN" dirty="0"/>
          </a:p>
        </p:txBody>
      </p:sp>
      <p:sp>
        <p:nvSpPr>
          <p:cNvPr id="3" name="Content Placeholder 2">
            <a:extLst>
              <a:ext uri="{FF2B5EF4-FFF2-40B4-BE49-F238E27FC236}">
                <a16:creationId xmlns:a16="http://schemas.microsoft.com/office/drawing/2014/main" id="{81A40120-8DF6-4FE0-4A10-67A4C356C312}"/>
              </a:ext>
            </a:extLst>
          </p:cNvPr>
          <p:cNvSpPr>
            <a:spLocks noGrp="1"/>
          </p:cNvSpPr>
          <p:nvPr>
            <p:ph idx="1"/>
          </p:nvPr>
        </p:nvSpPr>
        <p:spPr>
          <a:xfrm>
            <a:off x="457200" y="1200151"/>
            <a:ext cx="8229600" cy="3737856"/>
          </a:xfrm>
        </p:spPr>
        <p:txBody>
          <a:bodyPr>
            <a:normAutofit/>
          </a:bodyPr>
          <a:lstStyle/>
          <a:p>
            <a:r>
              <a:rPr lang="en-IN" dirty="0"/>
              <a:t>VPN security is important because it:</a:t>
            </a:r>
          </a:p>
          <a:p>
            <a:pPr lvl="1"/>
            <a:r>
              <a:rPr lang="en-IN" dirty="0"/>
              <a:t>Protects sensitive information during transmission.</a:t>
            </a:r>
          </a:p>
          <a:p>
            <a:pPr lvl="1"/>
            <a:r>
              <a:rPr lang="en-IN" dirty="0"/>
              <a:t>Prevents unauthorized access to private networks.</a:t>
            </a:r>
          </a:p>
          <a:p>
            <a:pPr lvl="1"/>
            <a:r>
              <a:rPr lang="en-IN" dirty="0"/>
              <a:t>Secures communication over public Wi-Fi.</a:t>
            </a:r>
          </a:p>
          <a:p>
            <a:pPr lvl="1"/>
            <a:r>
              <a:rPr lang="en-IN" dirty="0"/>
              <a:t>Enables secure remote access for employees.</a:t>
            </a:r>
          </a:p>
          <a:p>
            <a:pPr lvl="1"/>
            <a:r>
              <a:rPr lang="en-IN" dirty="0"/>
              <a:t>Maintains user privacy by hiding IP addresses.</a:t>
            </a:r>
          </a:p>
          <a:p>
            <a:pPr lvl="1"/>
            <a:r>
              <a:rPr lang="en-IN" dirty="0"/>
              <a:t>Reduces the risk of eavesdropping and data theft.</a:t>
            </a:r>
          </a:p>
          <a:p>
            <a:pPr marL="0" indent="0">
              <a:buNone/>
            </a:pPr>
            <a:endParaRPr lang="en-IN" dirty="0"/>
          </a:p>
        </p:txBody>
      </p:sp>
    </p:spTree>
    <p:extLst>
      <p:ext uri="{BB962C8B-B14F-4D97-AF65-F5344CB8AC3E}">
        <p14:creationId xmlns:p14="http://schemas.microsoft.com/office/powerpoint/2010/main" val="18153651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60D6F-8450-768B-9736-3A29713965F5}"/>
              </a:ext>
            </a:extLst>
          </p:cNvPr>
          <p:cNvSpPr>
            <a:spLocks noGrp="1"/>
          </p:cNvSpPr>
          <p:nvPr>
            <p:ph type="title"/>
          </p:nvPr>
        </p:nvSpPr>
        <p:spPr/>
        <p:txBody>
          <a:bodyPr>
            <a:normAutofit fontScale="90000"/>
          </a:bodyPr>
          <a:lstStyle/>
          <a:p>
            <a:r>
              <a:rPr lang="en-IN" b="1" dirty="0"/>
              <a:t>How VPN Security Works</a:t>
            </a:r>
            <a:br>
              <a:rPr lang="en-IN" dirty="0"/>
            </a:br>
            <a:endParaRPr lang="en-IN" dirty="0"/>
          </a:p>
        </p:txBody>
      </p:sp>
      <p:sp>
        <p:nvSpPr>
          <p:cNvPr id="3" name="Content Placeholder 2">
            <a:extLst>
              <a:ext uri="{FF2B5EF4-FFF2-40B4-BE49-F238E27FC236}">
                <a16:creationId xmlns:a16="http://schemas.microsoft.com/office/drawing/2014/main" id="{C4BE91C3-DB1F-956A-BDEC-1D40FCBCE95F}"/>
              </a:ext>
            </a:extLst>
          </p:cNvPr>
          <p:cNvSpPr>
            <a:spLocks noGrp="1"/>
          </p:cNvSpPr>
          <p:nvPr>
            <p:ph idx="1"/>
          </p:nvPr>
        </p:nvSpPr>
        <p:spPr/>
        <p:txBody>
          <a:bodyPr>
            <a:normAutofit lnSpcReduction="10000"/>
          </a:bodyPr>
          <a:lstStyle/>
          <a:p>
            <a:pPr lvl="0" algn="just"/>
            <a:r>
              <a:rPr lang="en-IN" dirty="0"/>
              <a:t>The user connects to a VPN server.</a:t>
            </a:r>
          </a:p>
          <a:p>
            <a:pPr lvl="0" algn="just"/>
            <a:r>
              <a:rPr lang="en-IN" dirty="0"/>
              <a:t>The VPN client authenticates the user.</a:t>
            </a:r>
          </a:p>
          <a:p>
            <a:pPr lvl="0" algn="just"/>
            <a:r>
              <a:rPr lang="en-IN" dirty="0"/>
              <a:t>A secure encrypted tunnel is established.</a:t>
            </a:r>
          </a:p>
          <a:p>
            <a:pPr lvl="0" algn="just"/>
            <a:r>
              <a:rPr lang="en-IN" dirty="0"/>
              <a:t>All data is encrypted before transmission.</a:t>
            </a:r>
          </a:p>
          <a:p>
            <a:pPr lvl="0" algn="just"/>
            <a:r>
              <a:rPr lang="en-IN" dirty="0"/>
              <a:t>The encrypted data travels through the Internet.</a:t>
            </a:r>
          </a:p>
          <a:p>
            <a:pPr lvl="0" algn="just"/>
            <a:r>
              <a:rPr lang="en-IN" dirty="0"/>
              <a:t>The VPN server decrypts the data and forwards it to the destination.</a:t>
            </a:r>
          </a:p>
          <a:p>
            <a:pPr lvl="0" algn="just"/>
            <a:r>
              <a:rPr lang="en-IN" dirty="0"/>
              <a:t>Responses follow the same secure path back to the user.</a:t>
            </a:r>
          </a:p>
          <a:p>
            <a:endParaRPr lang="en-IN" dirty="0"/>
          </a:p>
        </p:txBody>
      </p:sp>
    </p:spTree>
    <p:extLst>
      <p:ext uri="{BB962C8B-B14F-4D97-AF65-F5344CB8AC3E}">
        <p14:creationId xmlns:p14="http://schemas.microsoft.com/office/powerpoint/2010/main" val="8511171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65A91-A9E7-C556-2BF6-BFFFD8B4C5CD}"/>
              </a:ext>
            </a:extLst>
          </p:cNvPr>
          <p:cNvSpPr>
            <a:spLocks noGrp="1"/>
          </p:cNvSpPr>
          <p:nvPr>
            <p:ph type="title"/>
          </p:nvPr>
        </p:nvSpPr>
        <p:spPr/>
        <p:txBody>
          <a:bodyPr>
            <a:normAutofit fontScale="90000"/>
          </a:bodyPr>
          <a:lstStyle/>
          <a:p>
            <a:r>
              <a:rPr lang="en-IN" b="1" dirty="0"/>
              <a:t>Key Security Features of VPN</a:t>
            </a:r>
            <a:br>
              <a:rPr lang="en-IN" dirty="0"/>
            </a:br>
            <a:endParaRPr lang="en-IN" dirty="0"/>
          </a:p>
        </p:txBody>
      </p:sp>
      <p:sp>
        <p:nvSpPr>
          <p:cNvPr id="3" name="Content Placeholder 2">
            <a:extLst>
              <a:ext uri="{FF2B5EF4-FFF2-40B4-BE49-F238E27FC236}">
                <a16:creationId xmlns:a16="http://schemas.microsoft.com/office/drawing/2014/main" id="{2EF9A937-7ED6-4E91-1A30-7F8B79B79D46}"/>
              </a:ext>
            </a:extLst>
          </p:cNvPr>
          <p:cNvSpPr>
            <a:spLocks noGrp="1"/>
          </p:cNvSpPr>
          <p:nvPr>
            <p:ph idx="1"/>
          </p:nvPr>
        </p:nvSpPr>
        <p:spPr>
          <a:xfrm>
            <a:off x="457200" y="689674"/>
            <a:ext cx="8229600" cy="4138047"/>
          </a:xfrm>
        </p:spPr>
        <p:txBody>
          <a:bodyPr>
            <a:normAutofit fontScale="70000" lnSpcReduction="20000"/>
          </a:bodyPr>
          <a:lstStyle/>
          <a:p>
            <a:r>
              <a:rPr lang="en-IN" b="1" dirty="0"/>
              <a:t>1. Encryption</a:t>
            </a:r>
            <a:endParaRPr lang="en-IN" dirty="0"/>
          </a:p>
          <a:p>
            <a:pPr lvl="1"/>
            <a:r>
              <a:rPr lang="en-IN" dirty="0"/>
              <a:t>Converts readable data into unreadable ciphertext.</a:t>
            </a:r>
          </a:p>
          <a:p>
            <a:pPr lvl="1"/>
            <a:r>
              <a:rPr lang="en-IN" dirty="0"/>
              <a:t>Prevents attackers from reading intercepted data.</a:t>
            </a:r>
          </a:p>
          <a:p>
            <a:r>
              <a:rPr lang="en-IN" b="1" dirty="0"/>
              <a:t>2. Authentication</a:t>
            </a:r>
            <a:endParaRPr lang="en-IN" dirty="0"/>
          </a:p>
          <a:p>
            <a:pPr lvl="1"/>
            <a:r>
              <a:rPr lang="en-IN" dirty="0"/>
              <a:t>Verifies the identity of users and VPN servers.</a:t>
            </a:r>
          </a:p>
          <a:p>
            <a:pPr lvl="1"/>
            <a:r>
              <a:rPr lang="en-IN" dirty="0"/>
              <a:t>Prevents unauthorized access.</a:t>
            </a:r>
          </a:p>
          <a:p>
            <a:r>
              <a:rPr lang="en-IN" b="1" dirty="0"/>
              <a:t>3. Data Integrity</a:t>
            </a:r>
            <a:endParaRPr lang="en-IN" dirty="0"/>
          </a:p>
          <a:p>
            <a:pPr lvl="1"/>
            <a:r>
              <a:rPr lang="en-IN" dirty="0"/>
              <a:t>Ensures that transmitted data is not altered.</a:t>
            </a:r>
          </a:p>
          <a:p>
            <a:pPr lvl="1"/>
            <a:r>
              <a:rPr lang="en-IN" dirty="0"/>
              <a:t>Detects tampering during transmission.</a:t>
            </a:r>
          </a:p>
          <a:p>
            <a:r>
              <a:rPr lang="en-IN" b="1" dirty="0"/>
              <a:t>4. Confidentiality</a:t>
            </a:r>
            <a:endParaRPr lang="en-IN" dirty="0"/>
          </a:p>
          <a:p>
            <a:pPr lvl="1"/>
            <a:r>
              <a:rPr lang="en-IN" dirty="0"/>
              <a:t>Protects sensitive information from unauthorized disclosure.</a:t>
            </a:r>
          </a:p>
          <a:p>
            <a:r>
              <a:rPr lang="en-IN" b="1" dirty="0"/>
              <a:t>5. IP	 Address Masking</a:t>
            </a:r>
            <a:endParaRPr lang="en-IN" dirty="0"/>
          </a:p>
          <a:p>
            <a:pPr lvl="1"/>
            <a:r>
              <a:rPr lang="en-IN" dirty="0"/>
              <a:t>Hides the user's real IP address.</a:t>
            </a:r>
          </a:p>
          <a:p>
            <a:pPr lvl="1"/>
            <a:r>
              <a:rPr lang="en-IN" dirty="0"/>
              <a:t>Enhances online privacy.</a:t>
            </a:r>
          </a:p>
          <a:p>
            <a:r>
              <a:rPr lang="en-IN" b="1" dirty="0"/>
              <a:t>6. Secure </a:t>
            </a:r>
            <a:r>
              <a:rPr lang="en-IN" b="1" dirty="0" err="1"/>
              <a:t>Tunneling</a:t>
            </a:r>
            <a:endParaRPr lang="en-IN" dirty="0"/>
          </a:p>
          <a:p>
            <a:pPr lvl="1"/>
            <a:r>
              <a:rPr lang="en-IN" dirty="0"/>
              <a:t>Creates an encrypted tunnel between the client and the VPN server.</a:t>
            </a:r>
          </a:p>
          <a:p>
            <a:pPr lvl="1"/>
            <a:r>
              <a:rPr lang="en-IN" dirty="0"/>
              <a:t>Protects data while it travels over the Internet.</a:t>
            </a:r>
          </a:p>
          <a:p>
            <a:endParaRPr lang="en-IN" dirty="0"/>
          </a:p>
        </p:txBody>
      </p:sp>
    </p:spTree>
    <p:extLst>
      <p:ext uri="{BB962C8B-B14F-4D97-AF65-F5344CB8AC3E}">
        <p14:creationId xmlns:p14="http://schemas.microsoft.com/office/powerpoint/2010/main" val="3849568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E8991-594A-C701-BE56-9011B9D7730D}"/>
              </a:ext>
            </a:extLst>
          </p:cNvPr>
          <p:cNvSpPr>
            <a:spLocks noGrp="1"/>
          </p:cNvSpPr>
          <p:nvPr>
            <p:ph type="title"/>
          </p:nvPr>
        </p:nvSpPr>
        <p:spPr/>
        <p:txBody>
          <a:bodyPr>
            <a:normAutofit fontScale="90000"/>
          </a:bodyPr>
          <a:lstStyle/>
          <a:p>
            <a:r>
              <a:rPr lang="en-IN" b="1" dirty="0"/>
              <a:t>VPN Protocols</a:t>
            </a:r>
            <a:br>
              <a:rPr lang="en-IN" dirty="0"/>
            </a:br>
            <a:endParaRPr lang="en-IN" dirty="0"/>
          </a:p>
        </p:txBody>
      </p:sp>
      <p:graphicFrame>
        <p:nvGraphicFramePr>
          <p:cNvPr id="4" name="Content Placeholder 3">
            <a:extLst>
              <a:ext uri="{FF2B5EF4-FFF2-40B4-BE49-F238E27FC236}">
                <a16:creationId xmlns:a16="http://schemas.microsoft.com/office/drawing/2014/main" id="{1BF61D38-C731-B785-2AB9-1BEFD25CF837}"/>
              </a:ext>
            </a:extLst>
          </p:cNvPr>
          <p:cNvGraphicFramePr>
            <a:graphicFrameLocks noGrp="1"/>
          </p:cNvGraphicFramePr>
          <p:nvPr>
            <p:ph idx="1"/>
            <p:extLst>
              <p:ext uri="{D42A27DB-BD31-4B8C-83A1-F6EECF244321}">
                <p14:modId xmlns:p14="http://schemas.microsoft.com/office/powerpoint/2010/main" val="4181753352"/>
              </p:ext>
            </p:extLst>
          </p:nvPr>
        </p:nvGraphicFramePr>
        <p:xfrm>
          <a:off x="457200" y="968644"/>
          <a:ext cx="8229600" cy="3487121"/>
        </p:xfrm>
        <a:graphic>
          <a:graphicData uri="http://schemas.openxmlformats.org/drawingml/2006/table">
            <a:tbl>
              <a:tblPr firstRow="1" firstCol="1" bandRow="1">
                <a:tableStyleId>{7BB7F7F7-D12E-4AE9-9629-C1C5CECE5D20}</a:tableStyleId>
              </a:tblPr>
              <a:tblGrid>
                <a:gridCol w="3076414">
                  <a:extLst>
                    <a:ext uri="{9D8B030D-6E8A-4147-A177-3AD203B41FA5}">
                      <a16:colId xmlns:a16="http://schemas.microsoft.com/office/drawing/2014/main" val="1709085136"/>
                    </a:ext>
                  </a:extLst>
                </a:gridCol>
                <a:gridCol w="5153186">
                  <a:extLst>
                    <a:ext uri="{9D8B030D-6E8A-4147-A177-3AD203B41FA5}">
                      <a16:colId xmlns:a16="http://schemas.microsoft.com/office/drawing/2014/main" val="766357306"/>
                    </a:ext>
                  </a:extLst>
                </a:gridCol>
              </a:tblGrid>
              <a:tr h="501379">
                <a:tc>
                  <a:txBody>
                    <a:bodyPr/>
                    <a:lstStyle/>
                    <a:p>
                      <a:pPr marL="0" marR="0" algn="ctr">
                        <a:lnSpc>
                          <a:spcPct val="107000"/>
                        </a:lnSpc>
                        <a:spcAft>
                          <a:spcPts val="800"/>
                        </a:spcAft>
                        <a:buNone/>
                      </a:pPr>
                      <a:r>
                        <a:rPr lang="en-IN" sz="1200" b="1" kern="0" dirty="0">
                          <a:effectLst/>
                        </a:rPr>
                        <a:t>Protocol</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gn="ctr">
                        <a:lnSpc>
                          <a:spcPct val="107000"/>
                        </a:lnSpc>
                        <a:spcAft>
                          <a:spcPts val="800"/>
                        </a:spcAft>
                        <a:buNone/>
                      </a:pPr>
                      <a:r>
                        <a:rPr lang="en-IN" sz="1200" b="1" kern="0" dirty="0">
                          <a:effectLst/>
                        </a:rPr>
                        <a:t>Features</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228884887"/>
                  </a:ext>
                </a:extLst>
              </a:tr>
              <a:tr h="501379">
                <a:tc>
                  <a:txBody>
                    <a:bodyPr/>
                    <a:lstStyle/>
                    <a:p>
                      <a:pPr marL="0" marR="0">
                        <a:lnSpc>
                          <a:spcPct val="107000"/>
                        </a:lnSpc>
                        <a:spcAft>
                          <a:spcPts val="800"/>
                        </a:spcAft>
                        <a:buNone/>
                      </a:pPr>
                      <a:r>
                        <a:rPr lang="en-IN" sz="1200" kern="0">
                          <a:effectLst/>
                        </a:rPr>
                        <a:t>PPTP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Easy to configure but offers lower security.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507303561"/>
                  </a:ext>
                </a:extLst>
              </a:tr>
              <a:tr h="501379">
                <a:tc>
                  <a:txBody>
                    <a:bodyPr/>
                    <a:lstStyle/>
                    <a:p>
                      <a:pPr marL="0" marR="0">
                        <a:lnSpc>
                          <a:spcPct val="107000"/>
                        </a:lnSpc>
                        <a:spcAft>
                          <a:spcPts val="800"/>
                        </a:spcAft>
                        <a:buNone/>
                      </a:pPr>
                      <a:r>
                        <a:rPr lang="en-IN" sz="1200" kern="0" dirty="0">
                          <a:effectLst/>
                        </a:rPr>
                        <a:t>L2TP/IPsec</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Combines tunneling with strong encryption.</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601824499"/>
                  </a:ext>
                </a:extLst>
              </a:tr>
              <a:tr h="501379">
                <a:tc>
                  <a:txBody>
                    <a:bodyPr/>
                    <a:lstStyle/>
                    <a:p>
                      <a:pPr marL="0" marR="0">
                        <a:lnSpc>
                          <a:spcPct val="107000"/>
                        </a:lnSpc>
                        <a:spcAft>
                          <a:spcPts val="800"/>
                        </a:spcAft>
                        <a:buNone/>
                      </a:pPr>
                      <a:r>
                        <a:rPr lang="en-IN" sz="1200" kern="0" dirty="0">
                          <a:effectLst/>
                        </a:rPr>
                        <a:t>OpenVPN</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Highly secure, open-source, and widely used.</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882978267"/>
                  </a:ext>
                </a:extLst>
              </a:tr>
              <a:tr h="501379">
                <a:tc>
                  <a:txBody>
                    <a:bodyPr/>
                    <a:lstStyle/>
                    <a:p>
                      <a:pPr marL="0" marR="0">
                        <a:lnSpc>
                          <a:spcPct val="107000"/>
                        </a:lnSpc>
                        <a:spcAft>
                          <a:spcPts val="800"/>
                        </a:spcAft>
                        <a:buNone/>
                      </a:pPr>
                      <a:r>
                        <a:rPr lang="en-IN" sz="1200" kern="0">
                          <a:effectLst/>
                        </a:rPr>
                        <a:t>IKEv2/IPsec</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dirty="0">
                          <a:effectLst/>
                        </a:rPr>
                        <a:t>Fast, secure, and stable, especially for mobile devices.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4218276121"/>
                  </a:ext>
                </a:extLst>
              </a:tr>
              <a:tr h="980226">
                <a:tc>
                  <a:txBody>
                    <a:bodyPr/>
                    <a:lstStyle/>
                    <a:p>
                      <a:pPr marL="0" marR="0">
                        <a:lnSpc>
                          <a:spcPct val="107000"/>
                        </a:lnSpc>
                        <a:spcAft>
                          <a:spcPts val="800"/>
                        </a:spcAft>
                        <a:buNone/>
                      </a:pPr>
                      <a:r>
                        <a:rPr lang="en-IN" sz="1200" kern="0">
                          <a:effectLst/>
                        </a:rPr>
                        <a:t>WireGuard</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dirty="0">
                          <a:effectLst/>
                        </a:rPr>
                        <a:t>Modern VPN protocol with high performance and strong security.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036276793"/>
                  </a:ext>
                </a:extLst>
              </a:tr>
            </a:tbl>
          </a:graphicData>
        </a:graphic>
      </p:graphicFrame>
    </p:spTree>
    <p:extLst>
      <p:ext uri="{BB962C8B-B14F-4D97-AF65-F5344CB8AC3E}">
        <p14:creationId xmlns:p14="http://schemas.microsoft.com/office/powerpoint/2010/main" val="732058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9106-B2C4-4B76-B04E-16A3654BC97D}"/>
              </a:ext>
            </a:extLst>
          </p:cNvPr>
          <p:cNvSpPr>
            <a:spLocks noGrp="1"/>
          </p:cNvSpPr>
          <p:nvPr>
            <p:ph type="title"/>
          </p:nvPr>
        </p:nvSpPr>
        <p:spPr/>
        <p:txBody>
          <a:bodyPr>
            <a:normAutofit fontScale="90000"/>
          </a:bodyPr>
          <a:lstStyle/>
          <a:p>
            <a:r>
              <a:rPr lang="en-IN" b="1" dirty="0"/>
              <a:t>Types of VPN</a:t>
            </a:r>
            <a:br>
              <a:rPr lang="en-IN" dirty="0"/>
            </a:br>
            <a:endParaRPr lang="en-IN" dirty="0"/>
          </a:p>
        </p:txBody>
      </p:sp>
      <p:sp>
        <p:nvSpPr>
          <p:cNvPr id="3" name="Content Placeholder 2">
            <a:extLst>
              <a:ext uri="{FF2B5EF4-FFF2-40B4-BE49-F238E27FC236}">
                <a16:creationId xmlns:a16="http://schemas.microsoft.com/office/drawing/2014/main" id="{CA8CA3C5-D405-A0CB-F875-1A74FC31D389}"/>
              </a:ext>
            </a:extLst>
          </p:cNvPr>
          <p:cNvSpPr>
            <a:spLocks noGrp="1"/>
          </p:cNvSpPr>
          <p:nvPr>
            <p:ph idx="1"/>
          </p:nvPr>
        </p:nvSpPr>
        <p:spPr>
          <a:xfrm>
            <a:off x="457200" y="674176"/>
            <a:ext cx="8229600" cy="4192292"/>
          </a:xfrm>
        </p:spPr>
        <p:txBody>
          <a:bodyPr>
            <a:normAutofit fontScale="70000" lnSpcReduction="20000"/>
          </a:bodyPr>
          <a:lstStyle/>
          <a:p>
            <a:r>
              <a:rPr lang="en-IN" b="1" dirty="0"/>
              <a:t>1. Remote Access VPN</a:t>
            </a:r>
            <a:endParaRPr lang="en-IN" dirty="0"/>
          </a:p>
          <a:p>
            <a:pPr lvl="1"/>
            <a:r>
              <a:rPr lang="en-IN" dirty="0"/>
              <a:t>Connects individual users securely to a private network.</a:t>
            </a:r>
          </a:p>
          <a:p>
            <a:pPr lvl="1"/>
            <a:r>
              <a:rPr lang="en-IN" dirty="0"/>
              <a:t>Commonly used by remote employees.</a:t>
            </a:r>
          </a:p>
          <a:p>
            <a:r>
              <a:rPr lang="en-IN" b="1" dirty="0"/>
              <a:t>2. Site-to-Site VPN</a:t>
            </a:r>
            <a:endParaRPr lang="en-IN" dirty="0"/>
          </a:p>
          <a:p>
            <a:pPr lvl="1"/>
            <a:r>
              <a:rPr lang="en-IN" dirty="0"/>
              <a:t>Connects two or more office networks securely over the Internet.</a:t>
            </a:r>
          </a:p>
          <a:p>
            <a:pPr lvl="1"/>
            <a:r>
              <a:rPr lang="en-IN" dirty="0"/>
              <a:t>Used by organizations with multiple branches.</a:t>
            </a:r>
          </a:p>
          <a:p>
            <a:r>
              <a:rPr lang="en-IN" b="1" dirty="0"/>
              <a:t>3. Client-to-Site VPN</a:t>
            </a:r>
            <a:endParaRPr lang="en-IN" dirty="0"/>
          </a:p>
          <a:p>
            <a:pPr lvl="1"/>
            <a:r>
              <a:rPr lang="en-IN" dirty="0"/>
              <a:t>Allows a user's device to securely connect to a corporate network.</a:t>
            </a:r>
          </a:p>
          <a:p>
            <a:pPr marL="0" indent="0">
              <a:buNone/>
            </a:pPr>
            <a:endParaRPr lang="en-IN" dirty="0"/>
          </a:p>
          <a:p>
            <a:r>
              <a:rPr lang="en-IN" b="1" dirty="0"/>
              <a:t>Advantages of VPN Security</a:t>
            </a:r>
            <a:endParaRPr lang="en-IN" dirty="0"/>
          </a:p>
          <a:p>
            <a:pPr lvl="1"/>
            <a:r>
              <a:rPr lang="en-IN" dirty="0"/>
              <a:t>Protects confidential data.</a:t>
            </a:r>
          </a:p>
          <a:p>
            <a:pPr lvl="1"/>
            <a:r>
              <a:rPr lang="en-IN" dirty="0"/>
              <a:t>Encrypts Internet traffic.</a:t>
            </a:r>
          </a:p>
          <a:p>
            <a:pPr lvl="1"/>
            <a:r>
              <a:rPr lang="en-IN" dirty="0"/>
              <a:t>Secures remote access.</a:t>
            </a:r>
          </a:p>
          <a:p>
            <a:pPr lvl="1"/>
            <a:r>
              <a:rPr lang="en-IN" dirty="0"/>
              <a:t>Hides the user's IP address.</a:t>
            </a:r>
          </a:p>
          <a:p>
            <a:pPr lvl="1"/>
            <a:r>
              <a:rPr lang="en-IN" dirty="0"/>
              <a:t>Reduces the risk of cyber attacks on public networks.</a:t>
            </a:r>
          </a:p>
          <a:p>
            <a:pPr lvl="1"/>
            <a:r>
              <a:rPr lang="en-IN" dirty="0"/>
              <a:t>Enables secure communication between branch offices.</a:t>
            </a:r>
          </a:p>
          <a:p>
            <a:pPr lvl="1"/>
            <a:r>
              <a:rPr lang="en-IN" dirty="0"/>
              <a:t>Improves privacy while browsing.</a:t>
            </a:r>
          </a:p>
          <a:p>
            <a:endParaRPr lang="en-IN" dirty="0"/>
          </a:p>
        </p:txBody>
      </p:sp>
    </p:spTree>
    <p:extLst>
      <p:ext uri="{BB962C8B-B14F-4D97-AF65-F5344CB8AC3E}">
        <p14:creationId xmlns:p14="http://schemas.microsoft.com/office/powerpoint/2010/main" val="9405574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803E5-9F85-24E3-695D-2FFC8CA94DD4}"/>
              </a:ext>
            </a:extLst>
          </p:cNvPr>
          <p:cNvSpPr>
            <a:spLocks noGrp="1"/>
          </p:cNvSpPr>
          <p:nvPr>
            <p:ph type="title"/>
          </p:nvPr>
        </p:nvSpPr>
        <p:spPr>
          <a:xfrm>
            <a:off x="457200" y="205979"/>
            <a:ext cx="8229600" cy="499194"/>
          </a:xfrm>
        </p:spPr>
        <p:txBody>
          <a:bodyPr>
            <a:normAutofit fontScale="90000"/>
          </a:bodyPr>
          <a:lstStyle/>
          <a:p>
            <a:r>
              <a:rPr lang="en-IN" b="1" dirty="0"/>
              <a:t>Limitations of VPN Security</a:t>
            </a:r>
            <a:br>
              <a:rPr lang="en-IN" dirty="0"/>
            </a:br>
            <a:endParaRPr lang="en-IN" dirty="0"/>
          </a:p>
        </p:txBody>
      </p:sp>
      <p:sp>
        <p:nvSpPr>
          <p:cNvPr id="3" name="Content Placeholder 2">
            <a:extLst>
              <a:ext uri="{FF2B5EF4-FFF2-40B4-BE49-F238E27FC236}">
                <a16:creationId xmlns:a16="http://schemas.microsoft.com/office/drawing/2014/main" id="{46F7D2DB-C7F7-7659-D2BA-441CE8A1CF63}"/>
              </a:ext>
            </a:extLst>
          </p:cNvPr>
          <p:cNvSpPr>
            <a:spLocks noGrp="1"/>
          </p:cNvSpPr>
          <p:nvPr>
            <p:ph idx="1"/>
          </p:nvPr>
        </p:nvSpPr>
        <p:spPr/>
        <p:txBody>
          <a:bodyPr>
            <a:normAutofit/>
          </a:bodyPr>
          <a:lstStyle/>
          <a:p>
            <a:pPr lvl="0"/>
            <a:r>
              <a:rPr lang="en-IN" dirty="0"/>
              <a:t>May reduce Internet speed due to encryption.</a:t>
            </a:r>
          </a:p>
          <a:p>
            <a:pPr lvl="0"/>
            <a:r>
              <a:rPr lang="en-IN" dirty="0"/>
              <a:t>Requires proper configuration and management.</a:t>
            </a:r>
          </a:p>
          <a:p>
            <a:pPr lvl="0"/>
            <a:r>
              <a:rPr lang="en-IN" dirty="0"/>
              <a:t>Does not protect against malware already on the device.</a:t>
            </a:r>
          </a:p>
          <a:p>
            <a:pPr lvl="0"/>
            <a:r>
              <a:rPr lang="en-IN" dirty="0"/>
              <a:t>Some websites or services may block VPN traffic.</a:t>
            </a:r>
          </a:p>
          <a:p>
            <a:pPr lvl="0"/>
            <a:r>
              <a:rPr lang="en-IN" dirty="0"/>
              <a:t>Free VPN services may provide weaker security or log user activity.</a:t>
            </a:r>
          </a:p>
          <a:p>
            <a:br>
              <a:rPr lang="en-IN" dirty="0"/>
            </a:br>
            <a:endParaRPr lang="en-IN" dirty="0"/>
          </a:p>
          <a:p>
            <a:endParaRPr lang="en-IN" dirty="0"/>
          </a:p>
        </p:txBody>
      </p:sp>
    </p:spTree>
    <p:extLst>
      <p:ext uri="{BB962C8B-B14F-4D97-AF65-F5344CB8AC3E}">
        <p14:creationId xmlns:p14="http://schemas.microsoft.com/office/powerpoint/2010/main" val="912955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6D32-7841-8796-2E43-D12B8149D956}"/>
              </a:ext>
            </a:extLst>
          </p:cNvPr>
          <p:cNvSpPr>
            <a:spLocks noGrp="1"/>
          </p:cNvSpPr>
          <p:nvPr>
            <p:ph type="title"/>
          </p:nvPr>
        </p:nvSpPr>
        <p:spPr/>
        <p:txBody>
          <a:bodyPr>
            <a:normAutofit fontScale="90000"/>
          </a:bodyPr>
          <a:lstStyle/>
          <a:p>
            <a:r>
              <a:rPr lang="en-IN" b="1" dirty="0"/>
              <a:t>Applications of VPN</a:t>
            </a:r>
            <a:br>
              <a:rPr lang="en-IN" dirty="0"/>
            </a:br>
            <a:endParaRPr lang="en-IN" dirty="0"/>
          </a:p>
        </p:txBody>
      </p:sp>
      <p:sp>
        <p:nvSpPr>
          <p:cNvPr id="3" name="Content Placeholder 2">
            <a:extLst>
              <a:ext uri="{FF2B5EF4-FFF2-40B4-BE49-F238E27FC236}">
                <a16:creationId xmlns:a16="http://schemas.microsoft.com/office/drawing/2014/main" id="{1B9F8936-9DBF-D2F1-DC6B-70E9F90E9064}"/>
              </a:ext>
            </a:extLst>
          </p:cNvPr>
          <p:cNvSpPr>
            <a:spLocks noGrp="1"/>
          </p:cNvSpPr>
          <p:nvPr>
            <p:ph idx="1"/>
          </p:nvPr>
        </p:nvSpPr>
        <p:spPr>
          <a:xfrm>
            <a:off x="457200" y="1200150"/>
            <a:ext cx="8229600" cy="3627571"/>
          </a:xfrm>
        </p:spPr>
        <p:txBody>
          <a:bodyPr>
            <a:normAutofit fontScale="62500" lnSpcReduction="20000"/>
          </a:bodyPr>
          <a:lstStyle/>
          <a:p>
            <a:pPr lvl="1"/>
            <a:r>
              <a:rPr lang="en-IN" dirty="0"/>
              <a:t>Remote work</a:t>
            </a:r>
          </a:p>
          <a:p>
            <a:pPr lvl="1"/>
            <a:r>
              <a:rPr lang="en-IN" dirty="0"/>
              <a:t>Corporate network access</a:t>
            </a:r>
          </a:p>
          <a:p>
            <a:pPr lvl="1"/>
            <a:r>
              <a:rPr lang="en-IN" dirty="0"/>
              <a:t>Secure online banking</a:t>
            </a:r>
          </a:p>
          <a:p>
            <a:pPr lvl="1"/>
            <a:r>
              <a:rPr lang="en-IN" dirty="0"/>
              <a:t>Public Wi-Fi protection</a:t>
            </a:r>
          </a:p>
          <a:p>
            <a:pPr lvl="1"/>
            <a:r>
              <a:rPr lang="en-IN" dirty="0"/>
              <a:t>Secure communication between branch offices</a:t>
            </a:r>
          </a:p>
          <a:p>
            <a:pPr lvl="1"/>
            <a:r>
              <a:rPr lang="en-IN" dirty="0"/>
              <a:t>Privacy-focused Internet browsing</a:t>
            </a:r>
          </a:p>
          <a:p>
            <a:br>
              <a:rPr lang="en-IN" dirty="0"/>
            </a:br>
            <a:endParaRPr lang="en-IN" dirty="0"/>
          </a:p>
          <a:p>
            <a:r>
              <a:rPr lang="en-IN" b="1" dirty="0"/>
              <a:t>Example</a:t>
            </a:r>
            <a:endParaRPr lang="en-IN" dirty="0"/>
          </a:p>
          <a:p>
            <a:pPr lvl="1"/>
            <a:r>
              <a:rPr lang="en-IN" dirty="0"/>
              <a:t>A company employee working from home needs to access the organization's internal server.</a:t>
            </a:r>
          </a:p>
          <a:p>
            <a:pPr lvl="1"/>
            <a:r>
              <a:rPr lang="en-IN" dirty="0"/>
              <a:t>The employee connects to the company's VPN.</a:t>
            </a:r>
          </a:p>
          <a:p>
            <a:pPr lvl="1"/>
            <a:r>
              <a:rPr lang="en-IN" dirty="0"/>
              <a:t>A secure encrypted tunnel is created.</a:t>
            </a:r>
          </a:p>
          <a:p>
            <a:pPr lvl="1"/>
            <a:r>
              <a:rPr lang="en-IN" dirty="0"/>
              <a:t>All communication between the employee and the company network is encrypted.</a:t>
            </a:r>
          </a:p>
          <a:p>
            <a:pPr lvl="1"/>
            <a:r>
              <a:rPr lang="en-IN" dirty="0"/>
              <a:t>Even if the data is intercepted, it cannot be read without the encryption key.</a:t>
            </a:r>
          </a:p>
          <a:p>
            <a:br>
              <a:rPr lang="en-IN" dirty="0"/>
            </a:br>
            <a:endParaRPr lang="en-IN" dirty="0"/>
          </a:p>
          <a:p>
            <a:endParaRPr lang="en-IN" dirty="0"/>
          </a:p>
        </p:txBody>
      </p:sp>
    </p:spTree>
    <p:extLst>
      <p:ext uri="{BB962C8B-B14F-4D97-AF65-F5344CB8AC3E}">
        <p14:creationId xmlns:p14="http://schemas.microsoft.com/office/powerpoint/2010/main" val="3554098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6F4BD4-F5CB-A455-B591-D242D30A3980}"/>
              </a:ext>
            </a:extLst>
          </p:cNvPr>
          <p:cNvSpPr>
            <a:spLocks noGrp="1"/>
          </p:cNvSpPr>
          <p:nvPr>
            <p:ph idx="1"/>
          </p:nvPr>
        </p:nvSpPr>
        <p:spPr>
          <a:xfrm>
            <a:off x="457200" y="309966"/>
            <a:ext cx="8229600" cy="4284657"/>
          </a:xfrm>
        </p:spPr>
        <p:txBody>
          <a:bodyPr>
            <a:normAutofit fontScale="92500" lnSpcReduction="10000"/>
          </a:bodyPr>
          <a:lstStyle/>
          <a:p>
            <a:r>
              <a:rPr lang="en-IN" b="1" dirty="0"/>
              <a:t>Best Practices for VPN Security</a:t>
            </a:r>
          </a:p>
          <a:p>
            <a:endParaRPr lang="en-IN" dirty="0"/>
          </a:p>
          <a:p>
            <a:pPr lvl="0"/>
            <a:r>
              <a:rPr lang="en-IN" dirty="0"/>
              <a:t>Use strong authentication (preferably Multi-Factor Authentication).</a:t>
            </a:r>
          </a:p>
          <a:p>
            <a:pPr lvl="0"/>
            <a:r>
              <a:rPr lang="en-IN" dirty="0"/>
              <a:t>Choose secure protocols such as </a:t>
            </a:r>
            <a:r>
              <a:rPr lang="en-IN" b="1" dirty="0"/>
              <a:t>OpenVPN</a:t>
            </a:r>
            <a:r>
              <a:rPr lang="en-IN" dirty="0"/>
              <a:t>, </a:t>
            </a:r>
            <a:r>
              <a:rPr lang="en-IN" b="1" dirty="0"/>
              <a:t>IKEv2/IPsec</a:t>
            </a:r>
            <a:r>
              <a:rPr lang="en-IN" dirty="0"/>
              <a:t>, or </a:t>
            </a:r>
            <a:r>
              <a:rPr lang="en-IN" b="1" dirty="0" err="1"/>
              <a:t>WireGuard</a:t>
            </a:r>
            <a:r>
              <a:rPr lang="en-IN" dirty="0"/>
              <a:t>.</a:t>
            </a:r>
          </a:p>
          <a:p>
            <a:pPr lvl="0"/>
            <a:r>
              <a:rPr lang="en-IN" dirty="0"/>
              <a:t>Keep VPN software updated.</a:t>
            </a:r>
          </a:p>
          <a:p>
            <a:pPr lvl="0"/>
            <a:r>
              <a:rPr lang="en-IN" dirty="0"/>
              <a:t>Use strong passwords.</a:t>
            </a:r>
          </a:p>
          <a:p>
            <a:pPr lvl="0"/>
            <a:r>
              <a:rPr lang="en-IN" dirty="0"/>
              <a:t>Disconnect the VPN when it is no longer needed.</a:t>
            </a:r>
          </a:p>
          <a:p>
            <a:pPr lvl="0"/>
            <a:r>
              <a:rPr lang="en-IN" dirty="0"/>
              <a:t>Avoid using untrusted or free VPN services for sensitive work.</a:t>
            </a:r>
          </a:p>
          <a:p>
            <a:pPr marL="0" indent="0">
              <a:buNone/>
            </a:pPr>
            <a:br>
              <a:rPr lang="en-IN" dirty="0"/>
            </a:br>
            <a:endParaRPr lang="en-IN" dirty="0"/>
          </a:p>
          <a:p>
            <a:endParaRPr lang="en-IN" dirty="0"/>
          </a:p>
        </p:txBody>
      </p:sp>
    </p:spTree>
    <p:extLst>
      <p:ext uri="{BB962C8B-B14F-4D97-AF65-F5344CB8AC3E}">
        <p14:creationId xmlns:p14="http://schemas.microsoft.com/office/powerpoint/2010/main" val="28593472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kern="1200" dirty="0">
                <a:solidFill>
                  <a:prstClr val="black"/>
                </a:solidFill>
                <a:latin typeface="Calibri"/>
              </a:rPr>
              <a:t>Course Outcomes (COs)</a:t>
            </a:r>
            <a:endParaRPr lang="en-US" dirty="0"/>
          </a:p>
        </p:txBody>
      </p:sp>
      <p:sp>
        <p:nvSpPr>
          <p:cNvPr id="3" name="Text Placeholder 2"/>
          <p:cNvSpPr>
            <a:spLocks noGrp="1"/>
          </p:cNvSpPr>
          <p:nvPr>
            <p:ph type="body" idx="1"/>
          </p:nvPr>
        </p:nvSpPr>
        <p:spPr/>
        <p:txBody>
          <a:bodyPr/>
          <a:lstStyle/>
          <a:p>
            <a:pPr>
              <a:buNone/>
            </a:pPr>
            <a:r>
              <a:rPr lang="en-US" dirty="0">
                <a:sym typeface="+mn-ea"/>
              </a:rPr>
              <a:t>Upon completion of course the students will be able to</a:t>
            </a:r>
            <a:endParaRPr lang="en-US" dirty="0"/>
          </a:p>
          <a:p>
            <a:pPr>
              <a:buNone/>
            </a:pPr>
            <a:endParaRPr lang="en-US" sz="800" dirty="0"/>
          </a:p>
          <a:p>
            <a:r>
              <a:rPr lang="en-US" dirty="0"/>
              <a:t>analyze cyber offences and </a:t>
            </a:r>
            <a:r>
              <a:rPr lang="en-US" b="1" dirty="0"/>
              <a:t>implement effective countermeasures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730</TotalTime>
  <Words>3524</Words>
  <Application>Microsoft Office PowerPoint</Application>
  <PresentationFormat>On-screen Show (16:9)</PresentationFormat>
  <Paragraphs>522</Paragraphs>
  <Slides>56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Times New Roman</vt:lpstr>
      <vt:lpstr>Wingdings</vt:lpstr>
      <vt:lpstr>Office Theme</vt:lpstr>
      <vt:lpstr>UNIT 3 Cyber Offences and Countermeasures</vt:lpstr>
      <vt:lpstr>Overview of Firewalls </vt:lpstr>
      <vt:lpstr>What is firewall</vt:lpstr>
      <vt:lpstr>PowerPoint Presentation</vt:lpstr>
      <vt:lpstr>History </vt:lpstr>
      <vt:lpstr>PowerPoint Presentation</vt:lpstr>
      <vt:lpstr>First-Generation Vs Modern Firewalls</vt:lpstr>
      <vt:lpstr>What Firewalls Do?</vt:lpstr>
      <vt:lpstr>A firewall policy example.</vt:lpstr>
      <vt:lpstr>Functions and Capabilities</vt:lpstr>
      <vt:lpstr>What are the Components of Firewall Management?</vt:lpstr>
      <vt:lpstr>Types of Firewalls</vt:lpstr>
      <vt:lpstr>Packet-filtering firewalls</vt:lpstr>
      <vt:lpstr>PowerPoint Presentation</vt:lpstr>
      <vt:lpstr>Proxy service</vt:lpstr>
      <vt:lpstr>PowerPoint Presentation</vt:lpstr>
      <vt:lpstr>Application-level Gateway </vt:lpstr>
      <vt:lpstr>PowerPoint Presentation</vt:lpstr>
      <vt:lpstr>Stateful inspection</vt:lpstr>
      <vt:lpstr>PowerPoint Presentation</vt:lpstr>
      <vt:lpstr>Countermeasures in Cyber Security</vt:lpstr>
      <vt:lpstr>Types of Countermeasures </vt:lpstr>
      <vt:lpstr>PowerPoint Presentation</vt:lpstr>
      <vt:lpstr>PowerPoint Presentation</vt:lpstr>
      <vt:lpstr>Common Cyber Security Countermeasures</vt:lpstr>
      <vt:lpstr>Example </vt:lpstr>
      <vt:lpstr>Benefits of Countermeasures </vt:lpstr>
      <vt:lpstr>Best Practices </vt:lpstr>
      <vt:lpstr>Configuration of Firewalls </vt:lpstr>
      <vt:lpstr>Steps in Firewall Configuration </vt:lpstr>
      <vt:lpstr>PowerPoint Presentation</vt:lpstr>
      <vt:lpstr>Example Rules</vt:lpstr>
      <vt:lpstr>PowerPoint Presentation</vt:lpstr>
      <vt:lpstr>PowerPoint Presentation</vt:lpstr>
      <vt:lpstr>Firewall Configuration Best Practices </vt:lpstr>
      <vt:lpstr>Example Firewall Configuration </vt:lpstr>
      <vt:lpstr>Advantages of Proper Firewall Configuration</vt:lpstr>
      <vt:lpstr>Proxy Servers and Anonymizers</vt:lpstr>
      <vt:lpstr>Proxy Server </vt:lpstr>
      <vt:lpstr>Functions of a Proxy Server </vt:lpstr>
      <vt:lpstr>Types of Proxy Servers </vt:lpstr>
      <vt:lpstr>Advantages  and Disadvantages of Proxy Servers </vt:lpstr>
      <vt:lpstr>Anonymizers </vt:lpstr>
      <vt:lpstr>PowerPoint Presentation</vt:lpstr>
      <vt:lpstr>Difference Between Proxy Server and Anonymizer </vt:lpstr>
      <vt:lpstr>Applications </vt:lpstr>
      <vt:lpstr>VPN Security </vt:lpstr>
      <vt:lpstr>Need for VPN Security </vt:lpstr>
      <vt:lpstr>How VPN Security Works </vt:lpstr>
      <vt:lpstr>Key Security Features of VPN </vt:lpstr>
      <vt:lpstr>VPN Protocols </vt:lpstr>
      <vt:lpstr>Types of VPN </vt:lpstr>
      <vt:lpstr>Limitations of VPN Security </vt:lpstr>
      <vt:lpstr>Applications of VPN </vt:lpstr>
      <vt:lpstr>PowerPoint Presentation</vt:lpstr>
      <vt:lpstr>Course Outcomes (COs)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 Cyber Offences</dc:title>
  <cp:lastModifiedBy>S Alagumuthukrishnan</cp:lastModifiedBy>
  <cp:revision>37</cp:revision>
  <dcterms:modified xsi:type="dcterms:W3CDTF">2026-07-13T07:43:14Z</dcterms:modified>
</cp:coreProperties>
</file>