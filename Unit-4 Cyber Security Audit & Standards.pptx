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94"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92" r:id="rId21"/>
    <p:sldId id="29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0EDE87-6703-4104-8E78-3599F1D2CD5D}" type="datetimeFigureOut">
              <a:rPr lang="en-US" smtClean="0"/>
              <a:t>9/15/2026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61004E-7BCD-4DB9-A793-7FBEACD1D73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40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5A6743B-A6F7-476F-818D-21C73BE703C2}" type="slidenum">
              <a:rPr lang="en-US" smtClean="0"/>
              <a:pPr fontAlgn="base">
                <a:spcBef>
                  <a:spcPct val="0"/>
                </a:spcBef>
                <a:spcAft>
                  <a:spcPct val="0"/>
                </a:spcAft>
                <a:defRPr/>
              </a:pPr>
              <a:t>4</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9859882-6AD2-4102-B366-7578FE52D927}"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859882-6AD2-4102-B366-7578FE52D927}"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859882-6AD2-4102-B366-7578FE52D927}"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859882-6AD2-4102-B366-7578FE52D927}"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9859882-6AD2-4102-B366-7578FE52D927}"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859882-6AD2-4102-B366-7578FE52D927}"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859882-6AD2-4102-B366-7578FE52D927}"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859882-6AD2-4102-B366-7578FE52D927}"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859882-6AD2-4102-B366-7578FE52D927}"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859882-6AD2-4102-B366-7578FE52D927}"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859882-6AD2-4102-B366-7578FE52D927}"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C7A87A-A638-49BF-8756-9455CB18689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859882-6AD2-4102-B366-7578FE52D927}"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C7A87A-A638-49BF-8756-9455CB18689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401"/>
            <a:ext cx="7772400" cy="762000"/>
          </a:xfrm>
        </p:spPr>
        <p:txBody>
          <a:bodyPr>
            <a:normAutofit fontScale="90000"/>
          </a:bodyPr>
          <a:lstStyle/>
          <a:p>
            <a:r>
              <a:rPr lang="en-US" dirty="0" smtClean="0"/>
              <a:t>Unit-4</a:t>
            </a:r>
            <a:br>
              <a:rPr lang="en-US" dirty="0" smtClean="0"/>
            </a:br>
            <a:r>
              <a:rPr lang="en-US" b="1" dirty="0"/>
              <a:t>Cyber Security Audit &amp; Standards</a:t>
            </a:r>
            <a:endParaRPr lang="en-US" dirty="0"/>
          </a:p>
        </p:txBody>
      </p:sp>
      <p:sp>
        <p:nvSpPr>
          <p:cNvPr id="3" name="Subtitle 2"/>
          <p:cNvSpPr>
            <a:spLocks noGrp="1"/>
          </p:cNvSpPr>
          <p:nvPr>
            <p:ph type="subTitle" idx="1"/>
          </p:nvPr>
        </p:nvSpPr>
        <p:spPr>
          <a:xfrm>
            <a:off x="685800" y="1524000"/>
            <a:ext cx="8001000" cy="4724400"/>
          </a:xfrm>
        </p:spPr>
        <p:txBody>
          <a:bodyPr>
            <a:normAutofit fontScale="92500" lnSpcReduction="10000"/>
          </a:bodyPr>
          <a:lstStyle/>
          <a:p>
            <a:pPr marL="514350" indent="-514350" algn="just">
              <a:buFont typeface="+mj-lt"/>
              <a:buAutoNum type="arabicPeriod"/>
            </a:pPr>
            <a:r>
              <a:rPr lang="en-US" dirty="0">
                <a:solidFill>
                  <a:schemeClr val="tx1"/>
                </a:solidFill>
              </a:rPr>
              <a:t>Risk assessment and </a:t>
            </a:r>
            <a:r>
              <a:rPr lang="en-US" dirty="0" smtClean="0">
                <a:solidFill>
                  <a:schemeClr val="tx1"/>
                </a:solidFill>
              </a:rPr>
              <a:t>management</a:t>
            </a:r>
          </a:p>
          <a:p>
            <a:pPr marL="514350" indent="-514350" algn="just">
              <a:buFont typeface="+mj-lt"/>
              <a:buAutoNum type="arabicPeriod"/>
            </a:pPr>
            <a:r>
              <a:rPr lang="en-US" dirty="0">
                <a:solidFill>
                  <a:schemeClr val="tx1"/>
                </a:solidFill>
              </a:rPr>
              <a:t>asset </a:t>
            </a:r>
            <a:r>
              <a:rPr lang="en-US" dirty="0" smtClean="0">
                <a:solidFill>
                  <a:schemeClr val="tx1"/>
                </a:solidFill>
              </a:rPr>
              <a:t>classification</a:t>
            </a:r>
          </a:p>
          <a:p>
            <a:pPr marL="514350" indent="-514350" algn="just">
              <a:buFont typeface="+mj-lt"/>
              <a:buAutoNum type="arabicPeriod"/>
            </a:pPr>
            <a:r>
              <a:rPr lang="en-US" dirty="0">
                <a:solidFill>
                  <a:schemeClr val="tx1"/>
                </a:solidFill>
              </a:rPr>
              <a:t>crisis management </a:t>
            </a:r>
            <a:r>
              <a:rPr lang="en-US" dirty="0" smtClean="0">
                <a:solidFill>
                  <a:schemeClr val="tx1"/>
                </a:solidFill>
              </a:rPr>
              <a:t>plan</a:t>
            </a:r>
          </a:p>
          <a:p>
            <a:pPr marL="514350" indent="-514350" algn="just">
              <a:buFont typeface="+mj-lt"/>
              <a:buAutoNum type="arabicPeriod"/>
            </a:pPr>
            <a:r>
              <a:rPr lang="en-US" b="1" dirty="0">
                <a:solidFill>
                  <a:schemeClr val="tx1"/>
                </a:solidFill>
              </a:rPr>
              <a:t>penetration </a:t>
            </a:r>
            <a:r>
              <a:rPr lang="en-US" b="1" dirty="0" smtClean="0">
                <a:solidFill>
                  <a:schemeClr val="tx1"/>
                </a:solidFill>
              </a:rPr>
              <a:t>testing</a:t>
            </a:r>
          </a:p>
          <a:p>
            <a:pPr marL="514350" indent="-514350" algn="just">
              <a:buFont typeface="+mj-lt"/>
              <a:buAutoNum type="arabicPeriod"/>
            </a:pPr>
            <a:r>
              <a:rPr lang="en-US" b="1" dirty="0">
                <a:solidFill>
                  <a:schemeClr val="tx1"/>
                </a:solidFill>
              </a:rPr>
              <a:t>vulnerability </a:t>
            </a:r>
            <a:r>
              <a:rPr lang="en-US" b="1" dirty="0" smtClean="0">
                <a:solidFill>
                  <a:schemeClr val="tx1"/>
                </a:solidFill>
              </a:rPr>
              <a:t>testing</a:t>
            </a:r>
          </a:p>
          <a:p>
            <a:pPr marL="514350" indent="-514350" algn="just">
              <a:buFont typeface="+mj-lt"/>
              <a:buAutoNum type="arabicPeriod"/>
            </a:pPr>
            <a:r>
              <a:rPr lang="en-US" dirty="0">
                <a:solidFill>
                  <a:schemeClr val="tx1"/>
                </a:solidFill>
              </a:rPr>
              <a:t>security </a:t>
            </a:r>
            <a:r>
              <a:rPr lang="en-US" dirty="0" smtClean="0">
                <a:solidFill>
                  <a:schemeClr val="tx1"/>
                </a:solidFill>
              </a:rPr>
              <a:t>testing</a:t>
            </a:r>
          </a:p>
          <a:p>
            <a:pPr marL="514350" indent="-514350" algn="just">
              <a:buFont typeface="+mj-lt"/>
              <a:buAutoNum type="arabicPeriod"/>
            </a:pPr>
            <a:r>
              <a:rPr lang="en-US" dirty="0">
                <a:solidFill>
                  <a:schemeClr val="tx1"/>
                </a:solidFill>
              </a:rPr>
              <a:t>international </a:t>
            </a:r>
            <a:r>
              <a:rPr lang="en-US" dirty="0" smtClean="0">
                <a:solidFill>
                  <a:schemeClr val="tx1"/>
                </a:solidFill>
              </a:rPr>
              <a:t>standards</a:t>
            </a:r>
          </a:p>
          <a:p>
            <a:pPr marL="514350" indent="-514350" algn="just">
              <a:buFont typeface="+mj-lt"/>
              <a:buAutoNum type="arabicPeriod"/>
            </a:pPr>
            <a:r>
              <a:rPr lang="en-US" dirty="0">
                <a:solidFill>
                  <a:schemeClr val="tx1"/>
                </a:solidFill>
              </a:rPr>
              <a:t>analysis and </a:t>
            </a:r>
            <a:r>
              <a:rPr lang="en-US" dirty="0" smtClean="0">
                <a:solidFill>
                  <a:schemeClr val="tx1"/>
                </a:solidFill>
              </a:rPr>
              <a:t>logging</a:t>
            </a:r>
          </a:p>
          <a:p>
            <a:pPr marL="514350" indent="-514350" algn="just">
              <a:buFont typeface="+mj-lt"/>
              <a:buAutoNum type="arabicPeriod"/>
            </a:pPr>
            <a:r>
              <a:rPr lang="en-US" dirty="0">
                <a:solidFill>
                  <a:schemeClr val="tx1"/>
                </a:solidFill>
              </a:rPr>
              <a:t>security certification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457200" y="76200"/>
            <a:ext cx="8458200" cy="457200"/>
          </a:xfrm>
        </p:spPr>
        <p:txBody>
          <a:bodyPr>
            <a:normAutofit fontScale="90000"/>
          </a:bodyPr>
          <a:lstStyle/>
          <a:p>
            <a:pPr eaLnBrk="1" hangingPunct="1"/>
            <a:r>
              <a:rPr lang="en-US" sz="3200" smtClean="0">
                <a:latin typeface="Times New Roman" pitchFamily="18" charset="0"/>
                <a:cs typeface="Times New Roman" pitchFamily="18" charset="0"/>
              </a:rPr>
              <a:t>Cyber Security Audit &amp; Standards</a:t>
            </a:r>
          </a:p>
        </p:txBody>
      </p:sp>
      <p:sp>
        <p:nvSpPr>
          <p:cNvPr id="3" name="Subtitle 2"/>
          <p:cNvSpPr>
            <a:spLocks noGrp="1"/>
          </p:cNvSpPr>
          <p:nvPr>
            <p:ph type="subTitle" idx="1"/>
          </p:nvPr>
        </p:nvSpPr>
        <p:spPr>
          <a:xfrm>
            <a:off x="228600" y="685800"/>
            <a:ext cx="8686800" cy="6019800"/>
          </a:xfrm>
        </p:spPr>
        <p:txBody>
          <a:bodyPr rtlCol="0">
            <a:normAutofit/>
          </a:bodyPr>
          <a:lstStyle/>
          <a:p>
            <a:pPr algn="just"/>
            <a:r>
              <a:rPr lang="en-US" sz="2400" b="1" dirty="0" smtClean="0">
                <a:solidFill>
                  <a:schemeClr val="tx1"/>
                </a:solidFill>
                <a:latin typeface="Times New Roman" pitchFamily="18" charset="0"/>
                <a:cs typeface="Times New Roman" pitchFamily="18" charset="0"/>
              </a:rPr>
              <a:t>Definition:-</a:t>
            </a:r>
            <a:r>
              <a:rPr lang="en-US" sz="2400" b="1" dirty="0" smtClean="0">
                <a:solidFill>
                  <a:schemeClr val="tx1"/>
                </a:solidFill>
              </a:rPr>
              <a:t> </a:t>
            </a:r>
            <a:r>
              <a:rPr lang="en-US" sz="2400" dirty="0" smtClean="0">
                <a:solidFill>
                  <a:schemeClr val="tx1"/>
                </a:solidFill>
              </a:rPr>
              <a:t>A </a:t>
            </a:r>
            <a:r>
              <a:rPr lang="en-US" sz="2400" b="1" dirty="0" smtClean="0">
                <a:solidFill>
                  <a:schemeClr val="tx1"/>
                </a:solidFill>
              </a:rPr>
              <a:t>cyber security audit</a:t>
            </a:r>
            <a:r>
              <a:rPr lang="en-US" sz="2400" dirty="0" smtClean="0">
                <a:solidFill>
                  <a:schemeClr val="tx1"/>
                </a:solidFill>
              </a:rPr>
              <a:t> is a systematic process of examining an organization’s systems, networks, policies, and security controls to identify vulnerabilities, risks, and compliance issues.</a:t>
            </a:r>
          </a:p>
          <a:p>
            <a:pPr algn="just"/>
            <a:r>
              <a:rPr lang="en-US" sz="2400" b="1" dirty="0" smtClean="0">
                <a:solidFill>
                  <a:schemeClr val="tx1"/>
                </a:solidFill>
              </a:rPr>
              <a:t>Example:</a:t>
            </a:r>
            <a:r>
              <a:rPr lang="en-US" sz="2400" dirty="0" smtClean="0">
                <a:solidFill>
                  <a:schemeClr val="tx1"/>
                </a:solidFill>
              </a:rPr>
              <a:t> Checking whether a college has strong passwords, firewalls, backups, access controls, and proper user permissions.</a:t>
            </a:r>
            <a:endParaRPr lang="en-US" sz="2400" dirty="0">
              <a:solidFill>
                <a:schemeClr val="tx1"/>
              </a:solidFill>
              <a:latin typeface="Times New Roman" pitchFamily="18" charset="0"/>
              <a:cs typeface="Times New Roman" pitchFamily="18" charset="0"/>
            </a:endParaRPr>
          </a:p>
          <a:p>
            <a:pPr algn="just" eaLnBrk="1" fontAlgn="auto" hangingPunct="1">
              <a:spcAft>
                <a:spcPts val="0"/>
              </a:spcAft>
              <a:buFont typeface="Arial" pitchFamily="34" charset="0"/>
              <a:buNone/>
              <a:defRPr/>
            </a:pPr>
            <a:r>
              <a:rPr lang="en-US" sz="2000" dirty="0" smtClean="0">
                <a:solidFill>
                  <a:schemeClr val="tx1"/>
                </a:solidFill>
                <a:latin typeface="Times New Roman" pitchFamily="18" charset="0"/>
                <a:cs typeface="Times New Roman" pitchFamily="18" charset="0"/>
              </a:rPr>
              <a:t>A </a:t>
            </a:r>
            <a:r>
              <a:rPr lang="en-US" sz="2000" dirty="0">
                <a:solidFill>
                  <a:schemeClr val="tx1"/>
                </a:solidFill>
                <a:latin typeface="Times New Roman" pitchFamily="18" charset="0"/>
                <a:cs typeface="Times New Roman" pitchFamily="18" charset="0"/>
              </a:rPr>
              <a:t>cyber security audit is a comprehensive </a:t>
            </a:r>
            <a:r>
              <a:rPr lang="en-US" sz="2000" dirty="0" smtClean="0">
                <a:solidFill>
                  <a:schemeClr val="tx1"/>
                </a:solidFill>
                <a:latin typeface="Times New Roman" pitchFamily="18" charset="0"/>
                <a:cs typeface="Times New Roman" pitchFamily="18" charset="0"/>
              </a:rPr>
              <a:t>analysis and review </a:t>
            </a:r>
            <a:r>
              <a:rPr lang="en-US" sz="2000" dirty="0">
                <a:solidFill>
                  <a:schemeClr val="tx1"/>
                </a:solidFill>
                <a:latin typeface="Times New Roman" pitchFamily="18" charset="0"/>
                <a:cs typeface="Times New Roman" pitchFamily="18" charset="0"/>
              </a:rPr>
              <a:t>of an </a:t>
            </a:r>
            <a:r>
              <a:rPr lang="en-US" sz="2000" dirty="0">
                <a:solidFill>
                  <a:schemeClr val="tx1"/>
                </a:solidFill>
                <a:latin typeface="Times New Roman" pitchFamily="18" charset="0"/>
                <a:cs typeface="Times New Roman" pitchFamily="18" charset="0"/>
              </a:rPr>
              <a:t>organisation’s IT infrastructure. </a:t>
            </a:r>
            <a:r>
              <a:rPr lang="en-US" sz="2000" dirty="0" smtClean="0">
                <a:solidFill>
                  <a:schemeClr val="tx1"/>
                </a:solidFill>
                <a:latin typeface="Times New Roman" pitchFamily="18" charset="0"/>
                <a:cs typeface="Times New Roman" pitchFamily="18" charset="0"/>
              </a:rPr>
              <a:t>It detects vulnerabilities and threats, displaying weak links, and high risk practices. security audit  aids you to find whether there is any number of cyber security challenges risks to your business and technological operations.</a:t>
            </a:r>
          </a:p>
          <a:p>
            <a:pPr algn="just" eaLnBrk="1" fontAlgn="auto" hangingPunct="1">
              <a:spcAft>
                <a:spcPts val="0"/>
              </a:spcAft>
              <a:buFont typeface="Arial" pitchFamily="34" charset="0"/>
              <a:buNone/>
              <a:defRPr/>
            </a:pPr>
            <a:r>
              <a:rPr lang="en-US" sz="2400" u="sng" dirty="0" smtClean="0">
                <a:solidFill>
                  <a:schemeClr val="tx1"/>
                </a:solidFill>
                <a:latin typeface="Times New Roman" pitchFamily="18" charset="0"/>
                <a:cs typeface="Times New Roman" pitchFamily="18" charset="0"/>
              </a:rPr>
              <a:t>Why Security Audits Important ?:</a:t>
            </a:r>
          </a:p>
          <a:p>
            <a:pPr marL="457200" indent="-457200" algn="just" eaLnBrk="1" fontAlgn="auto" hangingPunct="1">
              <a:spcAft>
                <a:spcPts val="0"/>
              </a:spcAft>
              <a:buFont typeface="Arial" pitchFamily="34" charset="0"/>
              <a:buAutoNum type="arabicParenR"/>
              <a:defRPr/>
            </a:pPr>
            <a:r>
              <a:rPr lang="en-US" sz="2000" dirty="0" smtClean="0">
                <a:solidFill>
                  <a:schemeClr val="tx1"/>
                </a:solidFill>
                <a:latin typeface="Times New Roman" pitchFamily="18" charset="0"/>
                <a:cs typeface="Times New Roman" pitchFamily="18" charset="0"/>
              </a:rPr>
              <a:t>Identify security problems and gaps, as well as system weaknesses.</a:t>
            </a:r>
          </a:p>
          <a:p>
            <a:pPr marL="457200" indent="-457200" algn="just" eaLnBrk="1" fontAlgn="auto" hangingPunct="1">
              <a:spcAft>
                <a:spcPts val="0"/>
              </a:spcAft>
              <a:buFont typeface="Arial" pitchFamily="34" charset="0"/>
              <a:buAutoNum type="arabicParenR"/>
              <a:defRPr/>
            </a:pPr>
            <a:r>
              <a:rPr lang="en-US" sz="2000" dirty="0" smtClean="0">
                <a:solidFill>
                  <a:schemeClr val="tx1"/>
                </a:solidFill>
                <a:latin typeface="Times New Roman" pitchFamily="18" charset="0"/>
                <a:cs typeface="Times New Roman" pitchFamily="18" charset="0"/>
              </a:rPr>
              <a:t>Establish a security baseline that future audits can be compared with</a:t>
            </a:r>
          </a:p>
          <a:p>
            <a:pPr marL="457200" indent="-457200" algn="just" eaLnBrk="1" fontAlgn="auto" hangingPunct="1">
              <a:spcAft>
                <a:spcPts val="0"/>
              </a:spcAft>
              <a:buFont typeface="Arial" pitchFamily="34" charset="0"/>
              <a:buAutoNum type="arabicParenR"/>
              <a:defRPr/>
            </a:pPr>
            <a:r>
              <a:rPr lang="en-US" sz="2000" dirty="0" smtClean="0">
                <a:solidFill>
                  <a:schemeClr val="tx1"/>
                </a:solidFill>
                <a:latin typeface="Times New Roman" pitchFamily="18" charset="0"/>
                <a:cs typeface="Times New Roman" pitchFamily="18" charset="0"/>
              </a:rPr>
              <a:t>Comply with internal organization security policies.</a:t>
            </a:r>
          </a:p>
          <a:p>
            <a:pPr marL="457200" indent="-457200" algn="just" eaLnBrk="1" fontAlgn="auto" hangingPunct="1">
              <a:spcAft>
                <a:spcPts val="0"/>
              </a:spcAft>
              <a:buFont typeface="Arial" pitchFamily="34" charset="0"/>
              <a:buAutoNum type="arabicParenR"/>
              <a:defRPr/>
            </a:pPr>
            <a:r>
              <a:rPr lang="en-US" sz="2000" dirty="0" smtClean="0">
                <a:solidFill>
                  <a:schemeClr val="tx1"/>
                </a:solidFill>
                <a:latin typeface="Times New Roman" pitchFamily="18" charset="0"/>
                <a:cs typeface="Times New Roman" pitchFamily="18" charset="0"/>
              </a:rPr>
              <a:t>Comply with external regulatory requirements.</a:t>
            </a:r>
          </a:p>
          <a:p>
            <a:pPr marL="457200" indent="-457200" algn="just" eaLnBrk="1" fontAlgn="auto" hangingPunct="1">
              <a:spcAft>
                <a:spcPts val="0"/>
              </a:spcAft>
              <a:buFont typeface="Arial" pitchFamily="34" charset="0"/>
              <a:buAutoNum type="arabicParenR"/>
              <a:defRPr/>
            </a:pPr>
            <a:r>
              <a:rPr lang="en-US" sz="2000" dirty="0" smtClean="0">
                <a:solidFill>
                  <a:schemeClr val="tx1"/>
                </a:solidFill>
                <a:latin typeface="Times New Roman" pitchFamily="18" charset="0"/>
                <a:cs typeface="Times New Roman" pitchFamily="18" charset="0"/>
              </a:rPr>
              <a:t>Determine if security training is adequate.</a:t>
            </a:r>
          </a:p>
          <a:p>
            <a:pPr marL="457200" indent="-457200" algn="just" eaLnBrk="1" fontAlgn="auto" hangingPunct="1">
              <a:spcAft>
                <a:spcPts val="0"/>
              </a:spcAft>
              <a:buFont typeface="Arial" pitchFamily="34" charset="0"/>
              <a:buAutoNum type="arabicParenR"/>
              <a:defRPr/>
            </a:pPr>
            <a:r>
              <a:rPr lang="en-US" sz="2000" dirty="0" smtClean="0">
                <a:solidFill>
                  <a:schemeClr val="tx1"/>
                </a:solidFill>
                <a:latin typeface="Times New Roman" pitchFamily="18" charset="0"/>
                <a:cs typeface="Times New Roman" pitchFamily="18" charset="0"/>
              </a:rPr>
              <a:t>Identify unnecessary resources.</a:t>
            </a:r>
          </a:p>
          <a:p>
            <a:pPr algn="just" eaLnBrk="1" fontAlgn="auto" hangingPunct="1">
              <a:spcAft>
                <a:spcPts val="0"/>
              </a:spcAft>
              <a:buFont typeface="Arial" pitchFamily="34" charset="0"/>
              <a:buNone/>
              <a:defRPr/>
            </a:pPr>
            <a:endParaRPr lang="en-US" sz="2400" dirty="0" smtClean="0">
              <a:solidFill>
                <a:schemeClr val="tx1"/>
              </a:solidFill>
              <a:latin typeface="Times New Roman" pitchFamily="18" charset="0"/>
              <a:cs typeface="Times New Roman" pitchFamily="18" charset="0"/>
            </a:endParaRPr>
          </a:p>
          <a:p>
            <a:pPr algn="just" eaLnBrk="1" fontAlgn="auto" hangingPunct="1">
              <a:spcAft>
                <a:spcPts val="0"/>
              </a:spcAft>
              <a:buFont typeface="Arial" pitchFamily="34" charset="0"/>
              <a:buNone/>
              <a:defRPr/>
            </a:pPr>
            <a:endParaRPr lang="en-US" sz="20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457200" y="76200"/>
            <a:ext cx="8458200" cy="457200"/>
          </a:xfrm>
        </p:spPr>
        <p:txBody>
          <a:bodyPr>
            <a:normAutofit fontScale="90000"/>
          </a:bodyPr>
          <a:lstStyle/>
          <a:p>
            <a:pPr eaLnBrk="1" hangingPunct="1"/>
            <a:r>
              <a:rPr lang="en-US" sz="3200" smtClean="0">
                <a:latin typeface="Times New Roman" pitchFamily="18" charset="0"/>
                <a:cs typeface="Times New Roman" pitchFamily="18" charset="0"/>
              </a:rPr>
              <a:t>Cyber Security Audit &amp; Standards</a:t>
            </a:r>
          </a:p>
        </p:txBody>
      </p:sp>
      <p:sp>
        <p:nvSpPr>
          <p:cNvPr id="3075" name="Subtitle 2"/>
          <p:cNvSpPr>
            <a:spLocks noGrp="1"/>
          </p:cNvSpPr>
          <p:nvPr>
            <p:ph type="subTitle" idx="1"/>
          </p:nvPr>
        </p:nvSpPr>
        <p:spPr>
          <a:xfrm>
            <a:off x="228600" y="685800"/>
            <a:ext cx="8686800" cy="6019800"/>
          </a:xfrm>
        </p:spPr>
        <p:txBody>
          <a:bodyPr/>
          <a:lstStyle/>
          <a:p>
            <a:pPr algn="just" eaLnBrk="1" hangingPunct="1"/>
            <a:r>
              <a:rPr lang="en-US" sz="2400" smtClean="0">
                <a:solidFill>
                  <a:schemeClr val="tx1"/>
                </a:solidFill>
                <a:latin typeface="Times New Roman" pitchFamily="18" charset="0"/>
                <a:cs typeface="Times New Roman" pitchFamily="18" charset="0"/>
              </a:rPr>
              <a:t>	</a:t>
            </a:r>
            <a:endParaRPr lang="en-US" sz="2000" smtClean="0">
              <a:solidFill>
                <a:schemeClr val="tx1"/>
              </a:solidFill>
              <a:latin typeface="Times New Roman" pitchFamily="18" charset="0"/>
              <a:cs typeface="Times New Roman" pitchFamily="18" charset="0"/>
            </a:endParaRPr>
          </a:p>
          <a:p>
            <a:pPr algn="just" eaLnBrk="1" hangingPunct="1"/>
            <a:r>
              <a:rPr lang="en-US" sz="2400" u="sng" smtClean="0">
                <a:solidFill>
                  <a:schemeClr val="tx1"/>
                </a:solidFill>
                <a:latin typeface="Times New Roman" pitchFamily="18" charset="0"/>
                <a:cs typeface="Times New Roman" pitchFamily="18" charset="0"/>
              </a:rPr>
              <a:t>When is a  Security Audit needed ?:</a:t>
            </a:r>
          </a:p>
          <a:p>
            <a:pPr algn="just" eaLnBrk="1" hangingPunct="1"/>
            <a:r>
              <a:rPr lang="en-US" sz="2000" smtClean="0">
                <a:solidFill>
                  <a:schemeClr val="tx1"/>
                </a:solidFill>
                <a:latin typeface="Times New Roman" pitchFamily="18" charset="0"/>
                <a:cs typeface="Times New Roman" pitchFamily="18" charset="0"/>
              </a:rPr>
              <a:t>How often  an organization does its  security audits depends on the industry it is in, the demands of its business and corporate structures and no.of systems and applications that must be audited.</a:t>
            </a:r>
          </a:p>
          <a:p>
            <a:pPr algn="just" eaLnBrk="1" hangingPunct="1"/>
            <a:r>
              <a:rPr lang="en-US" sz="2000" smtClean="0">
                <a:solidFill>
                  <a:schemeClr val="tx1"/>
                </a:solidFill>
                <a:latin typeface="Times New Roman" pitchFamily="18" charset="0"/>
                <a:cs typeface="Times New Roman" pitchFamily="18" charset="0"/>
              </a:rPr>
              <a:t>Organizations that handle a lot of sensitive data- such as financial services, &amp; healthcare providers – are likely to audit more frequently.</a:t>
            </a:r>
          </a:p>
          <a:p>
            <a:pPr algn="just" eaLnBrk="1" hangingPunct="1"/>
            <a:r>
              <a:rPr lang="en-US" sz="2000" smtClean="0">
                <a:solidFill>
                  <a:schemeClr val="tx1"/>
                </a:solidFill>
                <a:latin typeface="Times New Roman" pitchFamily="18" charset="0"/>
                <a:cs typeface="Times New Roman" pitchFamily="18" charset="0"/>
              </a:rPr>
              <a:t>Many companies will do a security audits at-least once or twice a year. But they can also be done monthly or quarterly.. Different departments may have different audit schedules  depends on system, applications and data they use.</a:t>
            </a:r>
          </a:p>
          <a:p>
            <a:pPr algn="just" eaLnBrk="1" hangingPunct="1"/>
            <a:endParaRPr lang="en-US" sz="2400" smtClean="0">
              <a:solidFill>
                <a:schemeClr val="tx1"/>
              </a:solidFill>
              <a:latin typeface="Times New Roman" pitchFamily="18" charset="0"/>
              <a:cs typeface="Times New Roman" pitchFamily="18" charset="0"/>
            </a:endParaRPr>
          </a:p>
          <a:p>
            <a:pPr algn="just" eaLnBrk="1" hangingPunct="1"/>
            <a:endParaRPr lang="en-US" sz="2000" smtClean="0">
              <a:solidFill>
                <a:schemeClr val="tx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609600" y="4419600"/>
          <a:ext cx="8153400" cy="2199640"/>
        </p:xfrm>
        <a:graphic>
          <a:graphicData uri="http://schemas.openxmlformats.org/drawingml/2006/table">
            <a:tbl>
              <a:tblPr firstRow="1" bandRow="1">
                <a:tableStyleId>{5C22544A-7EE6-4342-B048-85BDC9FD1C3A}</a:tableStyleId>
              </a:tblPr>
              <a:tblGrid>
                <a:gridCol w="4122506">
                  <a:extLst>
                    <a:ext uri="{9D8B030D-6E8A-4147-A177-3AD203B41FA5}"/>
                  </a:extLst>
                </a:gridCol>
                <a:gridCol w="4030894">
                  <a:extLst>
                    <a:ext uri="{9D8B030D-6E8A-4147-A177-3AD203B41FA5}"/>
                  </a:extLst>
                </a:gridCol>
              </a:tblGrid>
              <a:tr h="370840">
                <a:tc>
                  <a:txBody>
                    <a:bodyPr/>
                    <a:lstStyle/>
                    <a:p>
                      <a:pPr algn="ctr"/>
                      <a:r>
                        <a:rPr lang="en-US" dirty="0" smtClean="0">
                          <a:solidFill>
                            <a:srgbClr val="FF0000"/>
                          </a:solidFill>
                        </a:rPr>
                        <a:t>Internal </a:t>
                      </a:r>
                      <a:endParaRPr lang="en-US" dirty="0">
                        <a:solidFill>
                          <a:srgbClr val="FF0000"/>
                        </a:solidFill>
                      </a:endParaRPr>
                    </a:p>
                  </a:txBody>
                  <a:tcPr/>
                </a:tc>
                <a:tc>
                  <a:txBody>
                    <a:bodyPr/>
                    <a:lstStyle/>
                    <a:p>
                      <a:pPr algn="ctr"/>
                      <a:r>
                        <a:rPr lang="en-US" dirty="0" smtClean="0">
                          <a:solidFill>
                            <a:srgbClr val="FF0000"/>
                          </a:solidFill>
                        </a:rPr>
                        <a:t>External</a:t>
                      </a:r>
                      <a:endParaRPr lang="en-US" dirty="0">
                        <a:solidFill>
                          <a:srgbClr val="FF0000"/>
                        </a:solidFill>
                      </a:endParaRPr>
                    </a:p>
                  </a:txBody>
                  <a:tcPr/>
                </a:tc>
                <a:extLst>
                  <a:ext uri="{0D108BD9-81ED-4DB2-BD59-A6C34878D82A}"/>
                </a:extLst>
              </a:tr>
              <a:tr h="370840">
                <a:tc>
                  <a:txBody>
                    <a:bodyPr/>
                    <a:lstStyle/>
                    <a:p>
                      <a:r>
                        <a:rPr lang="en-US" dirty="0" smtClean="0">
                          <a:solidFill>
                            <a:schemeClr val="tx1"/>
                          </a:solidFill>
                        </a:rPr>
                        <a:t>A business uses its own resources and internal audit department.</a:t>
                      </a:r>
                      <a:endParaRPr lang="en-US" dirty="0">
                        <a:solidFill>
                          <a:schemeClr val="tx1"/>
                        </a:solidFill>
                      </a:endParaRPr>
                    </a:p>
                  </a:txBody>
                  <a:tcPr/>
                </a:tc>
                <a:tc>
                  <a:txBody>
                    <a:bodyPr/>
                    <a:lstStyle/>
                    <a:p>
                      <a:r>
                        <a:rPr lang="en-US" dirty="0" smtClean="0">
                          <a:solidFill>
                            <a:schemeClr val="tx1"/>
                          </a:solidFill>
                        </a:rPr>
                        <a:t>An outside organization is brought into conduct an audit</a:t>
                      </a:r>
                      <a:endParaRPr lang="en-US" dirty="0">
                        <a:solidFill>
                          <a:schemeClr val="tx1"/>
                        </a:solidFill>
                      </a:endParaRPr>
                    </a:p>
                  </a:txBody>
                  <a:tcPr/>
                </a:tc>
                <a:extLst>
                  <a:ext uri="{0D108BD9-81ED-4DB2-BD59-A6C34878D82A}"/>
                </a:extLst>
              </a:tr>
              <a:tr h="370840">
                <a:tc>
                  <a:txBody>
                    <a:bodyPr/>
                    <a:lstStyle/>
                    <a:p>
                      <a:r>
                        <a:rPr lang="en-US" dirty="0" smtClean="0">
                          <a:solidFill>
                            <a:schemeClr val="tx1"/>
                          </a:solidFill>
                        </a:rPr>
                        <a:t>Internal</a:t>
                      </a:r>
                      <a:r>
                        <a:rPr lang="en-US" baseline="0" dirty="0" smtClean="0">
                          <a:solidFill>
                            <a:schemeClr val="tx1"/>
                          </a:solidFill>
                        </a:rPr>
                        <a:t> audits are used when an organization wants to validate business system for policy and procedure compliances</a:t>
                      </a:r>
                      <a:endParaRPr lang="en-US" dirty="0">
                        <a:solidFill>
                          <a:schemeClr val="tx1"/>
                        </a:solidFill>
                      </a:endParaRPr>
                    </a:p>
                  </a:txBody>
                  <a:tcPr/>
                </a:tc>
                <a:tc>
                  <a:txBody>
                    <a:bodyPr/>
                    <a:lstStyle/>
                    <a:p>
                      <a:r>
                        <a:rPr lang="en-US" dirty="0" smtClean="0">
                          <a:solidFill>
                            <a:schemeClr val="tx1"/>
                          </a:solidFill>
                        </a:rPr>
                        <a:t>External audits are also conducted when organization needs to conform it is conforming to industry standards or government regulations</a:t>
                      </a:r>
                      <a:endParaRPr lang="en-US" dirty="0">
                        <a:solidFill>
                          <a:schemeClr val="tx1"/>
                        </a:solidFill>
                      </a:endParaRPr>
                    </a:p>
                  </a:txBody>
                  <a:tcPr/>
                </a:tc>
                <a:extLst>
                  <a:ext uri="{0D108BD9-81ED-4DB2-BD59-A6C34878D82A}"/>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76200"/>
            <a:ext cx="8229600" cy="457200"/>
          </a:xfrm>
        </p:spPr>
        <p:txBody>
          <a:bodyPr>
            <a:normAutofit fontScale="90000"/>
          </a:bodyPr>
          <a:lstStyle/>
          <a:p>
            <a:pPr eaLnBrk="1" hangingPunct="1"/>
            <a:r>
              <a:rPr lang="en-US" sz="2800" smtClean="0">
                <a:latin typeface="Times New Roman" pitchFamily="18" charset="0"/>
                <a:cs typeface="Times New Roman" pitchFamily="18" charset="0"/>
              </a:rPr>
              <a:t>Cyber Security Standards</a:t>
            </a:r>
          </a:p>
        </p:txBody>
      </p:sp>
      <p:sp>
        <p:nvSpPr>
          <p:cNvPr id="3" name="Content Placeholder 2"/>
          <p:cNvSpPr>
            <a:spLocks noGrp="1"/>
          </p:cNvSpPr>
          <p:nvPr>
            <p:ph idx="1"/>
          </p:nvPr>
        </p:nvSpPr>
        <p:spPr>
          <a:xfrm>
            <a:off x="228600" y="609600"/>
            <a:ext cx="8686800" cy="6019800"/>
          </a:xfrm>
        </p:spPr>
        <p:txBody>
          <a:bodyPr rtlCol="0">
            <a:normAutofit fontScale="62500" lnSpcReduction="20000"/>
          </a:bodyPr>
          <a:lstStyle/>
          <a:p>
            <a:pPr>
              <a:buNone/>
            </a:pPr>
            <a:r>
              <a:rPr lang="en-US" sz="4500" b="1" dirty="0" smtClean="0">
                <a:solidFill>
                  <a:srgbClr val="444444"/>
                </a:solidFill>
                <a:highlight>
                  <a:srgbClr val="FFFFFF"/>
                </a:highlight>
                <a:latin typeface="Times New Roman" pitchFamily="18" charset="0"/>
                <a:cs typeface="Times New Roman" pitchFamily="18" charset="0"/>
              </a:rPr>
              <a:t>Definition:-</a:t>
            </a:r>
            <a:r>
              <a:rPr lang="en-US" dirty="0" smtClean="0"/>
              <a:t> A </a:t>
            </a:r>
            <a:r>
              <a:rPr lang="en-US" b="1" dirty="0" smtClean="0"/>
              <a:t>cyber security standard</a:t>
            </a:r>
            <a:r>
              <a:rPr lang="en-US" dirty="0" smtClean="0"/>
              <a:t> is a set of established requirements, guidelines, and best practices that organizations follow to protect their information systems and data.</a:t>
            </a:r>
          </a:p>
          <a:p>
            <a:pPr>
              <a:buNone/>
            </a:pPr>
            <a:r>
              <a:rPr lang="en-US" b="1" dirty="0" smtClean="0"/>
              <a:t>Example:</a:t>
            </a:r>
            <a:r>
              <a:rPr lang="en-US" dirty="0" smtClean="0"/>
              <a:t> </a:t>
            </a:r>
            <a:r>
              <a:rPr lang="en-US" b="1" dirty="0" smtClean="0"/>
              <a:t>ISO/IEC 27001</a:t>
            </a:r>
            <a:r>
              <a:rPr lang="en-US" dirty="0" smtClean="0"/>
              <a:t> provides requirements for establishing and managing an Information Security Management System (ISMS).</a:t>
            </a:r>
          </a:p>
          <a:p>
            <a:pPr marL="0" indent="0" eaLnBrk="1" fontAlgn="auto" hangingPunct="1">
              <a:spcBef>
                <a:spcPts val="0"/>
              </a:spcBef>
              <a:spcAft>
                <a:spcPts val="0"/>
              </a:spcAft>
              <a:buFont typeface="Arial" pitchFamily="34" charset="0"/>
              <a:buNone/>
              <a:defRPr/>
            </a:pPr>
            <a:endParaRPr lang="en-US" sz="2900" b="1" dirty="0" smtClean="0">
              <a:solidFill>
                <a:srgbClr val="444444"/>
              </a:solidFill>
              <a:highlight>
                <a:srgbClr val="FFFFFF"/>
              </a:highlight>
              <a:latin typeface="Times New Roman" pitchFamily="18" charset="0"/>
              <a:cs typeface="Times New Roman" pitchFamily="18" charset="0"/>
            </a:endParaRPr>
          </a:p>
          <a:p>
            <a:pPr marL="0" indent="0" eaLnBrk="1" fontAlgn="auto" hangingPunct="1">
              <a:spcBef>
                <a:spcPts val="0"/>
              </a:spcBef>
              <a:spcAft>
                <a:spcPts val="0"/>
              </a:spcAft>
              <a:buFont typeface="Arial" pitchFamily="34" charset="0"/>
              <a:buNone/>
              <a:defRPr/>
            </a:pPr>
            <a:r>
              <a:rPr lang="en-US" sz="2900" b="1" dirty="0" smtClean="0">
                <a:solidFill>
                  <a:srgbClr val="444444"/>
                </a:solidFill>
                <a:highlight>
                  <a:srgbClr val="FFFFFF"/>
                </a:highlight>
                <a:latin typeface="Times New Roman" pitchFamily="18" charset="0"/>
                <a:cs typeface="Times New Roman" pitchFamily="18" charset="0"/>
              </a:rPr>
              <a:t>Cyber </a:t>
            </a:r>
            <a:r>
              <a:rPr lang="en-US" sz="2900" b="1" dirty="0" smtClean="0">
                <a:solidFill>
                  <a:srgbClr val="444444"/>
                </a:solidFill>
                <a:highlight>
                  <a:srgbClr val="FFFFFF"/>
                </a:highlight>
                <a:latin typeface="Times New Roman" pitchFamily="18" charset="0"/>
                <a:cs typeface="Times New Roman" pitchFamily="18" charset="0"/>
              </a:rPr>
              <a:t>security standards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Cyber security standards are techniques generally set forth in published materials that attempt to protect the cyber environment of a user or organization.</a:t>
            </a:r>
          </a:p>
          <a:p>
            <a:pPr marL="0" indent="0" algn="just" eaLnBrk="1" fontAlgn="auto" hangingPunct="1">
              <a:lnSpc>
                <a:spcPct val="115000"/>
              </a:lnSpc>
              <a:spcBef>
                <a:spcPts val="0"/>
              </a:spcBef>
              <a:spcAft>
                <a:spcPts val="0"/>
              </a:spcAft>
              <a:buFont typeface="Arial" pitchFamily="34" charset="0"/>
              <a:buNone/>
              <a:defRPr/>
            </a:pPr>
            <a:r>
              <a:rPr lang="en-US" sz="2900" b="1" dirty="0" smtClean="0">
                <a:solidFill>
                  <a:srgbClr val="444444"/>
                </a:solidFill>
                <a:highlight>
                  <a:srgbClr val="FFFFFF"/>
                </a:highlight>
                <a:latin typeface="Times New Roman" pitchFamily="18" charset="0"/>
                <a:cs typeface="Times New Roman" pitchFamily="18" charset="0"/>
              </a:rPr>
              <a:t>This environment includes: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users themselves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networks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devices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all software</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processes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information in storage or transit</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applications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services</a:t>
            </a:r>
          </a:p>
          <a:p>
            <a:pPr marL="0" indent="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systems that can be connected directly or indirectly to networks</a:t>
            </a:r>
          </a:p>
          <a:p>
            <a:pPr marL="0" indent="0" algn="just" eaLnBrk="1" fontAlgn="auto" hangingPunct="1">
              <a:lnSpc>
                <a:spcPct val="115000"/>
              </a:lnSpc>
              <a:spcBef>
                <a:spcPts val="0"/>
              </a:spcBef>
              <a:spcAft>
                <a:spcPts val="0"/>
              </a:spcAft>
              <a:buFont typeface="Arial" pitchFamily="34" charset="0"/>
              <a:buNone/>
              <a:defRPr/>
            </a:pPr>
            <a:r>
              <a:rPr lang="en-US" sz="2900" b="1" dirty="0" smtClean="0">
                <a:solidFill>
                  <a:srgbClr val="444444"/>
                </a:solidFill>
                <a:highlight>
                  <a:srgbClr val="FFFFFF"/>
                </a:highlight>
                <a:latin typeface="Times New Roman" pitchFamily="18" charset="0"/>
                <a:cs typeface="Times New Roman" pitchFamily="18" charset="0"/>
              </a:rPr>
              <a:t>The principal objective:</a:t>
            </a:r>
          </a:p>
          <a:p>
            <a:pPr marL="0" indent="45720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to reduce the risks</a:t>
            </a:r>
          </a:p>
          <a:p>
            <a:pPr marL="0" indent="457200" algn="just" eaLnBrk="1" fontAlgn="auto" hangingPunct="1">
              <a:lnSpc>
                <a:spcPct val="115000"/>
              </a:lnSpc>
              <a:spcBef>
                <a:spcPts val="0"/>
              </a:spcBef>
              <a:spcAft>
                <a:spcPts val="0"/>
              </a:spcAft>
              <a:buFont typeface="Arial" pitchFamily="34" charset="0"/>
              <a:buNone/>
              <a:defRPr/>
            </a:pPr>
            <a:r>
              <a:rPr lang="en-US" sz="2900" dirty="0" smtClean="0">
                <a:solidFill>
                  <a:srgbClr val="444444"/>
                </a:solidFill>
                <a:highlight>
                  <a:srgbClr val="FFFFFF"/>
                </a:highlight>
                <a:latin typeface="Times New Roman" pitchFamily="18" charset="0"/>
                <a:cs typeface="Times New Roman" pitchFamily="18" charset="0"/>
              </a:rPr>
              <a:t>including prevention or mitigation of cyber-attacks.</a:t>
            </a:r>
          </a:p>
          <a:p>
            <a:pPr eaLnBrk="1" fontAlgn="auto" hangingPunct="1">
              <a:spcAft>
                <a:spcPts val="0"/>
              </a:spcAft>
              <a:buFont typeface="Arial" pitchFamily="34" charset="0"/>
              <a:buChar char="•"/>
              <a:defRPr/>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Cyber Security Standards</a:t>
            </a:r>
          </a:p>
        </p:txBody>
      </p:sp>
      <p:sp>
        <p:nvSpPr>
          <p:cNvPr id="3" name="Content Placeholder 2"/>
          <p:cNvSpPr>
            <a:spLocks noGrp="1"/>
          </p:cNvSpPr>
          <p:nvPr>
            <p:ph idx="1"/>
          </p:nvPr>
        </p:nvSpPr>
        <p:spPr>
          <a:xfrm>
            <a:off x="152400" y="533400"/>
            <a:ext cx="8763000" cy="6248400"/>
          </a:xfrm>
        </p:spPr>
        <p:txBody>
          <a:bodyPr rtlCol="0">
            <a:normAutofit fontScale="40000" lnSpcReduction="20000"/>
          </a:bodyPr>
          <a:lstStyle/>
          <a:p>
            <a:pPr marL="0" indent="0" algn="just" eaLnBrk="1" fontAlgn="auto" hangingPunct="1">
              <a:lnSpc>
                <a:spcPct val="115000"/>
              </a:lnSpc>
              <a:spcBef>
                <a:spcPts val="0"/>
              </a:spcBef>
              <a:spcAft>
                <a:spcPts val="0"/>
              </a:spcAft>
              <a:buFont typeface="Arial" pitchFamily="34" charset="0"/>
              <a:buNone/>
              <a:defRPr/>
            </a:pPr>
            <a:r>
              <a:rPr lang="en-US" sz="3500" b="1" dirty="0" err="1" smtClean="0">
                <a:highlight>
                  <a:srgbClr val="FFFFFF"/>
                </a:highlight>
                <a:latin typeface="Times New Roman" pitchFamily="18" charset="0"/>
                <a:cs typeface="Times New Roman" pitchFamily="18" charset="0"/>
              </a:rPr>
              <a:t>Cybersecurity</a:t>
            </a:r>
            <a:r>
              <a:rPr lang="en-US" sz="3500" b="1" dirty="0" smtClean="0">
                <a:highlight>
                  <a:srgbClr val="FFFFFF"/>
                </a:highlight>
                <a:latin typeface="Times New Roman" pitchFamily="18" charset="0"/>
                <a:cs typeface="Times New Roman" pitchFamily="18" charset="0"/>
              </a:rPr>
              <a:t> standards </a:t>
            </a:r>
            <a:r>
              <a:rPr lang="en-US" sz="3500" dirty="0" smtClean="0">
                <a:highlight>
                  <a:srgbClr val="FFFFFF"/>
                </a:highlight>
                <a:latin typeface="Times New Roman" pitchFamily="18" charset="0"/>
                <a:cs typeface="Times New Roman" pitchFamily="18" charset="0"/>
              </a:rPr>
              <a:t>have existed over several decades as users and providers have collaborated in many domestic and international forums to effect the necessary capabilities, policies, and practices - generally emerging from work at the Stanford Consortium for Research on Information Security and Policy in the 1990s.</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 Also many tasks that were once carried out by hand are now carried out by computer; therefore there is a need for information assurance (IA) and security.</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Around 70% of the surveyed organizations see the NIST </a:t>
            </a:r>
            <a:r>
              <a:rPr lang="en-US" sz="3500" dirty="0" err="1" smtClean="0">
                <a:highlight>
                  <a:srgbClr val="FFFFFF"/>
                </a:highlight>
                <a:latin typeface="Times New Roman" pitchFamily="18" charset="0"/>
                <a:cs typeface="Times New Roman" pitchFamily="18" charset="0"/>
              </a:rPr>
              <a:t>Cybersecurity</a:t>
            </a:r>
            <a:r>
              <a:rPr lang="en-US" sz="3500" dirty="0" smtClean="0">
                <a:highlight>
                  <a:srgbClr val="FFFFFF"/>
                </a:highlight>
                <a:latin typeface="Times New Roman" pitchFamily="18" charset="0"/>
                <a:cs typeface="Times New Roman" pitchFamily="18" charset="0"/>
              </a:rPr>
              <a:t> Framework as the most popular best practice for computer security, but many note that it requires significant investment (US SFA study report, 2016)</a:t>
            </a:r>
          </a:p>
          <a:p>
            <a:pPr marL="0" indent="0" algn="just" eaLnBrk="1" fontAlgn="auto" hangingPunct="1">
              <a:lnSpc>
                <a:spcPct val="115000"/>
              </a:lnSpc>
              <a:spcBef>
                <a:spcPts val="0"/>
              </a:spcBef>
              <a:spcAft>
                <a:spcPts val="0"/>
              </a:spcAft>
              <a:buFont typeface="Arial" pitchFamily="34" charset="0"/>
              <a:buNone/>
              <a:defRPr/>
            </a:pPr>
            <a:endParaRPr lang="en-US" sz="3500" b="1" dirty="0" smtClean="0">
              <a:highlight>
                <a:srgbClr val="FFFFFF"/>
              </a:highlight>
              <a:latin typeface="Times New Roman" pitchFamily="18" charset="0"/>
              <a:cs typeface="Times New Roman" pitchFamily="18" charset="0"/>
            </a:endParaRPr>
          </a:p>
          <a:p>
            <a:pPr marL="0" indent="0" algn="just" eaLnBrk="1" fontAlgn="auto" hangingPunct="1">
              <a:lnSpc>
                <a:spcPct val="115000"/>
              </a:lnSpc>
              <a:spcBef>
                <a:spcPts val="0"/>
              </a:spcBef>
              <a:spcAft>
                <a:spcPts val="0"/>
              </a:spcAft>
              <a:buFont typeface="Arial" pitchFamily="34" charset="0"/>
              <a:buNone/>
              <a:defRPr/>
            </a:pPr>
            <a:r>
              <a:rPr lang="en-US" sz="3500" b="1" u="sng" dirty="0" smtClean="0">
                <a:highlight>
                  <a:srgbClr val="FFFFFF"/>
                </a:highlight>
                <a:latin typeface="Times New Roman" pitchFamily="18" charset="0"/>
                <a:cs typeface="Times New Roman" pitchFamily="18" charset="0"/>
              </a:rPr>
              <a:t>NIST Cyber security Framework (NIST CSF)</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The NIST Cyber security Framework (NIST CSF) provides a policy framework of computer security guidance for how private sector organizations in the US can assess and improve their ability to prevent, detect, and respond to cyber attacks.</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It provides a high level taxonomy of cyber security outcomes and a methodology to assess and manage those outcomes.</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It is intended to help private sector organizations that provide critical infrastructure with guidance on how to protect it, along with relevant protections for privacy and civil liberties.</a:t>
            </a:r>
          </a:p>
          <a:p>
            <a:pPr marL="0" indent="0" algn="just" eaLnBrk="1" fontAlgn="auto" hangingPunct="1">
              <a:lnSpc>
                <a:spcPct val="115000"/>
              </a:lnSpc>
              <a:spcBef>
                <a:spcPts val="0"/>
              </a:spcBef>
              <a:spcAft>
                <a:spcPts val="0"/>
              </a:spcAft>
              <a:buFont typeface="Arial" pitchFamily="34" charset="0"/>
              <a:buNone/>
              <a:defRPr/>
            </a:pPr>
            <a:endParaRPr lang="en-US" sz="3500" dirty="0" smtClean="0">
              <a:highlight>
                <a:srgbClr val="FFFFFF"/>
              </a:highlight>
              <a:latin typeface="Times New Roman" pitchFamily="18" charset="0"/>
              <a:cs typeface="Times New Roman" pitchFamily="18" charset="0"/>
            </a:endParaRPr>
          </a:p>
          <a:p>
            <a:pPr marL="0" indent="0" algn="just" eaLnBrk="1" fontAlgn="auto" hangingPunct="1">
              <a:lnSpc>
                <a:spcPct val="115000"/>
              </a:lnSpc>
              <a:spcBef>
                <a:spcPts val="0"/>
              </a:spcBef>
              <a:spcAft>
                <a:spcPts val="0"/>
              </a:spcAft>
              <a:buFont typeface="Arial" pitchFamily="34" charset="0"/>
              <a:buNone/>
              <a:defRPr/>
            </a:pPr>
            <a:r>
              <a:rPr lang="en-US" sz="3500" b="1" u="sng" dirty="0" smtClean="0">
                <a:highlight>
                  <a:srgbClr val="FFFFFF"/>
                </a:highlight>
                <a:latin typeface="Times New Roman" pitchFamily="18" charset="0"/>
                <a:cs typeface="Times New Roman" pitchFamily="18" charset="0"/>
              </a:rPr>
              <a:t>ETSI Cyber Security Technical Committee (TC CYBER)</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TC CYBER is responsible for the standardization of Cyber Security internationally and for providing a center of relevant expertise for other ETSI committees(</a:t>
            </a:r>
            <a:r>
              <a:rPr lang="en-US" sz="3500" b="1" dirty="0" smtClean="0">
                <a:highlight>
                  <a:srgbClr val="FFFFFF"/>
                </a:highlight>
                <a:latin typeface="Times New Roman" pitchFamily="18" charset="0"/>
                <a:cs typeface="Times New Roman" pitchFamily="18" charset="0"/>
              </a:rPr>
              <a:t>European Telecommunications Standards Institute)</a:t>
            </a:r>
            <a:r>
              <a:rPr lang="en-US" sz="3500" dirty="0" smtClean="0">
                <a:highlight>
                  <a:srgbClr val="FFFFFF"/>
                </a:highlight>
                <a:latin typeface="Times New Roman" pitchFamily="18" charset="0"/>
                <a:cs typeface="Times New Roman" pitchFamily="18" charset="0"/>
              </a:rPr>
              <a:t>.</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Growing dependence on networked digital systems has brought with it an increase in both the variety and quantity of cyber-threats.</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The different methods governing secure transactions in the various Member States of the EU sometimes make it difficult to assess the respective risks and to ensure adequate security.</a:t>
            </a:r>
          </a:p>
          <a:p>
            <a:pPr marL="0" indent="0" algn="just" eaLnBrk="1" fontAlgn="auto" hangingPunct="1">
              <a:lnSpc>
                <a:spcPct val="115000"/>
              </a:lnSpc>
              <a:spcBef>
                <a:spcPts val="0"/>
              </a:spcBef>
              <a:spcAft>
                <a:spcPts val="0"/>
              </a:spcAft>
              <a:buFont typeface="Arial" pitchFamily="34" charset="0"/>
              <a:buNone/>
              <a:defRPr/>
            </a:pPr>
            <a:r>
              <a:rPr lang="en-US" sz="3500" dirty="0" smtClean="0">
                <a:highlight>
                  <a:srgbClr val="FFFFFF"/>
                </a:highlight>
                <a:latin typeface="Times New Roman" pitchFamily="18" charset="0"/>
                <a:cs typeface="Times New Roman" pitchFamily="18" charset="0"/>
              </a:rPr>
              <a:t>Building on ETSI's world-leading expertise in the security of Information and Communications Technologies (ICT), it set up a new Cyber Security committee (TC CYBER) in 2014 to meet the growing demand for standards to protect the Internet and the communications and business it carries.</a:t>
            </a:r>
          </a:p>
          <a:p>
            <a:pPr marL="0" indent="0" eaLnBrk="1" fontAlgn="auto" hangingPunct="1">
              <a:lnSpc>
                <a:spcPct val="115000"/>
              </a:lnSpc>
              <a:spcBef>
                <a:spcPts val="0"/>
              </a:spcBef>
              <a:spcAft>
                <a:spcPts val="0"/>
              </a:spcAft>
              <a:buFont typeface="Arial" pitchFamily="34" charset="0"/>
              <a:buNone/>
              <a:defRPr/>
            </a:pPr>
            <a:endParaRPr lang="en-US" sz="3600" dirty="0" smtClean="0">
              <a:solidFill>
                <a:schemeClr val="dk1"/>
              </a:solidFill>
            </a:endParaRPr>
          </a:p>
          <a:p>
            <a:pPr marL="0" indent="0" algn="just" eaLnBrk="1" fontAlgn="auto" hangingPunct="1">
              <a:lnSpc>
                <a:spcPct val="115000"/>
              </a:lnSpc>
              <a:spcBef>
                <a:spcPts val="0"/>
              </a:spcBef>
              <a:spcAft>
                <a:spcPts val="0"/>
              </a:spcAft>
              <a:buFont typeface="Arial" pitchFamily="34" charset="0"/>
              <a:buNone/>
              <a:defRPr/>
            </a:pPr>
            <a:endParaRPr lang="en-US" sz="2400" dirty="0" smtClean="0">
              <a:solidFill>
                <a:srgbClr val="444444"/>
              </a:solidFill>
              <a:highlight>
                <a:srgbClr val="FFFFFF"/>
              </a:highlight>
            </a:endParaRPr>
          </a:p>
          <a:p>
            <a:pPr eaLnBrk="1" fontAlgn="auto" hangingPunct="1">
              <a:spcAft>
                <a:spcPts val="0"/>
              </a:spcAft>
              <a:buFont typeface="Arial" pitchFamily="34" charset="0"/>
              <a:buChar char="•"/>
              <a:defRPr/>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Cyber Security Standards</a:t>
            </a:r>
            <a:endParaRPr lang="en-US" sz="2800" smtClean="0"/>
          </a:p>
        </p:txBody>
      </p:sp>
      <p:sp>
        <p:nvSpPr>
          <p:cNvPr id="3" name="Content Placeholder 2"/>
          <p:cNvSpPr>
            <a:spLocks noGrp="1"/>
          </p:cNvSpPr>
          <p:nvPr>
            <p:ph idx="1"/>
          </p:nvPr>
        </p:nvSpPr>
        <p:spPr>
          <a:xfrm>
            <a:off x="228600" y="609600"/>
            <a:ext cx="8686800" cy="6019800"/>
          </a:xfrm>
        </p:spPr>
        <p:txBody>
          <a:bodyPr rtlCol="0">
            <a:normAutofit fontScale="32500" lnSpcReduction="20000"/>
          </a:bodyPr>
          <a:lstStyle/>
          <a:p>
            <a:pPr marL="0" indent="0" eaLnBrk="1" fontAlgn="auto" hangingPunct="1">
              <a:spcBef>
                <a:spcPts val="0"/>
              </a:spcBef>
              <a:spcAft>
                <a:spcPts val="0"/>
              </a:spcAft>
              <a:buFont typeface="Arial" pitchFamily="34" charset="0"/>
              <a:buNone/>
              <a:defRPr/>
            </a:pPr>
            <a:r>
              <a:rPr lang="en-US" sz="4300" b="1" u="sng" dirty="0" smtClean="0">
                <a:solidFill>
                  <a:srgbClr val="444444"/>
                </a:solidFill>
                <a:highlight>
                  <a:srgbClr val="FFFFFF"/>
                </a:highlight>
                <a:latin typeface="Times New Roman" pitchFamily="18" charset="0"/>
                <a:cs typeface="Times New Roman" pitchFamily="18" charset="0"/>
              </a:rPr>
              <a:t>ISO/IEC and 27002</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SO/IEC 27001, part of the growing ISO/IEC family of standards, is an information security management system (ISMS) standard, of which the last revision was published in October 2013 by the International Organization for Standardization (ISO) and the International Electro technical Commission (IEC).</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Its full name is ISO/IEC 27001:2013 – Information technology – Security techniques – Information security management systems – Requirements.</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ISO/IEC formally specifies a management system that is intended to bring information security under explicit management control.</a:t>
            </a:r>
          </a:p>
          <a:p>
            <a:pPr marL="0" indent="0" algn="just" eaLnBrk="1" fontAlgn="auto" hangingPunct="1">
              <a:lnSpc>
                <a:spcPct val="115000"/>
              </a:lnSpc>
              <a:spcBef>
                <a:spcPts val="0"/>
              </a:spcBef>
              <a:spcAft>
                <a:spcPts val="0"/>
              </a:spcAft>
              <a:buFont typeface="Arial" pitchFamily="34" charset="0"/>
              <a:buNone/>
              <a:defRPr/>
            </a:pPr>
            <a:r>
              <a:rPr lang="en-US" sz="4300" b="1" u="sng" dirty="0" smtClean="0">
                <a:highlight>
                  <a:srgbClr val="FFFFFF"/>
                </a:highlight>
                <a:latin typeface="Times New Roman" pitchFamily="18" charset="0"/>
                <a:cs typeface="Times New Roman" pitchFamily="18" charset="0"/>
              </a:rPr>
              <a:t> CISQ-Consortium for IT Software Quality</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CISQ develops standards for automating the measurement of software size and software structural quality.</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CISQ is a special interest group of the Object Management Group that submits specifications for approval as OMG (Object Management Group) international standards.</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The measurement standards are used for the static program analysis of software, a software testing practice that identifies critical vulnerabilities in the code and architecture of a software system.</a:t>
            </a:r>
          </a:p>
          <a:p>
            <a:pPr marL="0" indent="0" algn="just" eaLnBrk="1" fontAlgn="auto" hangingPunct="1">
              <a:lnSpc>
                <a:spcPct val="115000"/>
              </a:lnSpc>
              <a:spcBef>
                <a:spcPts val="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CISQ-developed standards are used to manage the Security, Reliability, Performance Efficiency and Maintainability characteristics of software risk.</a:t>
            </a:r>
          </a:p>
          <a:p>
            <a:pPr marL="0" indent="0" algn="just" eaLnBrk="1" fontAlgn="auto" hangingPunct="1">
              <a:lnSpc>
                <a:spcPct val="115000"/>
              </a:lnSpc>
              <a:spcBef>
                <a:spcPts val="0"/>
              </a:spcBef>
              <a:spcAft>
                <a:spcPts val="0"/>
              </a:spcAft>
              <a:buFont typeface="Arial" pitchFamily="34" charset="0"/>
              <a:buNone/>
              <a:defRPr/>
            </a:pPr>
            <a:endParaRPr lang="en-US" sz="4300" dirty="0" smtClean="0">
              <a:highlight>
                <a:srgbClr val="FFFFFF"/>
              </a:highlight>
              <a:latin typeface="Times New Roman" pitchFamily="18" charset="0"/>
              <a:cs typeface="Times New Roman" pitchFamily="18" charset="0"/>
            </a:endParaRPr>
          </a:p>
          <a:p>
            <a:pPr marL="0" indent="0" eaLnBrk="1" fontAlgn="auto" hangingPunct="1">
              <a:lnSpc>
                <a:spcPct val="115000"/>
              </a:lnSpc>
              <a:spcBef>
                <a:spcPts val="0"/>
              </a:spcBef>
              <a:spcAft>
                <a:spcPts val="0"/>
              </a:spcAft>
              <a:buFont typeface="Arial" pitchFamily="34" charset="0"/>
              <a:buNone/>
              <a:defRPr/>
            </a:pPr>
            <a:r>
              <a:rPr lang="en-US" sz="4300" b="1" u="sng" dirty="0" smtClean="0">
                <a:highlight>
                  <a:srgbClr val="FFFFFF"/>
                </a:highlight>
                <a:latin typeface="Times New Roman" pitchFamily="18" charset="0"/>
                <a:cs typeface="Times New Roman" pitchFamily="18" charset="0"/>
              </a:rPr>
              <a:t>COBIT (</a:t>
            </a:r>
            <a:r>
              <a:rPr lang="en-US" sz="4300" b="1" u="sng" dirty="0" smtClean="0">
                <a:latin typeface="Times New Roman" pitchFamily="18" charset="0"/>
                <a:cs typeface="Times New Roman" pitchFamily="18" charset="0"/>
              </a:rPr>
              <a:t>Control Objectives for Information and Related Technologies</a:t>
            </a:r>
            <a:r>
              <a:rPr lang="en-US" sz="4300" b="1" dirty="0" smtClean="0">
                <a:highlight>
                  <a:srgbClr val="FFFFFF"/>
                </a:highlight>
                <a:latin typeface="Times New Roman" pitchFamily="18" charset="0"/>
                <a:cs typeface="Times New Roman" pitchFamily="18" charset="0"/>
              </a:rPr>
              <a:t>)</a:t>
            </a:r>
          </a:p>
          <a:p>
            <a:pPr marL="0" indent="0" eaLnBrk="1" fontAlgn="auto" hangingPunct="1">
              <a:lnSpc>
                <a:spcPct val="167000"/>
              </a:lnSpc>
              <a:spcBef>
                <a:spcPts val="800"/>
              </a:spcBef>
              <a:spcAft>
                <a:spcPts val="0"/>
              </a:spcAft>
              <a:buFont typeface="Arial" pitchFamily="34" charset="0"/>
              <a:buNone/>
              <a:defRPr/>
            </a:pPr>
            <a:r>
              <a:rPr lang="en-US" sz="4300" dirty="0" smtClean="0">
                <a:highlight>
                  <a:srgbClr val="FFFFFF"/>
                </a:highlight>
                <a:latin typeface="Times New Roman" pitchFamily="18" charset="0"/>
                <a:cs typeface="Times New Roman" pitchFamily="18" charset="0"/>
              </a:rPr>
              <a:t>COBIT was developed in the mid-1990s by ISACA, an independent organization of IT governance professionals. ISACA (</a:t>
            </a:r>
            <a:r>
              <a:rPr lang="en-US" sz="4300" dirty="0">
                <a:latin typeface="Times New Roman" pitchFamily="18" charset="0"/>
                <a:cs typeface="Times New Roman" pitchFamily="18" charset="0"/>
              </a:rPr>
              <a:t> </a:t>
            </a:r>
            <a:r>
              <a:rPr lang="en-US" sz="4300" b="1" dirty="0">
                <a:latin typeface="Times New Roman" pitchFamily="18" charset="0"/>
                <a:cs typeface="Times New Roman" pitchFamily="18" charset="0"/>
              </a:rPr>
              <a:t>Information Systems Audit and Control </a:t>
            </a:r>
            <a:r>
              <a:rPr lang="en-US" sz="4300" b="1" dirty="0" smtClean="0">
                <a:latin typeface="Times New Roman" pitchFamily="18" charset="0"/>
                <a:cs typeface="Times New Roman" pitchFamily="18" charset="0"/>
              </a:rPr>
              <a:t>Association) </a:t>
            </a:r>
            <a:r>
              <a:rPr lang="en-US" sz="4300" dirty="0" smtClean="0">
                <a:latin typeface="Times New Roman" pitchFamily="18" charset="0"/>
                <a:cs typeface="Times New Roman" pitchFamily="18" charset="0"/>
              </a:rPr>
              <a:t>o</a:t>
            </a:r>
            <a:r>
              <a:rPr lang="en-US" sz="4300" dirty="0" smtClean="0">
                <a:highlight>
                  <a:srgbClr val="FFFFFF"/>
                </a:highlight>
                <a:latin typeface="Times New Roman" pitchFamily="18" charset="0"/>
                <a:cs typeface="Times New Roman" pitchFamily="18" charset="0"/>
              </a:rPr>
              <a:t>ffers the well-known Certified Information Systems Audi</a:t>
            </a:r>
            <a:r>
              <a:rPr lang="en-US" sz="4300" u="sng" dirty="0" smtClean="0">
                <a:highlight>
                  <a:srgbClr val="FFFFFF"/>
                </a:highlight>
                <a:latin typeface="Times New Roman" pitchFamily="18" charset="0"/>
                <a:cs typeface="Times New Roman" pitchFamily="18" charset="0"/>
              </a:rPr>
              <a:t>tor</a:t>
            </a:r>
            <a:r>
              <a:rPr lang="en-US" sz="4300" dirty="0" smtClean="0">
                <a:highlight>
                  <a:srgbClr val="FFFFFF"/>
                </a:highlight>
                <a:latin typeface="Times New Roman" pitchFamily="18" charset="0"/>
                <a:cs typeface="Times New Roman" pitchFamily="18" charset="0"/>
              </a:rPr>
              <a:t> and Certified Information Security Manager certifications. COBIT originally focused on </a:t>
            </a:r>
            <a:r>
              <a:rPr lang="en-US" sz="4300" b="1" dirty="0" smtClean="0">
                <a:highlight>
                  <a:srgbClr val="FFFFFF"/>
                </a:highlight>
                <a:latin typeface="Times New Roman" pitchFamily="18" charset="0"/>
                <a:cs typeface="Times New Roman" pitchFamily="18" charset="0"/>
              </a:rPr>
              <a:t>reducing IT risks</a:t>
            </a:r>
            <a:r>
              <a:rPr lang="en-US" sz="4300" dirty="0" smtClean="0">
                <a:highlight>
                  <a:srgbClr val="FFFFFF"/>
                </a:highlight>
                <a:latin typeface="Times New Roman" pitchFamily="18" charset="0"/>
                <a:cs typeface="Times New Roman" pitchFamily="18" charset="0"/>
              </a:rPr>
              <a:t>. COBIT 5, released in 2012, included new technology and business trends to help organizations balance IT and business goals. The current version is COBIT 2019. Numerous publications and professional certifications address COBIT requirements.</a:t>
            </a:r>
          </a:p>
          <a:p>
            <a:pPr marL="0" indent="0" algn="just" eaLnBrk="1" fontAlgn="auto" hangingPunct="1">
              <a:lnSpc>
                <a:spcPct val="115000"/>
              </a:lnSpc>
              <a:spcBef>
                <a:spcPts val="0"/>
              </a:spcBef>
              <a:spcAft>
                <a:spcPts val="0"/>
              </a:spcAft>
              <a:buFont typeface="Arial" pitchFamily="34" charset="0"/>
              <a:buNone/>
              <a:defRPr/>
            </a:pPr>
            <a:endParaRPr lang="en-US" dirty="0" smtClean="0">
              <a:solidFill>
                <a:srgbClr val="444444"/>
              </a:solidFill>
              <a:highlight>
                <a:srgbClr val="FFFFFF"/>
              </a:highlight>
            </a:endParaRPr>
          </a:p>
          <a:p>
            <a:pPr eaLnBrk="1" fontAlgn="auto" hangingPunct="1">
              <a:spcAft>
                <a:spcPts val="0"/>
              </a:spcAft>
              <a:buFont typeface="Arial" pitchFamily="34" charset="0"/>
              <a:buChar char="•"/>
              <a:defRPr/>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tGPT Image Sep 15, 2026, 03_19_09 PM.png"/>
          <p:cNvPicPr>
            <a:picLocks noChangeAspect="1"/>
          </p:cNvPicPr>
          <p:nvPr/>
        </p:nvPicPr>
        <p:blipFill>
          <a:blip r:embed="rId2"/>
          <a:stretch>
            <a:fillRect/>
          </a:stretch>
        </p:blipFill>
        <p:spPr>
          <a:xfrm>
            <a:off x="0" y="381000"/>
            <a:ext cx="91440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Risk Assessment and Management</a:t>
            </a:r>
          </a:p>
        </p:txBody>
      </p:sp>
      <p:sp>
        <p:nvSpPr>
          <p:cNvPr id="3" name="Content Placeholder 2"/>
          <p:cNvSpPr>
            <a:spLocks noGrp="1"/>
          </p:cNvSpPr>
          <p:nvPr>
            <p:ph idx="1"/>
          </p:nvPr>
        </p:nvSpPr>
        <p:spPr>
          <a:xfrm>
            <a:off x="152400" y="457200"/>
            <a:ext cx="8839200" cy="6324600"/>
          </a:xfrm>
        </p:spPr>
        <p:txBody>
          <a:bodyPr rtlCol="0">
            <a:normAutofit fontScale="92500" lnSpcReduction="10000"/>
          </a:bodyPr>
          <a:lstStyle/>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Cyber security risk assessment is the process of </a:t>
            </a:r>
            <a:r>
              <a:rPr lang="en-US" sz="2000" dirty="0" smtClean="0">
                <a:solidFill>
                  <a:srgbClr val="FF0000"/>
                </a:solidFill>
                <a:latin typeface="Times New Roman" pitchFamily="18" charset="0"/>
                <a:cs typeface="Times New Roman" pitchFamily="18" charset="0"/>
              </a:rPr>
              <a:t>identifying</a:t>
            </a:r>
            <a:r>
              <a:rPr lang="en-US" sz="2000" dirty="0" smtClean="0">
                <a:latin typeface="Times New Roman" pitchFamily="18" charset="0"/>
                <a:cs typeface="Times New Roman" pitchFamily="18" charset="0"/>
              </a:rPr>
              <a:t>, </a:t>
            </a:r>
            <a:r>
              <a:rPr lang="en-US" sz="2000" dirty="0" smtClean="0">
                <a:solidFill>
                  <a:srgbClr val="FF0000"/>
                </a:solidFill>
                <a:latin typeface="Times New Roman" pitchFamily="18" charset="0"/>
                <a:cs typeface="Times New Roman" pitchFamily="18" charset="0"/>
              </a:rPr>
              <a:t>analyzing</a:t>
            </a:r>
            <a:r>
              <a:rPr lang="en-US" sz="2000" dirty="0" smtClean="0">
                <a:latin typeface="Times New Roman" pitchFamily="18" charset="0"/>
                <a:cs typeface="Times New Roman" pitchFamily="18" charset="0"/>
              </a:rPr>
              <a:t> and </a:t>
            </a:r>
            <a:r>
              <a:rPr lang="en-US" sz="2000" dirty="0" smtClean="0">
                <a:solidFill>
                  <a:srgbClr val="FF0000"/>
                </a:solidFill>
                <a:latin typeface="Times New Roman" pitchFamily="18" charset="0"/>
                <a:cs typeface="Times New Roman" pitchFamily="18" charset="0"/>
              </a:rPr>
              <a:t>evaluating</a:t>
            </a:r>
            <a:r>
              <a:rPr lang="en-US" sz="2000" dirty="0" smtClean="0">
                <a:latin typeface="Times New Roman" pitchFamily="18" charset="0"/>
                <a:cs typeface="Times New Roman" pitchFamily="18" charset="0"/>
              </a:rPr>
              <a:t> risk. It helps to ensure that the cyber security controls you choose are appropriate to the risks your organization faces.</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Example cyber risks : Data leaks, phishing, malware, </a:t>
            </a:r>
            <a:r>
              <a:rPr lang="en-US" sz="2000" dirty="0" err="1" smtClean="0">
                <a:latin typeface="Times New Roman" pitchFamily="18" charset="0"/>
                <a:cs typeface="Times New Roman" pitchFamily="18" charset="0"/>
              </a:rPr>
              <a:t>Ransomware</a:t>
            </a:r>
            <a:r>
              <a:rPr lang="en-US" sz="2000" dirty="0" smtClean="0">
                <a:latin typeface="Times New Roman" pitchFamily="18" charset="0"/>
                <a:cs typeface="Times New Roman" pitchFamily="18" charset="0"/>
              </a:rPr>
              <a:t>, insider threats, cyber attacks</a:t>
            </a:r>
          </a:p>
          <a:p>
            <a:pPr eaLnBrk="1" fontAlgn="auto" hangingPunct="1">
              <a:spcAft>
                <a:spcPts val="0"/>
              </a:spcAft>
              <a:buFont typeface="Wingdings" pitchFamily="2" charset="2"/>
              <a:buChar char="§"/>
              <a:defRPr/>
            </a:pPr>
            <a:r>
              <a:rPr lang="en-US" sz="2000" b="1" u="sng" dirty="0" smtClean="0">
                <a:latin typeface="Times New Roman" pitchFamily="18" charset="0"/>
                <a:cs typeface="Times New Roman" pitchFamily="18" charset="0"/>
              </a:rPr>
              <a:t>How to perform a cyber security risk assessment:</a:t>
            </a:r>
          </a:p>
          <a:p>
            <a:pPr marL="0" indent="0" eaLnBrk="1" fontAlgn="auto" hangingPunct="1">
              <a:spcAft>
                <a:spcPts val="0"/>
              </a:spcAft>
              <a:buFont typeface="Arial" pitchFamily="34" charset="0"/>
              <a:buNone/>
              <a:defRPr/>
            </a:pPr>
            <a:r>
              <a:rPr lang="en-US" sz="2000" b="1"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It can be split into many parts, but the 5 main steps are: </a:t>
            </a:r>
            <a:r>
              <a:rPr lang="en-US" sz="2000" b="1" dirty="0" smtClean="0">
                <a:latin typeface="Times New Roman" pitchFamily="18" charset="0"/>
                <a:cs typeface="Times New Roman" pitchFamily="18" charset="0"/>
              </a:rPr>
              <a:t>scoping</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risk identification</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risk analysis</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risk evaluation</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documentation.</a:t>
            </a:r>
          </a:p>
          <a:p>
            <a:pPr marL="0" indent="0" eaLnBrk="1" fontAlgn="auto" hangingPunct="1">
              <a:spcAft>
                <a:spcPts val="0"/>
              </a:spcAft>
              <a:buFont typeface="Arial" pitchFamily="34" charset="0"/>
              <a:buNone/>
              <a:defRPr/>
            </a:pPr>
            <a:r>
              <a:rPr lang="en-US" sz="2000" b="1" dirty="0" smtClean="0">
                <a:latin typeface="Times New Roman" pitchFamily="18" charset="0"/>
                <a:cs typeface="Times New Roman" pitchFamily="18" charset="0"/>
              </a:rPr>
              <a:t>Step-1: Determine the scope of the risk assessment:</a:t>
            </a:r>
          </a:p>
          <a:p>
            <a:pPr marL="0" indent="0" eaLnBrk="1" fontAlgn="auto" hangingPunct="1">
              <a:spcAft>
                <a:spcPts val="0"/>
              </a:spcAft>
              <a:buFont typeface="Arial" pitchFamily="34" charset="0"/>
              <a:buNone/>
              <a:defRPr/>
            </a:pPr>
            <a:r>
              <a:rPr lang="en-US" sz="2000" dirty="0">
                <a:latin typeface="Times New Roman" pitchFamily="18" charset="0"/>
                <a:cs typeface="Times New Roman" pitchFamily="18" charset="0"/>
              </a:rPr>
              <a:t>A risk assessment starts by deciding what is in scope of the assessment. It could be the entire organization, but this is usually too big an undertaking, so it is more likely to be a business unit, location or a specific aspect of the business, such as payment processing or a web application</a:t>
            </a:r>
            <a:r>
              <a:rPr lang="en-US" sz="2000"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r>
              <a:rPr lang="en-US" sz="2000" b="1" dirty="0">
                <a:latin typeface="Times New Roman" pitchFamily="18" charset="0"/>
                <a:cs typeface="Times New Roman" pitchFamily="18" charset="0"/>
              </a:rPr>
              <a:t>Step 2: How to identify </a:t>
            </a:r>
            <a:r>
              <a:rPr lang="en-US" sz="2000" b="1" dirty="0" smtClean="0">
                <a:latin typeface="Times New Roman" pitchFamily="18" charset="0"/>
                <a:cs typeface="Times New Roman" pitchFamily="18" charset="0"/>
              </a:rPr>
              <a:t>cyber security risks:</a:t>
            </a:r>
          </a:p>
          <a:p>
            <a:pPr eaLnBrk="1" fontAlgn="auto" hangingPunct="1">
              <a:spcAft>
                <a:spcPts val="0"/>
              </a:spcAft>
              <a:buFont typeface="Arial" pitchFamily="34" charset="0"/>
              <a:buChar char="•"/>
              <a:defRPr/>
            </a:pPr>
            <a:r>
              <a:rPr lang="en-US" sz="2000" b="1" dirty="0"/>
              <a:t>2.1 Identify assets</a:t>
            </a:r>
          </a:p>
          <a:p>
            <a:pPr marL="0" indent="0" eaLnBrk="1" fontAlgn="auto" hangingPunct="1">
              <a:spcAft>
                <a:spcPts val="0"/>
              </a:spcAft>
              <a:buFont typeface="Arial" pitchFamily="34" charset="0"/>
              <a:buNone/>
              <a:defRPr/>
            </a:pPr>
            <a:r>
              <a:rPr lang="en-US" sz="2000" dirty="0">
                <a:latin typeface="Times New Roman" pitchFamily="18" charset="0"/>
                <a:cs typeface="Times New Roman" pitchFamily="18" charset="0"/>
              </a:rPr>
              <a:t>You can't protect what you don't know, so the next task is to identify and create an inventory of all physical and logical assets that are within the scope of the risk assessment.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200" b="1" dirty="0">
                <a:latin typeface="Times New Roman" pitchFamily="18" charset="0"/>
                <a:cs typeface="Times New Roman" pitchFamily="18" charset="0"/>
              </a:rPr>
              <a:t>2.2 Identify threats</a:t>
            </a:r>
          </a:p>
          <a:p>
            <a:pPr marL="0" indent="0" eaLnBrk="1" fontAlgn="auto" hangingPunct="1">
              <a:spcAft>
                <a:spcPts val="0"/>
              </a:spcAft>
              <a:buFont typeface="Arial" pitchFamily="34" charset="0"/>
              <a:buNone/>
              <a:defRPr/>
            </a:pPr>
            <a:r>
              <a:rPr lang="en-US" sz="2200" dirty="0">
                <a:latin typeface="Times New Roman" pitchFamily="18" charset="0"/>
                <a:cs typeface="Times New Roman" pitchFamily="18" charset="0"/>
              </a:rPr>
              <a:t>Threats are the tactics, techniques, and methods used by threat actors that have the potential to cause harm to an organization's assets</a:t>
            </a:r>
            <a:r>
              <a:rPr lang="en-US" sz="2200"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u="sng"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Risk Assessment and Management</a:t>
            </a:r>
          </a:p>
        </p:txBody>
      </p:sp>
      <p:sp>
        <p:nvSpPr>
          <p:cNvPr id="3" name="Content Placeholder 2"/>
          <p:cNvSpPr>
            <a:spLocks noGrp="1"/>
          </p:cNvSpPr>
          <p:nvPr>
            <p:ph idx="1"/>
          </p:nvPr>
        </p:nvSpPr>
        <p:spPr>
          <a:xfrm>
            <a:off x="152400" y="457200"/>
            <a:ext cx="8839200" cy="6324600"/>
          </a:xfrm>
        </p:spPr>
        <p:txBody>
          <a:bodyPr rtlCol="0">
            <a:normAutofit lnSpcReduction="10000"/>
          </a:bodyPr>
          <a:lstStyle/>
          <a:p>
            <a:pPr marL="0" indent="0" eaLnBrk="1" fontAlgn="auto" hangingPunct="1">
              <a:spcAft>
                <a:spcPts val="0"/>
              </a:spcAft>
              <a:buFont typeface="Arial" pitchFamily="34" charset="0"/>
              <a:buNone/>
              <a:defRPr/>
            </a:pPr>
            <a:r>
              <a:rPr lang="en-US" sz="2000" b="1" dirty="0"/>
              <a:t>2.3 Identify what could go wrong</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This task involves specifying the consequences of an identified threat exploiting a vulnerability to attack an in-scope asset. For example:</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Threat: </a:t>
            </a:r>
            <a:r>
              <a:rPr lang="en-US" sz="2000" b="1" dirty="0">
                <a:latin typeface="Times New Roman" pitchFamily="18" charset="0"/>
                <a:cs typeface="Times New Roman" pitchFamily="18" charset="0"/>
              </a:rPr>
              <a:t>An attacker performs an SQL injection on an</a:t>
            </a:r>
            <a:endParaRPr lang="en-US" sz="2000" dirty="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Vulnerability: </a:t>
            </a:r>
            <a:r>
              <a:rPr lang="en-US" sz="2000" b="1" dirty="0">
                <a:latin typeface="Times New Roman" pitchFamily="18" charset="0"/>
                <a:cs typeface="Times New Roman" pitchFamily="18" charset="0"/>
              </a:rPr>
              <a:t>unpatched</a:t>
            </a:r>
            <a:endParaRPr lang="en-US" sz="2000" dirty="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Asset: </a:t>
            </a:r>
            <a:r>
              <a:rPr lang="en-US" sz="2000" b="1" dirty="0">
                <a:latin typeface="Times New Roman" pitchFamily="18" charset="0"/>
                <a:cs typeface="Times New Roman" pitchFamily="18" charset="0"/>
              </a:rPr>
              <a:t>web server</a:t>
            </a:r>
            <a:endParaRPr lang="en-US" sz="2000" dirty="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Consequence: </a:t>
            </a:r>
            <a:r>
              <a:rPr lang="en-US" sz="2000" b="1" dirty="0">
                <a:latin typeface="Times New Roman" pitchFamily="18" charset="0"/>
                <a:cs typeface="Times New Roman" pitchFamily="18" charset="0"/>
              </a:rPr>
              <a:t>to steal customers' private data.</a:t>
            </a:r>
            <a:endParaRPr lang="en-US" sz="2000" dirty="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dirty="0">
                <a:latin typeface="Times New Roman" pitchFamily="18" charset="0"/>
                <a:cs typeface="Times New Roman" pitchFamily="18" charset="0"/>
              </a:rPr>
              <a:t>Step 3: Analyze risks and determine potential impact</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Now it is time to determine the likelihood of the risk scenarios documented in Step 2 actually occurring, and the impact on the organization if it did happen. In a </a:t>
            </a:r>
            <a:r>
              <a:rPr lang="en-US" sz="2000" dirty="0" smtClean="0">
                <a:latin typeface="Times New Roman" pitchFamily="18" charset="0"/>
                <a:cs typeface="Times New Roman" pitchFamily="18" charset="0"/>
              </a:rPr>
              <a:t>cyber security </a:t>
            </a:r>
            <a:r>
              <a:rPr lang="en-US" sz="2000" dirty="0">
                <a:latin typeface="Times New Roman" pitchFamily="18" charset="0"/>
                <a:cs typeface="Times New Roman" pitchFamily="18" charset="0"/>
              </a:rPr>
              <a:t>risk assessment, risk likelihood -- the probability that a given threat is capable of exploiting a given vulnerability -- should be determined based on the discoverability, exploitability and reproducibility of threats and vulnerabilities rather than historical occurrences</a:t>
            </a:r>
            <a:r>
              <a:rPr lang="en-US" sz="2000"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r>
              <a:rPr lang="en-US" sz="2000" b="1" dirty="0">
                <a:latin typeface="Times New Roman" pitchFamily="18" charset="0"/>
                <a:cs typeface="Times New Roman" pitchFamily="18" charset="0"/>
              </a:rPr>
              <a:t>Step 4: Determine and prioritize risks</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Using a risk </a:t>
            </a:r>
            <a:r>
              <a:rPr lang="en-US" sz="2000" dirty="0" smtClean="0">
                <a:latin typeface="Times New Roman" pitchFamily="18" charset="0"/>
                <a:cs typeface="Times New Roman" pitchFamily="18" charset="0"/>
              </a:rPr>
              <a:t>matrix where </a:t>
            </a:r>
            <a:r>
              <a:rPr lang="en-US" sz="2000" dirty="0">
                <a:latin typeface="Times New Roman" pitchFamily="18" charset="0"/>
                <a:cs typeface="Times New Roman" pitchFamily="18" charset="0"/>
              </a:rPr>
              <a:t>the risk level is "Likelihood times Impact," each risk scenario can be classified. If the risk of a SQL injection attack were considered "Likely" or "Highly Likely" our example risk scenario would be classified as "Very High."</a:t>
            </a: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u="sng"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Risk Assessment and Management</a:t>
            </a:r>
          </a:p>
        </p:txBody>
      </p:sp>
      <p:sp>
        <p:nvSpPr>
          <p:cNvPr id="3" name="Content Placeholder 2"/>
          <p:cNvSpPr>
            <a:spLocks noGrp="1"/>
          </p:cNvSpPr>
          <p:nvPr>
            <p:ph idx="1"/>
          </p:nvPr>
        </p:nvSpPr>
        <p:spPr>
          <a:xfrm>
            <a:off x="152400" y="457200"/>
            <a:ext cx="8839200" cy="6324600"/>
          </a:xfrm>
        </p:spPr>
        <p:txBody>
          <a:bodyPr rtlCol="0">
            <a:normAutofit fontScale="92500" lnSpcReduction="10000"/>
          </a:bodyPr>
          <a:lstStyle/>
          <a:p>
            <a:pPr marL="0" indent="0" eaLnBrk="1" fontAlgn="auto" hangingPunct="1">
              <a:spcAft>
                <a:spcPts val="0"/>
              </a:spcAft>
              <a:buFont typeface="Arial" pitchFamily="34" charset="0"/>
              <a:buNone/>
              <a:defRPr/>
            </a:pPr>
            <a:r>
              <a:rPr lang="en-US" sz="2000" dirty="0">
                <a:latin typeface="Times New Roman" pitchFamily="18" charset="0"/>
                <a:cs typeface="Times New Roman" pitchFamily="18" charset="0"/>
              </a:rPr>
              <a:t>Any scenario that is above the agreed-upon tolerance level should be prioritized for treatment to bring it within the organization's risk tolerance level. There are three ways of doing this:</a:t>
            </a: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Avoid.</a:t>
            </a:r>
            <a:r>
              <a:rPr lang="en-US" sz="2000" dirty="0">
                <a:latin typeface="Times New Roman" pitchFamily="18" charset="0"/>
                <a:cs typeface="Times New Roman" pitchFamily="18" charset="0"/>
              </a:rPr>
              <a:t> If the risk outweighs the benefits, discontinuing an activity may be the best course of action if it means no longer being exposed to it.</a:t>
            </a: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Transfer.</a:t>
            </a:r>
            <a:r>
              <a:rPr lang="en-US" sz="2000" dirty="0">
                <a:latin typeface="Times New Roman" pitchFamily="18" charset="0"/>
                <a:cs typeface="Times New Roman" pitchFamily="18" charset="0"/>
              </a:rPr>
              <a:t> Share a portion of the risk with other parties through cyber insurance or outsourcing certain operations to third parties.</a:t>
            </a: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Mitigate.</a:t>
            </a:r>
            <a:r>
              <a:rPr lang="en-US" sz="2000" dirty="0">
                <a:latin typeface="Times New Roman" pitchFamily="18" charset="0"/>
                <a:cs typeface="Times New Roman" pitchFamily="18" charset="0"/>
              </a:rPr>
              <a:t> Deploy security controls and other measures to reduce the Likelihood and/or Impact and therefore the risk level.</a:t>
            </a:r>
          </a:p>
          <a:p>
            <a:pPr marL="0" indent="0" eaLnBrk="1" fontAlgn="auto" hangingPunct="1">
              <a:spcAft>
                <a:spcPts val="0"/>
              </a:spcAft>
              <a:buFont typeface="Arial" pitchFamily="34" charset="0"/>
              <a:buNone/>
              <a:defRPr/>
            </a:pPr>
            <a:r>
              <a:rPr lang="en-US" sz="2200" b="1" dirty="0">
                <a:latin typeface="Times New Roman" pitchFamily="18" charset="0"/>
                <a:cs typeface="Times New Roman" pitchFamily="18" charset="0"/>
              </a:rPr>
              <a:t>Step 5: Document all risks</a:t>
            </a:r>
          </a:p>
          <a:p>
            <a:pPr eaLnBrk="1" fontAlgn="auto" hangingPunct="1">
              <a:spcAft>
                <a:spcPts val="0"/>
              </a:spcAft>
              <a:buFont typeface="Arial" pitchFamily="34" charset="0"/>
              <a:buChar char="•"/>
              <a:defRPr/>
            </a:pPr>
            <a:r>
              <a:rPr lang="en-US" sz="2200" dirty="0">
                <a:latin typeface="Times New Roman" pitchFamily="18" charset="0"/>
                <a:cs typeface="Times New Roman" pitchFamily="18" charset="0"/>
              </a:rPr>
              <a:t>It's important to document all identified risk scenarios in a </a:t>
            </a:r>
            <a:r>
              <a:rPr lang="en-US" sz="2200" b="1" dirty="0">
                <a:latin typeface="Times New Roman" pitchFamily="18" charset="0"/>
                <a:cs typeface="Times New Roman" pitchFamily="18" charset="0"/>
              </a:rPr>
              <a:t>risk register</a:t>
            </a:r>
            <a:r>
              <a:rPr lang="en-US" sz="2200" dirty="0">
                <a:latin typeface="Times New Roman" pitchFamily="18" charset="0"/>
                <a:cs typeface="Times New Roman" pitchFamily="18" charset="0"/>
              </a:rPr>
              <a:t>. This should be regularly reviewed and updated to ensure that management always has an up-to-date account of its </a:t>
            </a:r>
            <a:r>
              <a:rPr lang="en-US" sz="2200" dirty="0" smtClean="0">
                <a:latin typeface="Times New Roman" pitchFamily="18" charset="0"/>
                <a:cs typeface="Times New Roman" pitchFamily="18" charset="0"/>
              </a:rPr>
              <a:t>cyber security </a:t>
            </a:r>
            <a:r>
              <a:rPr lang="en-US" sz="2200" dirty="0">
                <a:latin typeface="Times New Roman" pitchFamily="18" charset="0"/>
                <a:cs typeface="Times New Roman" pitchFamily="18" charset="0"/>
              </a:rPr>
              <a:t>risks. It should include:</a:t>
            </a:r>
          </a:p>
          <a:p>
            <a:pPr eaLnBrk="1" fontAlgn="auto" hangingPunct="1">
              <a:spcAft>
                <a:spcPts val="0"/>
              </a:spcAft>
              <a:buFont typeface="Arial" pitchFamily="34" charset="0"/>
              <a:buChar char="•"/>
              <a:defRPr/>
            </a:pPr>
            <a:r>
              <a:rPr lang="en-US" sz="2200" dirty="0">
                <a:latin typeface="Times New Roman" pitchFamily="18" charset="0"/>
                <a:cs typeface="Times New Roman" pitchFamily="18" charset="0"/>
              </a:rPr>
              <a:t>Risk </a:t>
            </a:r>
            <a:r>
              <a:rPr lang="en-US" sz="2200" dirty="0" smtClean="0">
                <a:latin typeface="Times New Roman" pitchFamily="18" charset="0"/>
                <a:cs typeface="Times New Roman" pitchFamily="18" charset="0"/>
              </a:rPr>
              <a:t>scenario , Identification date, Existing </a:t>
            </a:r>
            <a:r>
              <a:rPr lang="en-US" sz="2200" dirty="0">
                <a:latin typeface="Times New Roman" pitchFamily="18" charset="0"/>
                <a:cs typeface="Times New Roman" pitchFamily="18" charset="0"/>
              </a:rPr>
              <a:t>security controls</a:t>
            </a:r>
          </a:p>
          <a:p>
            <a:pPr eaLnBrk="1" fontAlgn="auto" hangingPunct="1">
              <a:spcAft>
                <a:spcPts val="0"/>
              </a:spcAft>
              <a:buFont typeface="Arial" pitchFamily="34" charset="0"/>
              <a:buChar char="•"/>
              <a:defRPr/>
            </a:pPr>
            <a:r>
              <a:rPr lang="en-US" sz="2200" dirty="0">
                <a:latin typeface="Times New Roman" pitchFamily="18" charset="0"/>
                <a:cs typeface="Times New Roman" pitchFamily="18" charset="0"/>
              </a:rPr>
              <a:t>Current risk </a:t>
            </a:r>
            <a:r>
              <a:rPr lang="en-US" sz="2200" dirty="0" smtClean="0">
                <a:latin typeface="Times New Roman" pitchFamily="18" charset="0"/>
                <a:cs typeface="Times New Roman" pitchFamily="18" charset="0"/>
              </a:rPr>
              <a:t>level , Treatment </a:t>
            </a:r>
            <a:r>
              <a:rPr lang="en-US" sz="2200" dirty="0">
                <a:latin typeface="Times New Roman" pitchFamily="18" charset="0"/>
                <a:cs typeface="Times New Roman" pitchFamily="18" charset="0"/>
              </a:rPr>
              <a:t>plan -- the planned activities and timeline to bring the risk within an acceptable risk tolerance level</a:t>
            </a:r>
          </a:p>
          <a:p>
            <a:pPr eaLnBrk="1" fontAlgn="auto" hangingPunct="1">
              <a:spcAft>
                <a:spcPts val="0"/>
              </a:spcAft>
              <a:buFont typeface="Arial" pitchFamily="34" charset="0"/>
              <a:buChar char="•"/>
              <a:defRPr/>
            </a:pPr>
            <a:r>
              <a:rPr lang="en-US" sz="2200" dirty="0">
                <a:latin typeface="Times New Roman" pitchFamily="18" charset="0"/>
                <a:cs typeface="Times New Roman" pitchFamily="18" charset="0"/>
              </a:rPr>
              <a:t>Progress status -- the status of implementing the treatment plan</a:t>
            </a:r>
          </a:p>
          <a:p>
            <a:pPr eaLnBrk="1" fontAlgn="auto" hangingPunct="1">
              <a:spcAft>
                <a:spcPts val="0"/>
              </a:spcAft>
              <a:buFont typeface="Arial" pitchFamily="34" charset="0"/>
              <a:buChar char="•"/>
              <a:defRPr/>
            </a:pPr>
            <a:r>
              <a:rPr lang="en-US" sz="2200" dirty="0">
                <a:latin typeface="Times New Roman" pitchFamily="18" charset="0"/>
                <a:cs typeface="Times New Roman" pitchFamily="18" charset="0"/>
              </a:rPr>
              <a:t>Residual risk -- the risk level after the treatment plan is implemented</a:t>
            </a:r>
          </a:p>
          <a:p>
            <a:pPr eaLnBrk="1" fontAlgn="auto" hangingPunct="1">
              <a:spcAft>
                <a:spcPts val="0"/>
              </a:spcAft>
              <a:buFont typeface="Arial" pitchFamily="34" charset="0"/>
              <a:buChar char="•"/>
              <a:defRPr/>
            </a:pPr>
            <a:r>
              <a:rPr lang="en-US" sz="2200" dirty="0">
                <a:latin typeface="Times New Roman" pitchFamily="18" charset="0"/>
                <a:cs typeface="Times New Roman" pitchFamily="18" charset="0"/>
              </a:rPr>
              <a:t>Risk owner -- the individual or group responsible for ensuring that the residual risks remain within the tolerance level</a:t>
            </a: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endParaRPr lang="en-US" sz="2000" b="1" u="sng"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Risk Assessment and Management</a:t>
            </a:r>
          </a:p>
        </p:txBody>
      </p:sp>
      <p:sp>
        <p:nvSpPr>
          <p:cNvPr id="3" name="Content Placeholder 2"/>
          <p:cNvSpPr>
            <a:spLocks noGrp="1"/>
          </p:cNvSpPr>
          <p:nvPr>
            <p:ph idx="1"/>
          </p:nvPr>
        </p:nvSpPr>
        <p:spPr>
          <a:xfrm>
            <a:off x="152400" y="457200"/>
            <a:ext cx="8839200" cy="6324600"/>
          </a:xfrm>
        </p:spPr>
        <p:txBody>
          <a:bodyPr rtlCol="0">
            <a:normAutofit/>
          </a:bodyPr>
          <a:lstStyle/>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ISO 27001 and Cyber risks:</a:t>
            </a: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The International standard ISO/IEC 27001:2013 provides the specification for a best practice ISMS(IS management system) a risk based approach to IS risk management that address people, process, and technology</a:t>
            </a: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Clause 6.1.2 the standard sets out the requirements of the IS risk assessment process. Organizations must:</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Establish and maintain specific IS risk criteria</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Ensure that repeated risk assessments produce constant, valid and comparable results.</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Identify risk associated with the loss of confidentiality, integrity, and availability for information within the scope of the ISMS and identify the owner of the risk, and</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Analyze and evaluate IS risks, according to the criteria established earlier</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It is essential that organizations retain documented information about the IS risk assessment process, so that they can demonstrate that they comply with these requirements</a:t>
            </a: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p>
          <a:p>
            <a:pPr eaLnBrk="1" fontAlgn="auto" hangingPunct="1">
              <a:spcAft>
                <a:spcPts val="0"/>
              </a:spcAft>
              <a:buFont typeface="Arial" pitchFamily="34" charset="0"/>
              <a:buChar char="•"/>
              <a:defRPr/>
            </a:pPr>
            <a:endParaRPr lang="en-US" sz="20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76200"/>
            <a:ext cx="8229600" cy="304800"/>
          </a:xfrm>
        </p:spPr>
        <p:txBody>
          <a:bodyPr>
            <a:normAutofit fontScale="90000"/>
          </a:bodyPr>
          <a:lstStyle/>
          <a:p>
            <a:pPr eaLnBrk="1" hangingPunct="1"/>
            <a:r>
              <a:rPr lang="en-US" sz="2800" smtClean="0">
                <a:latin typeface="Times New Roman" pitchFamily="18" charset="0"/>
                <a:cs typeface="Times New Roman" pitchFamily="18" charset="0"/>
              </a:rPr>
              <a:t>Risk Assessment and Management</a:t>
            </a:r>
          </a:p>
        </p:txBody>
      </p:sp>
      <p:sp>
        <p:nvSpPr>
          <p:cNvPr id="3" name="Content Placeholder 2"/>
          <p:cNvSpPr>
            <a:spLocks noGrp="1"/>
          </p:cNvSpPr>
          <p:nvPr>
            <p:ph idx="1"/>
          </p:nvPr>
        </p:nvSpPr>
        <p:spPr>
          <a:xfrm>
            <a:off x="152400" y="457200"/>
            <a:ext cx="8839200" cy="6324600"/>
          </a:xfrm>
        </p:spPr>
        <p:txBody>
          <a:bodyPr rtlCol="0">
            <a:normAutofit/>
          </a:bodyPr>
          <a:lstStyle/>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IT Governance cyber risk assessment service:</a:t>
            </a: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Our team of qualified cyber security advisers will provide business-driven consultation on the overall process of assessing information risk. They will offer support, guidance, and advice in the following areas:</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Identifying the assets that require protection.</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Identifying relevant threats &amp; weaknesses.</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Identifying exploitable vulnerabilities.</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Assessing level of threat posed by threat agents.</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Determining the business impact of risk being realized.</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Producing a security risk assessment.</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Advising on a risk acceptance threshold or level of acceptance</a:t>
            </a:r>
          </a:p>
          <a:p>
            <a:pPr marL="457200" indent="-457200" eaLnBrk="1" fontAlgn="auto" hangingPunct="1">
              <a:spcAft>
                <a:spcPts val="0"/>
              </a:spcAft>
              <a:buFont typeface="Arial" pitchFamily="34" charset="0"/>
              <a:buAutoNum type="arabicParenR"/>
              <a:defRPr/>
            </a:pPr>
            <a:r>
              <a:rPr lang="en-US" sz="2000" dirty="0" smtClean="0">
                <a:latin typeface="Times New Roman" pitchFamily="18" charset="0"/>
                <a:cs typeface="Times New Roman" pitchFamily="18" charset="0"/>
              </a:rPr>
              <a:t>Advising on a suitable control implementation</a:t>
            </a:r>
          </a:p>
          <a:p>
            <a:pPr marL="457200" indent="-457200" eaLnBrk="1" fontAlgn="auto" hangingPunct="1">
              <a:spcAft>
                <a:spcPts val="0"/>
              </a:spcAft>
              <a:buFont typeface="Arial" pitchFamily="34" charset="0"/>
              <a:buAutoNum type="arabicParenR"/>
              <a:defRPr/>
            </a:pPr>
            <a:endParaRPr lang="en-US" sz="2000" dirty="0" smtClean="0">
              <a:latin typeface="Times New Roman" pitchFamily="18" charset="0"/>
              <a:cs typeface="Times New Roman" pitchFamily="18" charset="0"/>
            </a:endParaRPr>
          </a:p>
          <a:p>
            <a:pPr marL="457200" indent="-457200" eaLnBrk="1" fontAlgn="auto" hangingPunct="1">
              <a:spcAft>
                <a:spcPts val="0"/>
              </a:spcAft>
              <a:buFont typeface="Arial" pitchFamily="34" charset="0"/>
              <a:buAutoNum type="arabicParenR"/>
              <a:defRPr/>
            </a:pPr>
            <a:endParaRPr lang="en-US" sz="2000" dirty="0" smtClean="0">
              <a:latin typeface="Times New Roman" pitchFamily="18" charset="0"/>
              <a:cs typeface="Times New Roman" pitchFamily="18" charset="0"/>
            </a:endParaRPr>
          </a:p>
          <a:p>
            <a:pPr marL="457200" indent="-457200" eaLnBrk="1" fontAlgn="auto" hangingPunct="1">
              <a:spcAft>
                <a:spcPts val="0"/>
              </a:spcAft>
              <a:buFont typeface="Arial" pitchFamily="34" charset="0"/>
              <a:buAutoNum type="arabicParenR"/>
              <a:defRPr/>
            </a:pP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p>
          <a:p>
            <a:pPr eaLnBrk="1" fontAlgn="auto" hangingPunct="1">
              <a:spcAft>
                <a:spcPts val="0"/>
              </a:spcAft>
              <a:buFont typeface="Arial" pitchFamily="34" charset="0"/>
              <a:buChar char="•"/>
              <a:defRPr/>
            </a:pPr>
            <a:endParaRPr lang="en-US" sz="20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63563"/>
          </a:xfrm>
        </p:spPr>
        <p:txBody>
          <a:bodyPr rtlCol="0">
            <a:normAutofit fontScale="90000"/>
          </a:bodyPr>
          <a:lstStyle/>
          <a:p>
            <a:pPr eaLnBrk="1" fontAlgn="auto" hangingPunct="1">
              <a:spcAft>
                <a:spcPts val="0"/>
              </a:spcAft>
              <a:defRPr/>
            </a:pPr>
            <a:r>
              <a:rPr lang="en-US" dirty="0" smtClean="0"/>
              <a:t>Asset Classification</a:t>
            </a:r>
            <a:endParaRPr lang="en-US" dirty="0"/>
          </a:p>
        </p:txBody>
      </p:sp>
      <p:sp>
        <p:nvSpPr>
          <p:cNvPr id="3" name="Content Placeholder 2"/>
          <p:cNvSpPr>
            <a:spLocks noGrp="1"/>
          </p:cNvSpPr>
          <p:nvPr>
            <p:ph idx="1"/>
          </p:nvPr>
        </p:nvSpPr>
        <p:spPr>
          <a:xfrm>
            <a:off x="228600" y="838200"/>
            <a:ext cx="8686800" cy="5867400"/>
          </a:xfrm>
        </p:spPr>
        <p:txBody>
          <a:bodyPr rtlCol="0">
            <a:normAutofit lnSpcReduction="10000"/>
          </a:bodyPr>
          <a:lstStyle/>
          <a:p>
            <a:pPr eaLnBrk="1" fontAlgn="auto" hangingPunct="1">
              <a:spcAft>
                <a:spcPts val="0"/>
              </a:spcAft>
              <a:buFont typeface="Arial" pitchFamily="34" charset="0"/>
              <a:buChar char="•"/>
              <a:defRPr/>
            </a:pPr>
            <a:r>
              <a:rPr lang="en-US" sz="2000" b="1" u="sng" dirty="0">
                <a:latin typeface="Times New Roman" pitchFamily="18" charset="0"/>
                <a:cs typeface="Times New Roman" pitchFamily="18" charset="0"/>
              </a:rPr>
              <a:t>What’s Asset Classification? </a:t>
            </a:r>
            <a:r>
              <a:rPr lang="en-US" sz="2000" b="1" u="sng" dirty="0" smtClean="0">
                <a:latin typeface="Times New Roman" pitchFamily="18" charset="0"/>
                <a:cs typeface="Times New Roman" pitchFamily="18" charset="0"/>
              </a:rPr>
              <a:t>: </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Do </a:t>
            </a:r>
            <a:r>
              <a:rPr lang="en-US" sz="2000" dirty="0">
                <a:latin typeface="Times New Roman" pitchFamily="18" charset="0"/>
                <a:cs typeface="Times New Roman" pitchFamily="18" charset="0"/>
              </a:rPr>
              <a:t>you know what and where critical assets in your organization are?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Do </a:t>
            </a:r>
            <a:r>
              <a:rPr lang="en-US" sz="2000" dirty="0">
                <a:latin typeface="Times New Roman" pitchFamily="18" charset="0"/>
                <a:cs typeface="Times New Roman" pitchFamily="18" charset="0"/>
              </a:rPr>
              <a:t>you know their value?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What </a:t>
            </a:r>
            <a:r>
              <a:rPr lang="en-US" sz="2000" dirty="0">
                <a:latin typeface="Times New Roman" pitchFamily="18" charset="0"/>
                <a:cs typeface="Times New Roman" pitchFamily="18" charset="0"/>
              </a:rPr>
              <a:t>about the impact of their disclosure, corruption or loss?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Organizations </a:t>
            </a:r>
            <a:r>
              <a:rPr lang="en-US" sz="2000" dirty="0">
                <a:latin typeface="Times New Roman" pitchFamily="18" charset="0"/>
                <a:cs typeface="Times New Roman" pitchFamily="18" charset="0"/>
              </a:rPr>
              <a:t>depend on critical assets to operate and therefore require having a distinct view of assets throughout its lifecycle. Asset classification is the process for determining the critical assets and the required control to protect it according to its sensitivity. The process can be applied to any asset that has value, including business processes and environments. Since not all assets have the same value or importance, different classification level may apply to different assets. A classification schema should be established and applied throughout the organization based on the confidentiality of each </a:t>
            </a:r>
            <a:r>
              <a:rPr lang="en-US" sz="2000" dirty="0" smtClean="0">
                <a:latin typeface="Times New Roman" pitchFamily="18" charset="0"/>
                <a:cs typeface="Times New Roman" pitchFamily="18" charset="0"/>
              </a:rPr>
              <a:t>asset.</a:t>
            </a:r>
          </a:p>
          <a:p>
            <a:pPr eaLnBrk="1" fontAlgn="auto" hangingPunct="1">
              <a:spcAft>
                <a:spcPts val="0"/>
              </a:spcAft>
              <a:buFont typeface="Arial" pitchFamily="34" charset="0"/>
              <a:buChar char="•"/>
              <a:defRPr/>
            </a:pPr>
            <a:r>
              <a:rPr lang="en-US" sz="2000" b="1" u="sng" dirty="0">
                <a:latin typeface="Times New Roman" pitchFamily="18" charset="0"/>
                <a:cs typeface="Times New Roman" pitchFamily="18" charset="0"/>
              </a:rPr>
              <a:t>Why Asset </a:t>
            </a:r>
            <a:r>
              <a:rPr lang="en-US" sz="2000" b="1" u="sng" dirty="0" smtClean="0">
                <a:latin typeface="Times New Roman" pitchFamily="18" charset="0"/>
                <a:cs typeface="Times New Roman" pitchFamily="18" charset="0"/>
              </a:rPr>
              <a:t>Classification?: </a:t>
            </a:r>
            <a:r>
              <a:rPr lang="en-US" sz="2000" dirty="0" smtClean="0">
                <a:latin typeface="Times New Roman" pitchFamily="18" charset="0"/>
                <a:cs typeface="Times New Roman" pitchFamily="18" charset="0"/>
              </a:rPr>
              <a:t>Business </a:t>
            </a:r>
            <a:r>
              <a:rPr lang="en-US" sz="2000" dirty="0">
                <a:latin typeface="Times New Roman" pitchFamily="18" charset="0"/>
                <a:cs typeface="Times New Roman" pitchFamily="18" charset="0"/>
              </a:rPr>
              <a:t>and financial tasks are not exposed to unacceptable risk; why Should IT be? Organizations are keen on assessing risks when it comes to financial and or strategic task in order to maximize gain, enhance market share and reduce risk. Despite these tasks are highly dependent on technology, yet IT risks are commonly ignored, jeopardizing accuracy, integrity, confidentiality and availability.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63563"/>
          </a:xfrm>
        </p:spPr>
        <p:txBody>
          <a:bodyPr rtlCol="0">
            <a:normAutofit fontScale="90000"/>
          </a:bodyPr>
          <a:lstStyle/>
          <a:p>
            <a:pPr eaLnBrk="1" fontAlgn="auto" hangingPunct="1">
              <a:spcAft>
                <a:spcPts val="0"/>
              </a:spcAft>
              <a:defRPr/>
            </a:pPr>
            <a:r>
              <a:rPr lang="en-US" dirty="0" smtClean="0"/>
              <a:t>Asset Classification</a:t>
            </a:r>
            <a:endParaRPr lang="en-US" dirty="0"/>
          </a:p>
        </p:txBody>
      </p:sp>
      <p:sp>
        <p:nvSpPr>
          <p:cNvPr id="13315" name="Content Placeholder 2"/>
          <p:cNvSpPr>
            <a:spLocks noGrp="1"/>
          </p:cNvSpPr>
          <p:nvPr>
            <p:ph idx="1"/>
          </p:nvPr>
        </p:nvSpPr>
        <p:spPr>
          <a:xfrm>
            <a:off x="228600" y="838200"/>
            <a:ext cx="8686800" cy="5410200"/>
          </a:xfrm>
        </p:spPr>
        <p:txBody>
          <a:bodyPr/>
          <a:lstStyle/>
          <a:p>
            <a:pPr eaLnBrk="1" hangingPunct="1"/>
            <a:r>
              <a:rPr lang="en-US" sz="2000" smtClean="0">
                <a:latin typeface="Times New Roman" pitchFamily="18" charset="0"/>
                <a:cs typeface="Times New Roman" pitchFamily="18" charset="0"/>
              </a:rPr>
              <a:t>Asset classification is an important first step in the process of risk assessment. However, we understand the challenges of successfully preforming this task; business owners commonly believe that their assets are the most important but this view may not be shared with C level members. </a:t>
            </a:r>
          </a:p>
          <a:p>
            <a:pPr eaLnBrk="1" hangingPunct="1"/>
            <a:r>
              <a:rPr lang="en-US" sz="2000" smtClean="0">
                <a:latin typeface="Times New Roman" pitchFamily="18" charset="0"/>
                <a:cs typeface="Times New Roman" pitchFamily="18" charset="0"/>
              </a:rPr>
              <a:t>Creating the right balance between the different assets across the organization is a key for effective protection. This will require a good understanding of business goals and objectives – designing the link between assets and crucial business activities. </a:t>
            </a:r>
          </a:p>
          <a:p>
            <a:pPr eaLnBrk="1" hangingPunct="1"/>
            <a:r>
              <a:rPr lang="en-US" sz="2000" smtClean="0">
                <a:latin typeface="Times New Roman" pitchFamily="18" charset="0"/>
                <a:cs typeface="Times New Roman" pitchFamily="18" charset="0"/>
              </a:rPr>
              <a:t>Asset classification is a process for systematically segregating the assets into various groups, based on the nature of the assets, by applying the accounting rules to make proper accounting under each group. The groups are later consolidated at the financial statement level to report.</a:t>
            </a: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33400"/>
          </a:xfrm>
        </p:spPr>
        <p:txBody>
          <a:bodyPr rtlCol="0">
            <a:normAutofit fontScale="90000"/>
          </a:bodyPr>
          <a:lstStyle/>
          <a:p>
            <a:pPr eaLnBrk="1" fontAlgn="auto" hangingPunct="1">
              <a:spcAft>
                <a:spcPts val="0"/>
              </a:spcAft>
              <a:defRPr/>
            </a:pPr>
            <a:r>
              <a:rPr lang="en-US" dirty="0" smtClean="0"/>
              <a:t>Asset Classification</a:t>
            </a:r>
            <a:endParaRPr lang="en-US" dirty="0"/>
          </a:p>
        </p:txBody>
      </p:sp>
      <p:sp>
        <p:nvSpPr>
          <p:cNvPr id="3" name="Content Placeholder 2"/>
          <p:cNvSpPr>
            <a:spLocks noGrp="1"/>
          </p:cNvSpPr>
          <p:nvPr>
            <p:ph idx="1"/>
          </p:nvPr>
        </p:nvSpPr>
        <p:spPr>
          <a:xfrm>
            <a:off x="152400" y="685800"/>
            <a:ext cx="8839200" cy="6019800"/>
          </a:xfrm>
        </p:spPr>
        <p:txBody>
          <a:bodyPr rtlCol="0">
            <a:normAutofit fontScale="77500" lnSpcReduction="20000"/>
          </a:bodyPr>
          <a:lstStyle/>
          <a:p>
            <a:pPr marL="0" indent="0" eaLnBrk="1" fontAlgn="auto" hangingPunct="1">
              <a:spcBef>
                <a:spcPts val="0"/>
              </a:spcBef>
              <a:spcAft>
                <a:spcPts val="0"/>
              </a:spcAft>
              <a:buSzPts val="605"/>
              <a:buFont typeface="Arial" pitchFamily="34" charset="0"/>
              <a:buNone/>
              <a:defRPr/>
            </a:pPr>
            <a:r>
              <a:rPr lang="en-US" sz="2300" dirty="0">
                <a:latin typeface="Times New Roman" pitchFamily="18" charset="0"/>
                <a:ea typeface="Times New Roman"/>
                <a:cs typeface="Times New Roman" pitchFamily="18" charset="0"/>
                <a:sym typeface="Times New Roman"/>
              </a:rPr>
              <a:t>All the Company's information, data and communication must be classified strictly according to its level of confidentiality, sensitivity, value and criticality. Information may be classified as HIGHLY RESTRICTED, CONFIDENTIAL, INTERNAL USE ONLY, and PUBLIC.</a:t>
            </a:r>
          </a:p>
          <a:p>
            <a:pPr marL="0" indent="0" eaLnBrk="1" fontAlgn="auto" hangingPunct="1">
              <a:spcBef>
                <a:spcPts val="1200"/>
              </a:spcBef>
              <a:spcAft>
                <a:spcPts val="0"/>
              </a:spcAft>
              <a:buSzPts val="605"/>
              <a:buFont typeface="Arial" pitchFamily="34" charset="0"/>
              <a:buNone/>
              <a:defRPr/>
            </a:pPr>
            <a:r>
              <a:rPr lang="en-US" sz="2300" b="1" u="sng" dirty="0">
                <a:latin typeface="Times New Roman" pitchFamily="18" charset="0"/>
                <a:ea typeface="Times New Roman"/>
                <a:cs typeface="Times New Roman" pitchFamily="18" charset="0"/>
                <a:sym typeface="Times New Roman"/>
              </a:rPr>
              <a:t>HIGHLY RESTRICTED</a:t>
            </a:r>
            <a:r>
              <a:rPr lang="en-US" sz="2300" b="1" dirty="0">
                <a:latin typeface="Times New Roman" pitchFamily="18" charset="0"/>
                <a:ea typeface="Times New Roman"/>
                <a:cs typeface="Times New Roman" pitchFamily="18" charset="0"/>
                <a:sym typeface="Times New Roman"/>
              </a:rPr>
              <a:t>:</a:t>
            </a:r>
            <a:r>
              <a:rPr lang="en-US" sz="2300" dirty="0">
                <a:latin typeface="Times New Roman" pitchFamily="18" charset="0"/>
                <a:ea typeface="Times New Roman"/>
                <a:cs typeface="Times New Roman" pitchFamily="18" charset="0"/>
                <a:sym typeface="Times New Roman"/>
              </a:rPr>
              <a:t>  This classification label applies to the most private or otherwise sensitive information of the Company. Information under this classification shall be strictly monitored and controlled at all times. (e.g. merger and acquisition documents, corporate level strategic plans, litigation strategy memos, reports on breakthrough new product research, and Trade Secrets such as certain computer </a:t>
            </a:r>
            <a:r>
              <a:rPr lang="en-US" sz="2300" dirty="0" smtClean="0">
                <a:latin typeface="Times New Roman" pitchFamily="18" charset="0"/>
                <a:ea typeface="Times New Roman"/>
                <a:cs typeface="Times New Roman" pitchFamily="18" charset="0"/>
                <a:sym typeface="Times New Roman"/>
              </a:rPr>
              <a:t>programs)</a:t>
            </a:r>
            <a:endParaRPr lang="en-US" sz="2300" dirty="0">
              <a:latin typeface="Times New Roman" pitchFamily="18" charset="0"/>
              <a:ea typeface="Times New Roman"/>
              <a:cs typeface="Times New Roman" pitchFamily="18" charset="0"/>
              <a:sym typeface="Times New Roman"/>
            </a:endParaRPr>
          </a:p>
          <a:p>
            <a:pPr marL="0" indent="0" eaLnBrk="1" fontAlgn="auto" hangingPunct="1">
              <a:spcBef>
                <a:spcPts val="1200"/>
              </a:spcBef>
              <a:spcAft>
                <a:spcPts val="0"/>
              </a:spcAft>
              <a:buSzPts val="605"/>
              <a:buFont typeface="Arial" pitchFamily="34" charset="0"/>
              <a:buNone/>
              <a:defRPr/>
            </a:pPr>
            <a:r>
              <a:rPr lang="en-US" sz="2300" b="1" u="sng" dirty="0">
                <a:latin typeface="Times New Roman" pitchFamily="18" charset="0"/>
                <a:ea typeface="Times New Roman"/>
                <a:cs typeface="Times New Roman" pitchFamily="18" charset="0"/>
                <a:sym typeface="Times New Roman"/>
              </a:rPr>
              <a:t>CONFIDENTIAL:</a:t>
            </a:r>
            <a:r>
              <a:rPr lang="en-US" sz="2300" dirty="0">
                <a:latin typeface="Times New Roman" pitchFamily="18" charset="0"/>
                <a:ea typeface="Times New Roman"/>
                <a:cs typeface="Times New Roman" pitchFamily="18" charset="0"/>
                <a:sym typeface="Times New Roman"/>
              </a:rPr>
              <a:t>  This classification label applies to Company information, which is private or otherwise sensitive in nature and shall be restricted to those with a legitimate business need for access. (e.g. employee performance evaluations, customer transaction data, strategic alliance agreements, unpublished internally generated market research, computer passwords, identity token personal identification numbers (PINs), and internal audit reports.</a:t>
            </a:r>
          </a:p>
          <a:p>
            <a:pPr marL="0" indent="0" eaLnBrk="1" fontAlgn="auto" hangingPunct="1">
              <a:spcBef>
                <a:spcPts val="1200"/>
              </a:spcBef>
              <a:spcAft>
                <a:spcPts val="0"/>
              </a:spcAft>
              <a:buSzPts val="605"/>
              <a:buFont typeface="Arial" pitchFamily="34" charset="0"/>
              <a:buNone/>
              <a:defRPr/>
            </a:pPr>
            <a:r>
              <a:rPr lang="en-US" sz="2300" b="1" u="sng" dirty="0">
                <a:latin typeface="Times New Roman" pitchFamily="18" charset="0"/>
                <a:ea typeface="Times New Roman"/>
                <a:cs typeface="Times New Roman" pitchFamily="18" charset="0"/>
                <a:sym typeface="Times New Roman"/>
              </a:rPr>
              <a:t>INTERNAL USE </a:t>
            </a:r>
            <a:r>
              <a:rPr lang="en-US" sz="2300" b="1" u="sng" dirty="0" smtClean="0">
                <a:latin typeface="Times New Roman" pitchFamily="18" charset="0"/>
                <a:ea typeface="Times New Roman"/>
                <a:cs typeface="Times New Roman" pitchFamily="18" charset="0"/>
                <a:sym typeface="Times New Roman"/>
              </a:rPr>
              <a:t>ONLY</a:t>
            </a:r>
            <a:r>
              <a:rPr lang="en-US" sz="2300" b="1" dirty="0" smtClean="0">
                <a:latin typeface="Times New Roman" pitchFamily="18" charset="0"/>
                <a:ea typeface="Times New Roman"/>
                <a:cs typeface="Times New Roman" pitchFamily="18" charset="0"/>
                <a:sym typeface="Times New Roman"/>
              </a:rPr>
              <a:t>: </a:t>
            </a:r>
            <a:r>
              <a:rPr lang="en-US" sz="2300" dirty="0" smtClean="0">
                <a:latin typeface="Times New Roman" pitchFamily="18" charset="0"/>
                <a:ea typeface="Times New Roman"/>
                <a:cs typeface="Times New Roman" pitchFamily="18" charset="0"/>
                <a:sym typeface="Times New Roman"/>
              </a:rPr>
              <a:t>This </a:t>
            </a:r>
            <a:r>
              <a:rPr lang="en-US" sz="2300" dirty="0">
                <a:latin typeface="Times New Roman" pitchFamily="18" charset="0"/>
                <a:ea typeface="Times New Roman"/>
                <a:cs typeface="Times New Roman" pitchFamily="18" charset="0"/>
                <a:sym typeface="Times New Roman"/>
              </a:rPr>
              <a:t>classification label applies to information intended for use within the Company, and in some cases within affiliated organizations, such as business partners of the Company. Assets of this type are widely-distributed within the Company and may be distributed within Company without permission from the information asset owner. (e.g. telephone directory, dial-up computer access numbers, new employee training materials, and internal policy manuals.</a:t>
            </a:r>
          </a:p>
          <a:p>
            <a:pPr marL="0" indent="0" eaLnBrk="1" fontAlgn="auto" hangingPunct="1">
              <a:spcBef>
                <a:spcPts val="1200"/>
              </a:spcBef>
              <a:spcAft>
                <a:spcPts val="1200"/>
              </a:spcAft>
              <a:buSzPts val="605"/>
              <a:buFont typeface="Arial" pitchFamily="34" charset="0"/>
              <a:buNone/>
              <a:defRPr/>
            </a:pPr>
            <a:r>
              <a:rPr lang="en-US" sz="2300" b="1" u="sng" dirty="0">
                <a:latin typeface="Times New Roman" pitchFamily="18" charset="0"/>
                <a:ea typeface="Times New Roman"/>
                <a:cs typeface="Times New Roman" pitchFamily="18" charset="0"/>
                <a:sym typeface="Times New Roman"/>
              </a:rPr>
              <a:t>PUBLIC:</a:t>
            </a:r>
            <a:r>
              <a:rPr lang="en-US" sz="2300" dirty="0">
                <a:latin typeface="Times New Roman" pitchFamily="18" charset="0"/>
                <a:ea typeface="Times New Roman"/>
                <a:cs typeface="Times New Roman" pitchFamily="18" charset="0"/>
                <a:sym typeface="Times New Roman"/>
              </a:rPr>
              <a:t>  </a:t>
            </a:r>
            <a:r>
              <a:rPr lang="en-US" sz="2300" dirty="0" smtClean="0">
                <a:latin typeface="Times New Roman" pitchFamily="18" charset="0"/>
                <a:ea typeface="Times New Roman"/>
                <a:cs typeface="Times New Roman" pitchFamily="18" charset="0"/>
                <a:sym typeface="Times New Roman"/>
              </a:rPr>
              <a:t>This </a:t>
            </a:r>
            <a:r>
              <a:rPr lang="en-US" sz="2300" dirty="0">
                <a:latin typeface="Times New Roman" pitchFamily="18" charset="0"/>
                <a:ea typeface="Times New Roman"/>
                <a:cs typeface="Times New Roman" pitchFamily="18" charset="0"/>
                <a:sym typeface="Times New Roman"/>
              </a:rPr>
              <a:t>classification applies to information that has been explicitly approved by the Company’s management for release to the public. Assets of this type may be circulated without potential harm. (e.g. product and service brochures, advertisements, job opening announcements, and press releases.)</a:t>
            </a: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Crisis Management Plan</a:t>
            </a:r>
          </a:p>
        </p:txBody>
      </p:sp>
      <p:sp>
        <p:nvSpPr>
          <p:cNvPr id="3" name="Content Placeholder 2"/>
          <p:cNvSpPr>
            <a:spLocks noGrp="1"/>
          </p:cNvSpPr>
          <p:nvPr>
            <p:ph idx="1"/>
          </p:nvPr>
        </p:nvSpPr>
        <p:spPr>
          <a:xfrm>
            <a:off x="152400" y="685800"/>
            <a:ext cx="8839200" cy="6019800"/>
          </a:xfrm>
        </p:spPr>
        <p:txBody>
          <a:bodyPr rtlCol="0">
            <a:normAutofit/>
          </a:bodyPr>
          <a:lstStyle/>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The word crisis comes from two Chinese </a:t>
            </a:r>
            <a:r>
              <a:rPr lang="en-US" sz="2000" dirty="0" smtClean="0">
                <a:highlight>
                  <a:srgbClr val="FFFFFF"/>
                </a:highlight>
                <a:latin typeface="Times New Roman" pitchFamily="18" charset="0"/>
                <a:cs typeface="Times New Roman" pitchFamily="18" charset="0"/>
              </a:rPr>
              <a:t>words: </a:t>
            </a:r>
            <a:r>
              <a:rPr lang="en-US" sz="2000" b="1" dirty="0" smtClean="0">
                <a:highlight>
                  <a:srgbClr val="FFFFFF"/>
                </a:highlight>
                <a:latin typeface="Times New Roman" pitchFamily="18" charset="0"/>
                <a:cs typeface="Times New Roman" pitchFamily="18" charset="0"/>
              </a:rPr>
              <a:t>Danger</a:t>
            </a:r>
            <a:r>
              <a:rPr lang="en-US" sz="2000" dirty="0" smtClean="0">
                <a:highlight>
                  <a:srgbClr val="FFFFFF"/>
                </a:highlight>
                <a:latin typeface="Times New Roman" pitchFamily="18" charset="0"/>
                <a:cs typeface="Times New Roman" pitchFamily="18" charset="0"/>
              </a:rPr>
              <a:t> </a:t>
            </a:r>
            <a:r>
              <a:rPr lang="en-US" sz="2000" dirty="0">
                <a:highlight>
                  <a:srgbClr val="FFFFFF"/>
                </a:highlight>
                <a:latin typeface="Times New Roman" pitchFamily="18" charset="0"/>
                <a:cs typeface="Times New Roman" pitchFamily="18" charset="0"/>
              </a:rPr>
              <a:t>and </a:t>
            </a:r>
            <a:r>
              <a:rPr lang="en-US" sz="2000" b="1" dirty="0">
                <a:highlight>
                  <a:srgbClr val="FFFFFF"/>
                </a:highlight>
                <a:latin typeface="Times New Roman" pitchFamily="18" charset="0"/>
                <a:cs typeface="Times New Roman" pitchFamily="18" charset="0"/>
              </a:rPr>
              <a:t>Opportunity</a:t>
            </a:r>
            <a:r>
              <a:rPr lang="en-US" sz="2000" dirty="0">
                <a:highlight>
                  <a:srgbClr val="FFFFFF"/>
                </a:highlight>
                <a:latin typeface="Times New Roman" pitchFamily="18" charset="0"/>
                <a:cs typeface="Times New Roman" pitchFamily="18" charset="0"/>
              </a:rPr>
              <a:t>. </a:t>
            </a:r>
            <a:endParaRPr lang="en-US" sz="2000" dirty="0" smtClean="0">
              <a:highlight>
                <a:srgbClr val="FFFFFF"/>
              </a:highlight>
              <a:latin typeface="Times New Roman" pitchFamily="18" charset="0"/>
              <a:cs typeface="Times New Roman" pitchFamily="18" charset="0"/>
            </a:endParaRPr>
          </a:p>
          <a:p>
            <a:pPr marL="0" indent="0" eaLnBrk="1" fontAlgn="auto" hangingPunct="1">
              <a:spcBef>
                <a:spcPts val="0"/>
              </a:spcBef>
              <a:spcAft>
                <a:spcPts val="0"/>
              </a:spcAft>
              <a:buFont typeface="Arial" pitchFamily="34" charset="0"/>
              <a:buNone/>
              <a:defRPr/>
            </a:pPr>
            <a:r>
              <a:rPr lang="en-US" sz="2000" dirty="0">
                <a:latin typeface="Times New Roman" panose="02020603050405020304" pitchFamily="18" charset="0"/>
                <a:cs typeface="Times New Roman" panose="02020603050405020304" pitchFamily="18" charset="0"/>
              </a:rPr>
              <a:t>A crisis management plan outlines how your business will respond if a crisis occurs</a:t>
            </a:r>
            <a:r>
              <a:rPr lang="en-US" sz="2000" dirty="0" smtClean="0">
                <a:latin typeface="Times New Roman" panose="02020603050405020304" pitchFamily="18" charset="0"/>
                <a:cs typeface="Times New Roman" panose="02020603050405020304" pitchFamily="18" charset="0"/>
              </a:rPr>
              <a:t>.</a:t>
            </a:r>
          </a:p>
          <a:p>
            <a:pPr marL="0" indent="0" eaLnBrk="1" fontAlgn="auto" hangingPunct="1">
              <a:spcBef>
                <a:spcPts val="0"/>
              </a:spcBef>
              <a:spcAft>
                <a:spcPts val="0"/>
              </a:spcAft>
              <a:buFont typeface="Arial" pitchFamily="34" charset="0"/>
              <a:buNone/>
              <a:defRPr/>
            </a:pPr>
            <a:r>
              <a:rPr lang="en-US" sz="2000" dirty="0">
                <a:solidFill>
                  <a:srgbClr val="2A2B2C"/>
                </a:solidFill>
                <a:latin typeface="Times New Roman" panose="02020603050405020304" pitchFamily="18" charset="0"/>
                <a:cs typeface="Times New Roman" panose="02020603050405020304" pitchFamily="18" charset="0"/>
              </a:rPr>
              <a:t>The plan should identify who will take action and what their roles will be. The goal of a crisis management plan is to </a:t>
            </a:r>
            <a:r>
              <a:rPr lang="en-US" sz="2000" b="1" dirty="0">
                <a:solidFill>
                  <a:srgbClr val="2A2B2C"/>
                </a:solidFill>
                <a:latin typeface="Times New Roman" panose="02020603050405020304" pitchFamily="18" charset="0"/>
                <a:cs typeface="Times New Roman" panose="02020603050405020304" pitchFamily="18" charset="0"/>
              </a:rPr>
              <a:t>minimize damage</a:t>
            </a:r>
            <a:r>
              <a:rPr lang="en-US" sz="2000" dirty="0">
                <a:solidFill>
                  <a:srgbClr val="2A2B2C"/>
                </a:solidFill>
                <a:latin typeface="Times New Roman" panose="02020603050405020304" pitchFamily="18" charset="0"/>
                <a:cs typeface="Times New Roman" panose="02020603050405020304" pitchFamily="18" charset="0"/>
              </a:rPr>
              <a:t> and </a:t>
            </a:r>
            <a:r>
              <a:rPr lang="en-US" sz="2000" b="1" dirty="0">
                <a:solidFill>
                  <a:srgbClr val="2A2B2C"/>
                </a:solidFill>
                <a:latin typeface="Times New Roman" panose="02020603050405020304" pitchFamily="18" charset="0"/>
                <a:cs typeface="Times New Roman" panose="02020603050405020304" pitchFamily="18" charset="0"/>
              </a:rPr>
              <a:t>restore business operations </a:t>
            </a:r>
            <a:r>
              <a:rPr lang="en-US" sz="2000" dirty="0">
                <a:solidFill>
                  <a:srgbClr val="2A2B2C"/>
                </a:solidFill>
                <a:latin typeface="Times New Roman" panose="02020603050405020304" pitchFamily="18" charset="0"/>
                <a:cs typeface="Times New Roman" panose="02020603050405020304" pitchFamily="18" charset="0"/>
              </a:rPr>
              <a:t>as quickly as possible.</a:t>
            </a:r>
            <a:endParaRPr lang="en-US" sz="2000" dirty="0">
              <a:highlight>
                <a:srgbClr val="FFFFFF"/>
              </a:highlight>
              <a:latin typeface="Times New Roman" pitchFamily="18" charset="0"/>
              <a:cs typeface="Times New Roman" pitchFamily="18" charset="0"/>
            </a:endParaRPr>
          </a:p>
          <a:p>
            <a:pPr marL="0" indent="0" eaLnBrk="1" fontAlgn="auto" hangingPunct="1">
              <a:spcBef>
                <a:spcPts val="1200"/>
              </a:spcBef>
              <a:spcAft>
                <a:spcPts val="0"/>
              </a:spcAft>
              <a:buFont typeface="Arial" pitchFamily="34" charset="0"/>
              <a:buNone/>
              <a:defRPr/>
            </a:pPr>
            <a:r>
              <a:rPr lang="en-US" sz="2000" b="1" dirty="0">
                <a:highlight>
                  <a:srgbClr val="FFFFFF"/>
                </a:highlight>
                <a:latin typeface="Times New Roman" pitchFamily="18" charset="0"/>
                <a:cs typeface="Times New Roman" pitchFamily="18" charset="0"/>
              </a:rPr>
              <a:t>Crisis:</a:t>
            </a:r>
            <a:r>
              <a:rPr lang="en-US" sz="2000" dirty="0">
                <a:highlight>
                  <a:srgbClr val="FFFFFF"/>
                </a:highlight>
                <a:latin typeface="Times New Roman" pitchFamily="18" charset="0"/>
                <a:cs typeface="Times New Roman" pitchFamily="18" charset="0"/>
              </a:rPr>
              <a:t> is any event that is expected to lead to, an unstable and dangerous situation affecting an individual, group, or whole organization.</a:t>
            </a:r>
          </a:p>
          <a:p>
            <a:pPr marL="0" indent="0" eaLnBrk="1" fontAlgn="auto" hangingPunct="1">
              <a:spcBef>
                <a:spcPts val="1200"/>
              </a:spcBef>
              <a:spcAft>
                <a:spcPts val="0"/>
              </a:spcAft>
              <a:buFont typeface="Arial" pitchFamily="34" charset="0"/>
              <a:buNone/>
              <a:defRPr/>
            </a:pPr>
            <a:r>
              <a:rPr lang="en-US" sz="2000" b="1" dirty="0">
                <a:highlight>
                  <a:srgbClr val="FFFFFF"/>
                </a:highlight>
                <a:latin typeface="Times New Roman" pitchFamily="18" charset="0"/>
                <a:cs typeface="Times New Roman" pitchFamily="18" charset="0"/>
              </a:rPr>
              <a:t>Crisis Management: </a:t>
            </a:r>
            <a:r>
              <a:rPr lang="en-US" sz="2000" dirty="0">
                <a:highlight>
                  <a:srgbClr val="FFFFFF"/>
                </a:highlight>
                <a:latin typeface="Times New Roman" pitchFamily="18" charset="0"/>
                <a:cs typeface="Times New Roman" pitchFamily="18" charset="0"/>
              </a:rPr>
              <a:t>is the process by which an organization deals with a major event that threatens to harm the organization, its stakeholders, or the general public.</a:t>
            </a:r>
          </a:p>
          <a:p>
            <a:pPr marL="0" indent="0" eaLnBrk="1" fontAlgn="auto" hangingPunct="1">
              <a:spcBef>
                <a:spcPts val="1200"/>
              </a:spcBef>
              <a:spcAft>
                <a:spcPts val="1200"/>
              </a:spcAft>
              <a:buFont typeface="Arial" pitchFamily="34" charset="0"/>
              <a:buNone/>
              <a:defRPr/>
            </a:pPr>
            <a:r>
              <a:rPr lang="en-US" sz="2000" dirty="0">
                <a:highlight>
                  <a:srgbClr val="FFFFFF"/>
                </a:highlight>
                <a:latin typeface="Times New Roman" pitchFamily="18" charset="0"/>
                <a:cs typeface="Times New Roman" pitchFamily="18" charset="0"/>
              </a:rPr>
              <a:t>Crisis Management </a:t>
            </a:r>
            <a:r>
              <a:rPr lang="en-US" sz="2000" dirty="0" smtClean="0">
                <a:highlight>
                  <a:srgbClr val="FFFFFF"/>
                </a:highlight>
                <a:latin typeface="Times New Roman" pitchFamily="18" charset="0"/>
                <a:cs typeface="Times New Roman" pitchFamily="18" charset="0"/>
              </a:rPr>
              <a:t>Cycle:</a:t>
            </a:r>
          </a:p>
          <a:p>
            <a:pPr marL="0" indent="0" eaLnBrk="1" fontAlgn="auto" hangingPunct="1">
              <a:spcBef>
                <a:spcPts val="1200"/>
              </a:spcBef>
              <a:spcAft>
                <a:spcPts val="1200"/>
              </a:spcAft>
              <a:buFont typeface="Arial" pitchFamily="34" charset="0"/>
              <a:buNone/>
              <a:defRPr/>
            </a:pPr>
            <a:endParaRPr lang="en-US" sz="2000" dirty="0">
              <a:solidFill>
                <a:srgbClr val="3B3835"/>
              </a:solidFill>
              <a:highlight>
                <a:srgbClr val="FFFFFF"/>
              </a:highlight>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pic>
        <p:nvPicPr>
          <p:cNvPr id="15364" name="Google Shape;139;p29"/>
          <p:cNvPicPr preferRelativeResize="0">
            <a:picLocks noChangeAspect="1" noChangeArrowheads="1"/>
          </p:cNvPicPr>
          <p:nvPr/>
        </p:nvPicPr>
        <p:blipFill>
          <a:blip r:embed="rId2"/>
          <a:srcRect/>
          <a:stretch>
            <a:fillRect/>
          </a:stretch>
        </p:blipFill>
        <p:spPr bwMode="auto">
          <a:xfrm>
            <a:off x="2209800" y="4267200"/>
            <a:ext cx="5486400"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Crisis Management Plan</a:t>
            </a:r>
          </a:p>
        </p:txBody>
      </p:sp>
      <p:sp>
        <p:nvSpPr>
          <p:cNvPr id="3" name="Content Placeholder 2"/>
          <p:cNvSpPr>
            <a:spLocks noGrp="1"/>
          </p:cNvSpPr>
          <p:nvPr>
            <p:ph idx="1"/>
          </p:nvPr>
        </p:nvSpPr>
        <p:spPr>
          <a:xfrm>
            <a:off x="152400" y="685800"/>
            <a:ext cx="8839200" cy="6019800"/>
          </a:xfrm>
        </p:spPr>
        <p:txBody>
          <a:bodyPr rtlCol="0">
            <a:normAutofit/>
          </a:bodyPr>
          <a:lstStyle/>
          <a:p>
            <a:pPr marL="0" indent="0" eaLnBrk="1" fontAlgn="auto" hangingPunct="1">
              <a:spcAft>
                <a:spcPts val="0"/>
              </a:spcAft>
              <a:buFont typeface="Arial" pitchFamily="34" charset="0"/>
              <a:buNone/>
              <a:defRPr/>
            </a:pPr>
            <a:r>
              <a:rPr lang="en-US" sz="2000" b="1" dirty="0">
                <a:solidFill>
                  <a:srgbClr val="151B26"/>
                </a:solidFill>
                <a:latin typeface="Times New Roman" panose="02020603050405020304" pitchFamily="18" charset="0"/>
                <a:cs typeface="Times New Roman" panose="02020603050405020304" pitchFamily="18" charset="0"/>
              </a:rPr>
              <a:t>Why do you need a crisis management plan?</a:t>
            </a:r>
          </a:p>
          <a:p>
            <a:pPr eaLnBrk="1" fontAlgn="auto" hangingPunct="1">
              <a:spcAft>
                <a:spcPts val="0"/>
              </a:spcAft>
              <a:buFont typeface="Arial" pitchFamily="34" charset="0"/>
              <a:buChar char="•"/>
              <a:defRPr/>
            </a:pPr>
            <a:r>
              <a:rPr lang="en-US" sz="2000" dirty="0">
                <a:solidFill>
                  <a:srgbClr val="2A2B2C"/>
                </a:solidFill>
                <a:latin typeface="Times New Roman" panose="02020603050405020304" pitchFamily="18" charset="0"/>
                <a:cs typeface="Times New Roman" panose="02020603050405020304" pitchFamily="18" charset="0"/>
              </a:rPr>
              <a:t>A crisis management plan  prepares your organization for a disaster or unforeseen event. With a plan in place, you can lessen the impact of the crisis on your employees and your business operations. When the team is properly trained for the unexpected, there’s less chance of long-term damage. </a:t>
            </a:r>
          </a:p>
          <a:p>
            <a:pPr eaLnBrk="1" fontAlgn="auto" hangingPunct="1">
              <a:spcAft>
                <a:spcPts val="0"/>
              </a:spcAft>
              <a:buFont typeface="Arial" pitchFamily="34" charset="0"/>
              <a:buChar char="•"/>
              <a:defRPr/>
            </a:pPr>
            <a:r>
              <a:rPr lang="en-US" sz="2000" dirty="0">
                <a:solidFill>
                  <a:srgbClr val="2A2B2C"/>
                </a:solidFill>
                <a:latin typeface="Times New Roman" panose="02020603050405020304" pitchFamily="18" charset="0"/>
                <a:cs typeface="Times New Roman" panose="02020603050405020304" pitchFamily="18" charset="0"/>
              </a:rPr>
              <a:t>If you’re the leader of an organization, it’s up to you to work with other members of senior management and come up with the emergency management strategy that works for you. You may not know where to start at first, but </a:t>
            </a:r>
            <a:r>
              <a:rPr lang="en-US" sz="2000" u="sng" dirty="0">
                <a:latin typeface="Times New Roman" panose="02020603050405020304" pitchFamily="18" charset="0"/>
                <a:cs typeface="Times New Roman" panose="02020603050405020304" pitchFamily="18" charset="0"/>
              </a:rPr>
              <a:t>project planning software</a:t>
            </a:r>
            <a:r>
              <a:rPr lang="en-US" sz="2000" dirty="0">
                <a:solidFill>
                  <a:srgbClr val="2A2B2C"/>
                </a:solidFill>
                <a:latin typeface="Times New Roman" panose="02020603050405020304" pitchFamily="18" charset="0"/>
                <a:cs typeface="Times New Roman" panose="02020603050405020304" pitchFamily="18" charset="0"/>
              </a:rPr>
              <a:t> can help you navigate this uncharted territory. </a:t>
            </a:r>
          </a:p>
          <a:p>
            <a:pPr eaLnBrk="1" fontAlgn="auto" hangingPunct="1">
              <a:spcAft>
                <a:spcPts val="0"/>
              </a:spcAft>
              <a:buFont typeface="Arial" pitchFamily="34" charset="0"/>
              <a:buChar char="•"/>
              <a:defRPr/>
            </a:pPr>
            <a:r>
              <a:rPr lang="en-US" sz="2000" dirty="0">
                <a:solidFill>
                  <a:srgbClr val="2A2B2C"/>
                </a:solidFill>
                <a:latin typeface="Times New Roman" panose="02020603050405020304" pitchFamily="18" charset="0"/>
                <a:cs typeface="Times New Roman" panose="02020603050405020304" pitchFamily="18" charset="0"/>
              </a:rPr>
              <a:t>A well-organized crisis management plan could help your company recover after a disaster occurs. </a:t>
            </a:r>
          </a:p>
          <a:p>
            <a:pPr marL="0" indent="0" eaLnBrk="1" fontAlgn="auto" hangingPunct="1">
              <a:spcBef>
                <a:spcPts val="1200"/>
              </a:spcBef>
              <a:spcAft>
                <a:spcPts val="1200"/>
              </a:spcAft>
              <a:buFont typeface="Arial" pitchFamily="34" charset="0"/>
              <a:buNone/>
              <a:defRPr/>
            </a:pPr>
            <a:endParaRPr lang="en-US" sz="2000" dirty="0" smtClean="0">
              <a:solidFill>
                <a:srgbClr val="3B3835"/>
              </a:solidFill>
              <a:highlight>
                <a:srgbClr val="FFFFFF"/>
              </a:highlight>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52400" y="76200"/>
            <a:ext cx="8839200" cy="304800"/>
          </a:xfrm>
        </p:spPr>
        <p:txBody>
          <a:bodyPr>
            <a:normAutofit fontScale="90000"/>
          </a:bodyPr>
          <a:lstStyle/>
          <a:p>
            <a:pPr eaLnBrk="1" hangingPunct="1"/>
            <a:r>
              <a:rPr lang="en-US" sz="3200" smtClean="0">
                <a:latin typeface="Times New Roman" pitchFamily="18" charset="0"/>
                <a:cs typeface="Times New Roman" pitchFamily="18" charset="0"/>
              </a:rPr>
              <a:t>Crisis Management Plan</a:t>
            </a:r>
          </a:p>
        </p:txBody>
      </p:sp>
      <p:sp>
        <p:nvSpPr>
          <p:cNvPr id="3" name="Content Placeholder 2"/>
          <p:cNvSpPr>
            <a:spLocks noGrp="1"/>
          </p:cNvSpPr>
          <p:nvPr>
            <p:ph idx="1"/>
          </p:nvPr>
        </p:nvSpPr>
        <p:spPr>
          <a:xfrm>
            <a:off x="152400" y="533400"/>
            <a:ext cx="8839200" cy="6172200"/>
          </a:xfrm>
        </p:spPr>
        <p:txBody>
          <a:bodyPr rtlCol="0">
            <a:normAutofit lnSpcReduction="10000"/>
          </a:bodyPr>
          <a:lstStyle/>
          <a:p>
            <a:pPr marL="0" indent="0" eaLnBrk="1" fontAlgn="auto" hangingPunct="1">
              <a:spcBef>
                <a:spcPts val="0"/>
              </a:spcBef>
              <a:spcAft>
                <a:spcPts val="0"/>
              </a:spcAft>
              <a:buFont typeface="Arial" pitchFamily="34" charset="0"/>
              <a:buNone/>
              <a:defRPr/>
            </a:pPr>
            <a:r>
              <a:rPr lang="en-US" sz="2000" b="1" u="sng" dirty="0">
                <a:highlight>
                  <a:srgbClr val="FFFFFF"/>
                </a:highlight>
                <a:latin typeface="Times New Roman" pitchFamily="18" charset="0"/>
                <a:cs typeface="Times New Roman" pitchFamily="18" charset="0"/>
              </a:rPr>
              <a:t>First Stage of crisis management is </a:t>
            </a:r>
            <a:r>
              <a:rPr lang="en-US" sz="2000" b="1" u="sng" dirty="0" smtClean="0">
                <a:solidFill>
                  <a:srgbClr val="FF0000"/>
                </a:solidFill>
                <a:highlight>
                  <a:srgbClr val="FFFFFF"/>
                </a:highlight>
                <a:latin typeface="Times New Roman" pitchFamily="18" charset="0"/>
                <a:cs typeface="Times New Roman" pitchFamily="18" charset="0"/>
              </a:rPr>
              <a:t>IDENTIFYING</a:t>
            </a:r>
            <a:r>
              <a:rPr lang="en-US" sz="2000" b="1" u="sng" dirty="0" smtClean="0">
                <a:highlight>
                  <a:srgbClr val="FFFFFF"/>
                </a:highlight>
                <a:latin typeface="Times New Roman" pitchFamily="18" charset="0"/>
                <a:cs typeface="Times New Roman" pitchFamily="18" charset="0"/>
              </a:rPr>
              <a:t> </a:t>
            </a:r>
            <a:r>
              <a:rPr lang="en-US" sz="2000" b="1" u="sng" dirty="0">
                <a:highlight>
                  <a:srgbClr val="FFFFFF"/>
                </a:highlight>
                <a:latin typeface="Times New Roman" pitchFamily="18" charset="0"/>
                <a:cs typeface="Times New Roman" pitchFamily="18" charset="0"/>
              </a:rPr>
              <a:t>the crisis’ nature</a:t>
            </a:r>
            <a:r>
              <a:rPr lang="en-US" sz="2000" u="sng" dirty="0">
                <a:highlight>
                  <a:srgbClr val="FFFFFF"/>
                </a:highlight>
                <a:latin typeface="Times New Roman" pitchFamily="18" charset="0"/>
                <a:cs typeface="Times New Roman" pitchFamily="18" charset="0"/>
              </a:rPr>
              <a:t>.</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 Crisis can be clustered into:</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 </a:t>
            </a:r>
            <a:r>
              <a:rPr lang="en-US" sz="2000" b="1" dirty="0">
                <a:highlight>
                  <a:srgbClr val="FFFFFF"/>
                </a:highlight>
                <a:latin typeface="Times New Roman" pitchFamily="18" charset="0"/>
                <a:cs typeface="Times New Roman" pitchFamily="18" charset="0"/>
              </a:rPr>
              <a:t>Natural crisis</a:t>
            </a:r>
            <a:r>
              <a:rPr lang="en-US" sz="2000" dirty="0">
                <a:highlight>
                  <a:srgbClr val="FFFFFF"/>
                </a:highlight>
                <a:latin typeface="Times New Roman" pitchFamily="18" charset="0"/>
                <a:cs typeface="Times New Roman" pitchFamily="18" charset="0"/>
              </a:rPr>
              <a:t>: occur due to natural disasters.</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a:t>
            </a:r>
            <a:r>
              <a:rPr lang="en-US" sz="2000" b="1" dirty="0">
                <a:highlight>
                  <a:srgbClr val="FFFFFF"/>
                </a:highlight>
                <a:latin typeface="Times New Roman" pitchFamily="18" charset="0"/>
                <a:cs typeface="Times New Roman" pitchFamily="18" charset="0"/>
              </a:rPr>
              <a:t>– Organizational Misdeed crisis: </a:t>
            </a:r>
            <a:r>
              <a:rPr lang="en-US" sz="2000" dirty="0">
                <a:highlight>
                  <a:srgbClr val="FFFFFF"/>
                </a:highlight>
                <a:latin typeface="Times New Roman" pitchFamily="18" charset="0"/>
                <a:cs typeface="Times New Roman" pitchFamily="18" charset="0"/>
              </a:rPr>
              <a:t>occur when management take actions that harm stakeholders without suitable precautions. </a:t>
            </a:r>
          </a:p>
          <a:p>
            <a:pPr marL="0" indent="0" eaLnBrk="1" fontAlgn="auto" hangingPunct="1">
              <a:spcBef>
                <a:spcPts val="0"/>
              </a:spcBef>
              <a:spcAft>
                <a:spcPts val="0"/>
              </a:spcAft>
              <a:buFont typeface="Arial" pitchFamily="34" charset="0"/>
              <a:buNone/>
              <a:defRPr/>
            </a:pPr>
            <a:r>
              <a:rPr lang="en-US" sz="2000" b="1" dirty="0">
                <a:highlight>
                  <a:srgbClr val="FFFFFF"/>
                </a:highlight>
                <a:latin typeface="Times New Roman" pitchFamily="18" charset="0"/>
                <a:cs typeface="Times New Roman" pitchFamily="18" charset="0"/>
              </a:rPr>
              <a:t>– Deception crisis: </a:t>
            </a:r>
            <a:r>
              <a:rPr lang="en-US" sz="2000" dirty="0">
                <a:highlight>
                  <a:srgbClr val="FFFFFF"/>
                </a:highlight>
                <a:latin typeface="Times New Roman" pitchFamily="18" charset="0"/>
                <a:cs typeface="Times New Roman" pitchFamily="18" charset="0"/>
              </a:rPr>
              <a:t>occur due to lack of transparency from the management about certain information. </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a:t>
            </a:r>
            <a:r>
              <a:rPr lang="en-US" sz="2000" b="1" dirty="0">
                <a:highlight>
                  <a:srgbClr val="FFFFFF"/>
                </a:highlight>
                <a:latin typeface="Times New Roman" pitchFamily="18" charset="0"/>
                <a:cs typeface="Times New Roman" pitchFamily="18" charset="0"/>
              </a:rPr>
              <a:t>Workplace violence crisis</a:t>
            </a:r>
            <a:r>
              <a:rPr lang="en-US" sz="2000" b="1" u="sng" dirty="0">
                <a:highlight>
                  <a:srgbClr val="FFFFFF"/>
                </a:highlight>
                <a:latin typeface="Times New Roman" pitchFamily="18" charset="0"/>
                <a:cs typeface="Times New Roman" pitchFamily="18" charset="0"/>
              </a:rPr>
              <a:t>:</a:t>
            </a:r>
            <a:r>
              <a:rPr lang="en-US" sz="2000" dirty="0">
                <a:highlight>
                  <a:srgbClr val="FFFFFF"/>
                </a:highlight>
                <a:latin typeface="Times New Roman" pitchFamily="18" charset="0"/>
                <a:cs typeface="Times New Roman" pitchFamily="18" charset="0"/>
              </a:rPr>
              <a:t> occur when member commit violence to other members. </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a:t>
            </a:r>
            <a:r>
              <a:rPr lang="en-US" sz="2000" b="1" dirty="0">
                <a:highlight>
                  <a:srgbClr val="FFFFFF"/>
                </a:highlight>
                <a:latin typeface="Times New Roman" pitchFamily="18" charset="0"/>
                <a:cs typeface="Times New Roman" pitchFamily="18" charset="0"/>
              </a:rPr>
              <a:t>Skewed values crisis: </a:t>
            </a:r>
            <a:r>
              <a:rPr lang="en-US" sz="2000" dirty="0">
                <a:highlight>
                  <a:srgbClr val="FFFFFF"/>
                </a:highlight>
                <a:latin typeface="Times New Roman" pitchFamily="18" charset="0"/>
                <a:cs typeface="Times New Roman" pitchFamily="18" charset="0"/>
              </a:rPr>
              <a:t>occur when short- term gain is favored and values are neglected. </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a:t>
            </a:r>
            <a:r>
              <a:rPr lang="en-US" sz="2000" b="1" dirty="0">
                <a:highlight>
                  <a:srgbClr val="FFFFFF"/>
                </a:highlight>
                <a:latin typeface="Times New Roman" pitchFamily="18" charset="0"/>
                <a:cs typeface="Times New Roman" pitchFamily="18" charset="0"/>
              </a:rPr>
              <a:t>Rumors crisis: </a:t>
            </a:r>
            <a:r>
              <a:rPr lang="en-US" sz="2000" dirty="0">
                <a:highlight>
                  <a:srgbClr val="FFFFFF"/>
                </a:highlight>
                <a:latin typeface="Times New Roman" pitchFamily="18" charset="0"/>
                <a:cs typeface="Times New Roman" pitchFamily="18" charset="0"/>
              </a:rPr>
              <a:t>occur when false information about an organization and its product hurt the organization’s reputation.</a:t>
            </a:r>
          </a:p>
          <a:p>
            <a:pPr marL="0" indent="0" eaLnBrk="1" fontAlgn="auto" hangingPunct="1">
              <a:spcBef>
                <a:spcPts val="0"/>
              </a:spcBef>
              <a:spcAft>
                <a:spcPts val="0"/>
              </a:spcAft>
              <a:buFont typeface="Arial" pitchFamily="34" charset="0"/>
              <a:buNone/>
              <a:defRPr/>
            </a:pPr>
            <a:r>
              <a:rPr lang="en-US" sz="2000" b="1" u="sng" dirty="0">
                <a:highlight>
                  <a:srgbClr val="FFFFFF"/>
                </a:highlight>
                <a:latin typeface="Times New Roman" pitchFamily="18" charset="0"/>
                <a:cs typeface="Times New Roman" pitchFamily="18" charset="0"/>
              </a:rPr>
              <a:t>Second Stage is </a:t>
            </a:r>
            <a:r>
              <a:rPr lang="en-US" sz="2000" b="1" u="sng" dirty="0">
                <a:solidFill>
                  <a:srgbClr val="FF0000"/>
                </a:solidFill>
                <a:highlight>
                  <a:srgbClr val="FFFFFF"/>
                </a:highlight>
                <a:latin typeface="Times New Roman" pitchFamily="18" charset="0"/>
                <a:cs typeface="Times New Roman" pitchFamily="18" charset="0"/>
              </a:rPr>
              <a:t>PREPARING</a:t>
            </a:r>
            <a:r>
              <a:rPr lang="en-US" sz="2000" b="1" u="sng" dirty="0">
                <a:highlight>
                  <a:srgbClr val="FFFFFF"/>
                </a:highlight>
                <a:latin typeface="Times New Roman" pitchFamily="18" charset="0"/>
                <a:cs typeface="Times New Roman" pitchFamily="18" charset="0"/>
              </a:rPr>
              <a:t> for the crisis. </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Crisis preparation is done by:</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 </a:t>
            </a:r>
            <a:r>
              <a:rPr lang="en-US" sz="2000" b="1" dirty="0">
                <a:highlight>
                  <a:srgbClr val="FFFFFF"/>
                </a:highlight>
                <a:latin typeface="Times New Roman" pitchFamily="18" charset="0"/>
                <a:cs typeface="Times New Roman" pitchFamily="18" charset="0"/>
              </a:rPr>
              <a:t>Vulnerability Assessment</a:t>
            </a:r>
            <a:r>
              <a:rPr lang="en-US" sz="2000" dirty="0">
                <a:highlight>
                  <a:srgbClr val="FFFFFF"/>
                </a:highlight>
                <a:latin typeface="Times New Roman" pitchFamily="18" charset="0"/>
                <a:cs typeface="Times New Roman" pitchFamily="18" charset="0"/>
              </a:rPr>
              <a:t>: determine current and potential areas of operational and communications weakness. </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a:t>
            </a:r>
            <a:r>
              <a:rPr lang="en-US" sz="2000" b="1" dirty="0">
                <a:highlight>
                  <a:srgbClr val="FFFFFF"/>
                </a:highlight>
                <a:latin typeface="Times New Roman" pitchFamily="18" charset="0"/>
                <a:cs typeface="Times New Roman" pitchFamily="18" charset="0"/>
              </a:rPr>
              <a:t>Crisis Planning: </a:t>
            </a:r>
            <a:r>
              <a:rPr lang="en-US" sz="2000" dirty="0">
                <a:highlight>
                  <a:srgbClr val="FFFFFF"/>
                </a:highlight>
                <a:latin typeface="Times New Roman" pitchFamily="18" charset="0"/>
                <a:cs typeface="Times New Roman" pitchFamily="18" charset="0"/>
              </a:rPr>
              <a:t>are two types </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a:t>
            </a:r>
            <a:r>
              <a:rPr lang="en-US" sz="2000" b="1" u="sng" dirty="0">
                <a:highlight>
                  <a:srgbClr val="FFFFFF"/>
                </a:highlight>
                <a:latin typeface="Times New Roman" pitchFamily="18" charset="0"/>
                <a:cs typeface="Times New Roman" pitchFamily="18" charset="0"/>
              </a:rPr>
              <a:t>Operational : </a:t>
            </a:r>
            <a:r>
              <a:rPr lang="en-US" sz="2000" dirty="0">
                <a:highlight>
                  <a:srgbClr val="FFFFFF"/>
                </a:highlight>
                <a:latin typeface="Times New Roman" pitchFamily="18" charset="0"/>
                <a:cs typeface="Times New Roman" pitchFamily="18" charset="0"/>
              </a:rPr>
              <a:t>What we do, who does it, and when it is done.</a:t>
            </a:r>
          </a:p>
          <a:p>
            <a:pPr marL="0" indent="0" eaLnBrk="1" fontAlgn="auto" hangingPunct="1">
              <a:spcBef>
                <a:spcPts val="0"/>
              </a:spcBef>
              <a:spcAft>
                <a:spcPts val="0"/>
              </a:spcAft>
              <a:buFont typeface="Arial" pitchFamily="34" charset="0"/>
              <a:buNone/>
              <a:defRPr/>
            </a:pPr>
            <a:r>
              <a:rPr lang="en-US" sz="2000" dirty="0">
                <a:highlight>
                  <a:srgbClr val="FFFFFF"/>
                </a:highlight>
                <a:latin typeface="Times New Roman" pitchFamily="18" charset="0"/>
                <a:cs typeface="Times New Roman" pitchFamily="18" charset="0"/>
              </a:rPr>
              <a:t> • </a:t>
            </a:r>
            <a:r>
              <a:rPr lang="en-US" sz="2000" b="1" dirty="0">
                <a:highlight>
                  <a:srgbClr val="FFFFFF"/>
                </a:highlight>
                <a:latin typeface="Times New Roman" pitchFamily="18" charset="0"/>
                <a:cs typeface="Times New Roman" pitchFamily="18" charset="0"/>
              </a:rPr>
              <a:t>Communications:</a:t>
            </a:r>
            <a:r>
              <a:rPr lang="en-US" sz="2000" dirty="0">
                <a:highlight>
                  <a:srgbClr val="FFFFFF"/>
                </a:highlight>
                <a:latin typeface="Times New Roman" pitchFamily="18" charset="0"/>
                <a:cs typeface="Times New Roman" pitchFamily="18" charset="0"/>
              </a:rPr>
              <a:t> what do we say, who says it, how do we get the messages out. Preparation</a:t>
            </a:r>
          </a:p>
          <a:p>
            <a:pPr marL="0" indent="0" eaLnBrk="1" fontAlgn="auto" hangingPunct="1">
              <a:spcBef>
                <a:spcPts val="1200"/>
              </a:spcBef>
              <a:spcAft>
                <a:spcPts val="1200"/>
              </a:spcAft>
              <a:buFont typeface="Arial" pitchFamily="34" charset="0"/>
              <a:buNone/>
              <a:defRPr/>
            </a:pPr>
            <a:endParaRPr lang="en-US" sz="2000" dirty="0">
              <a:solidFill>
                <a:srgbClr val="3B3835"/>
              </a:solidFill>
              <a:highlight>
                <a:srgbClr val="FFFFFF"/>
              </a:highlight>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52400" y="76200"/>
            <a:ext cx="8839200" cy="304800"/>
          </a:xfrm>
        </p:spPr>
        <p:txBody>
          <a:bodyPr>
            <a:normAutofit fontScale="90000"/>
          </a:bodyPr>
          <a:lstStyle/>
          <a:p>
            <a:pPr eaLnBrk="1" hangingPunct="1"/>
            <a:r>
              <a:rPr lang="en-US" sz="3200" smtClean="0">
                <a:latin typeface="Times New Roman" pitchFamily="18" charset="0"/>
                <a:cs typeface="Times New Roman" pitchFamily="18" charset="0"/>
              </a:rPr>
              <a:t>Crisis Management Plan</a:t>
            </a:r>
          </a:p>
        </p:txBody>
      </p:sp>
      <p:sp>
        <p:nvSpPr>
          <p:cNvPr id="3" name="Content Placeholder 2"/>
          <p:cNvSpPr>
            <a:spLocks noGrp="1"/>
          </p:cNvSpPr>
          <p:nvPr>
            <p:ph idx="1"/>
          </p:nvPr>
        </p:nvSpPr>
        <p:spPr>
          <a:xfrm>
            <a:off x="152400" y="533400"/>
            <a:ext cx="8839200" cy="6172200"/>
          </a:xfrm>
        </p:spPr>
        <p:txBody>
          <a:bodyPr rtlCol="0">
            <a:normAutofit fontScale="92500" lnSpcReduction="20000"/>
          </a:bodyPr>
          <a:lstStyle/>
          <a:p>
            <a:pPr marL="0" indent="0" eaLnBrk="1" fontAlgn="auto" hangingPunct="1">
              <a:lnSpc>
                <a:spcPct val="160000"/>
              </a:lnSpc>
              <a:spcBef>
                <a:spcPts val="0"/>
              </a:spcBef>
              <a:spcAft>
                <a:spcPts val="0"/>
              </a:spcAft>
              <a:buFont typeface="Arial" pitchFamily="34" charset="0"/>
              <a:buNone/>
              <a:defRPr/>
            </a:pPr>
            <a:r>
              <a:rPr lang="en-US" sz="2200" b="1" u="sng" dirty="0">
                <a:highlight>
                  <a:srgbClr val="FFFFFF"/>
                </a:highlight>
                <a:latin typeface="Times New Roman" pitchFamily="18" charset="0"/>
                <a:cs typeface="Times New Roman" pitchFamily="18" charset="0"/>
              </a:rPr>
              <a:t>Third stage is </a:t>
            </a:r>
            <a:r>
              <a:rPr lang="en-US" sz="2200" b="1" u="sng" dirty="0">
                <a:solidFill>
                  <a:srgbClr val="FF0000"/>
                </a:solidFill>
                <a:highlight>
                  <a:srgbClr val="FFFFFF"/>
                </a:highlight>
                <a:latin typeface="Times New Roman" pitchFamily="18" charset="0"/>
                <a:cs typeface="Times New Roman" pitchFamily="18" charset="0"/>
              </a:rPr>
              <a:t>PREVENTING</a:t>
            </a:r>
            <a:r>
              <a:rPr lang="en-US" sz="2200" b="1" u="sng" dirty="0">
                <a:highlight>
                  <a:srgbClr val="FFFFFF"/>
                </a:highlight>
                <a:latin typeface="Times New Roman" pitchFamily="18" charset="0"/>
                <a:cs typeface="Times New Roman" pitchFamily="18" charset="0"/>
              </a:rPr>
              <a:t> the crisis from happening.</a:t>
            </a:r>
          </a:p>
          <a:p>
            <a:pPr marL="0" indent="0" eaLnBrk="1" fontAlgn="auto" hangingPunct="1">
              <a:lnSpc>
                <a:spcPct val="160000"/>
              </a:lnSpc>
              <a:spcBef>
                <a:spcPts val="0"/>
              </a:spcBef>
              <a:spcAft>
                <a:spcPts val="0"/>
              </a:spcAft>
              <a:buFont typeface="Arial" pitchFamily="34" charset="0"/>
              <a:buNone/>
              <a:defRPr/>
            </a:pPr>
            <a:r>
              <a:rPr lang="en-US" sz="2200" dirty="0">
                <a:highlight>
                  <a:srgbClr val="FFFFFF"/>
                </a:highlight>
                <a:latin typeface="Times New Roman" pitchFamily="18" charset="0"/>
                <a:cs typeface="Times New Roman" pitchFamily="18" charset="0"/>
              </a:rPr>
              <a:t> • Crisis Prevention is occurred by: </a:t>
            </a:r>
          </a:p>
          <a:p>
            <a:pPr marL="0" indent="0" eaLnBrk="1" fontAlgn="auto" hangingPunct="1">
              <a:lnSpc>
                <a:spcPct val="160000"/>
              </a:lnSpc>
              <a:spcBef>
                <a:spcPts val="0"/>
              </a:spcBef>
              <a:spcAft>
                <a:spcPts val="0"/>
              </a:spcAft>
              <a:buFont typeface="Arial" pitchFamily="34" charset="0"/>
              <a:buNone/>
              <a:defRPr/>
            </a:pPr>
            <a:r>
              <a:rPr lang="en-US" sz="2200" dirty="0">
                <a:highlight>
                  <a:srgbClr val="FFFFFF"/>
                </a:highlight>
                <a:latin typeface="Times New Roman" pitchFamily="18" charset="0"/>
                <a:cs typeface="Times New Roman" pitchFamily="18" charset="0"/>
              </a:rPr>
              <a:t>– Anticipate and Have a plan. </a:t>
            </a:r>
          </a:p>
          <a:p>
            <a:pPr marL="0" indent="0" eaLnBrk="1" fontAlgn="auto" hangingPunct="1">
              <a:lnSpc>
                <a:spcPct val="160000"/>
              </a:lnSpc>
              <a:spcBef>
                <a:spcPts val="0"/>
              </a:spcBef>
              <a:spcAft>
                <a:spcPts val="0"/>
              </a:spcAft>
              <a:buFont typeface="Arial" pitchFamily="34" charset="0"/>
              <a:buNone/>
              <a:defRPr/>
            </a:pPr>
            <a:r>
              <a:rPr lang="en-US" sz="2200" dirty="0">
                <a:highlight>
                  <a:srgbClr val="FFFFFF"/>
                </a:highlight>
                <a:latin typeface="Times New Roman" pitchFamily="18" charset="0"/>
                <a:cs typeface="Times New Roman" pitchFamily="18" charset="0"/>
              </a:rPr>
              <a:t>– Respond immediately. </a:t>
            </a:r>
          </a:p>
          <a:p>
            <a:pPr marL="0" indent="0" eaLnBrk="1" fontAlgn="auto" hangingPunct="1">
              <a:lnSpc>
                <a:spcPct val="160000"/>
              </a:lnSpc>
              <a:spcBef>
                <a:spcPts val="0"/>
              </a:spcBef>
              <a:spcAft>
                <a:spcPts val="0"/>
              </a:spcAft>
              <a:buFont typeface="Arial" pitchFamily="34" charset="0"/>
              <a:buNone/>
              <a:defRPr/>
            </a:pPr>
            <a:r>
              <a:rPr lang="en-US" sz="2200" dirty="0">
                <a:highlight>
                  <a:srgbClr val="FFFFFF"/>
                </a:highlight>
                <a:latin typeface="Times New Roman" pitchFamily="18" charset="0"/>
                <a:cs typeface="Times New Roman" pitchFamily="18" charset="0"/>
              </a:rPr>
              <a:t>– Do not over talk.</a:t>
            </a:r>
          </a:p>
          <a:p>
            <a:pPr marL="0" indent="0" eaLnBrk="1" fontAlgn="auto" hangingPunct="1">
              <a:lnSpc>
                <a:spcPct val="160000"/>
              </a:lnSpc>
              <a:spcBef>
                <a:spcPts val="0"/>
              </a:spcBef>
              <a:spcAft>
                <a:spcPts val="0"/>
              </a:spcAft>
              <a:buFont typeface="Arial" pitchFamily="34" charset="0"/>
              <a:buNone/>
              <a:defRPr/>
            </a:pPr>
            <a:r>
              <a:rPr lang="en-US" sz="2200" dirty="0">
                <a:highlight>
                  <a:srgbClr val="FFFFFF"/>
                </a:highlight>
                <a:latin typeface="Times New Roman" pitchFamily="18" charset="0"/>
                <a:cs typeface="Times New Roman" pitchFamily="18" charset="0"/>
              </a:rPr>
              <a:t> – Always tell the truth. </a:t>
            </a:r>
          </a:p>
          <a:p>
            <a:pPr marL="0" indent="0" eaLnBrk="1" fontAlgn="auto" hangingPunct="1">
              <a:lnSpc>
                <a:spcPct val="160000"/>
              </a:lnSpc>
              <a:spcBef>
                <a:spcPts val="0"/>
              </a:spcBef>
              <a:spcAft>
                <a:spcPts val="0"/>
              </a:spcAft>
              <a:buFont typeface="Arial" pitchFamily="34" charset="0"/>
              <a:buNone/>
              <a:defRPr/>
            </a:pPr>
            <a:r>
              <a:rPr lang="en-US" sz="2200" dirty="0">
                <a:highlight>
                  <a:srgbClr val="FFFFFF"/>
                </a:highlight>
                <a:latin typeface="Times New Roman" pitchFamily="18" charset="0"/>
                <a:cs typeface="Times New Roman" pitchFamily="18" charset="0"/>
              </a:rPr>
              <a:t>– Accept responsibility. Prevention</a:t>
            </a:r>
          </a:p>
          <a:p>
            <a:pPr marL="0" indent="0" eaLnBrk="1" fontAlgn="auto" hangingPunct="1">
              <a:lnSpc>
                <a:spcPct val="160000"/>
              </a:lnSpc>
              <a:spcBef>
                <a:spcPts val="0"/>
              </a:spcBef>
              <a:spcAft>
                <a:spcPts val="0"/>
              </a:spcAft>
              <a:buFont typeface="Arial" pitchFamily="34" charset="0"/>
              <a:buNone/>
              <a:defRPr/>
            </a:pPr>
            <a:r>
              <a:rPr lang="en-US" sz="2200" b="1" u="sng" dirty="0">
                <a:highlight>
                  <a:srgbClr val="FFFFFF"/>
                </a:highlight>
                <a:latin typeface="Times New Roman" pitchFamily="18" charset="0"/>
                <a:cs typeface="Times New Roman" pitchFamily="18" charset="0"/>
              </a:rPr>
              <a:t>Fourth stage is </a:t>
            </a:r>
            <a:r>
              <a:rPr lang="en-US" sz="2200" b="1" u="sng" dirty="0">
                <a:solidFill>
                  <a:srgbClr val="FF0000"/>
                </a:solidFill>
                <a:highlight>
                  <a:srgbClr val="FFFFFF"/>
                </a:highlight>
                <a:latin typeface="Times New Roman" pitchFamily="18" charset="0"/>
                <a:cs typeface="Times New Roman" pitchFamily="18" charset="0"/>
              </a:rPr>
              <a:t>RESPONDING</a:t>
            </a:r>
            <a:r>
              <a:rPr lang="en-US" sz="2200" b="1" u="sng" dirty="0">
                <a:highlight>
                  <a:srgbClr val="FFFFFF"/>
                </a:highlight>
                <a:latin typeface="Times New Roman" pitchFamily="18" charset="0"/>
                <a:cs typeface="Times New Roman" pitchFamily="18" charset="0"/>
              </a:rPr>
              <a:t> to the crisis</a:t>
            </a:r>
            <a:r>
              <a:rPr lang="en-US" sz="2200" u="sng" dirty="0">
                <a:highlight>
                  <a:srgbClr val="FFFFFF"/>
                </a:highlight>
                <a:latin typeface="Times New Roman" pitchFamily="18" charset="0"/>
                <a:cs typeface="Times New Roman" pitchFamily="18" charset="0"/>
              </a:rPr>
              <a:t>. </a:t>
            </a:r>
            <a:r>
              <a:rPr lang="en-US" sz="2200" dirty="0">
                <a:highlight>
                  <a:srgbClr val="FFFFFF"/>
                </a:highlight>
                <a:latin typeface="Times New Roman" pitchFamily="18" charset="0"/>
                <a:cs typeface="Times New Roman" pitchFamily="18" charset="0"/>
              </a:rPr>
              <a:t>• Effective crisis response includes: – Set of planning scenarios. – Set of response modules. – Preset activation protocols. – Clear communication channels. Response</a:t>
            </a:r>
          </a:p>
          <a:p>
            <a:pPr marL="0" indent="0" eaLnBrk="1" fontAlgn="auto" hangingPunct="1">
              <a:lnSpc>
                <a:spcPct val="160000"/>
              </a:lnSpc>
              <a:spcBef>
                <a:spcPts val="0"/>
              </a:spcBef>
              <a:spcAft>
                <a:spcPts val="0"/>
              </a:spcAft>
              <a:buFont typeface="Arial" pitchFamily="34" charset="0"/>
              <a:buNone/>
              <a:defRPr/>
            </a:pPr>
            <a:r>
              <a:rPr lang="en-US" sz="2200" b="1" u="sng" dirty="0">
                <a:highlight>
                  <a:srgbClr val="FFFFFF"/>
                </a:highlight>
                <a:latin typeface="Times New Roman" pitchFamily="18" charset="0"/>
                <a:cs typeface="Times New Roman" pitchFamily="18" charset="0"/>
              </a:rPr>
              <a:t>Fifth stage is </a:t>
            </a:r>
            <a:r>
              <a:rPr lang="en-US" sz="2200" b="1" u="sng" dirty="0">
                <a:solidFill>
                  <a:srgbClr val="FF0000"/>
                </a:solidFill>
                <a:highlight>
                  <a:srgbClr val="FFFFFF"/>
                </a:highlight>
                <a:latin typeface="Times New Roman" pitchFamily="18" charset="0"/>
                <a:cs typeface="Times New Roman" pitchFamily="18" charset="0"/>
              </a:rPr>
              <a:t>RECOVERING</a:t>
            </a:r>
            <a:r>
              <a:rPr lang="en-US" sz="2200" b="1" u="sng" dirty="0">
                <a:highlight>
                  <a:srgbClr val="FFFFFF"/>
                </a:highlight>
                <a:latin typeface="Times New Roman" pitchFamily="18" charset="0"/>
                <a:cs typeface="Times New Roman" pitchFamily="18" charset="0"/>
              </a:rPr>
              <a:t> from the crisis</a:t>
            </a:r>
            <a:r>
              <a:rPr lang="en-US" sz="2200" dirty="0">
                <a:highlight>
                  <a:srgbClr val="FFFFFF"/>
                </a:highlight>
                <a:latin typeface="Times New Roman" pitchFamily="18" charset="0"/>
                <a:cs typeface="Times New Roman" pitchFamily="18" charset="0"/>
              </a:rPr>
              <a:t>. • Organizations must be able to carry on with their business in the middle of the crisis. • while simultaneously planning for how they will recover from the damage the crisis caused. • Crisis handlers must engage in the recovery plan while perusing the goal. Recovery</a:t>
            </a:r>
          </a:p>
          <a:p>
            <a:pPr marL="0" indent="0" eaLnBrk="1" fontAlgn="auto" hangingPunct="1">
              <a:spcBef>
                <a:spcPts val="1200"/>
              </a:spcBef>
              <a:spcAft>
                <a:spcPts val="1200"/>
              </a:spcAft>
              <a:buFont typeface="Arial" pitchFamily="34" charset="0"/>
              <a:buNone/>
              <a:defRPr/>
            </a:pPr>
            <a:endParaRPr lang="en-US" sz="2000" dirty="0">
              <a:solidFill>
                <a:srgbClr val="3B3835"/>
              </a:solidFill>
              <a:highlight>
                <a:srgbClr val="FFFFFF"/>
              </a:highlight>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tx1"/>
                </a:solidFill>
              </a:rPr>
              <a:t>penetration testing</a:t>
            </a:r>
            <a:br>
              <a:rPr lang="en-US" b="1" dirty="0" smtClean="0">
                <a:solidFill>
                  <a:schemeClr val="tx1"/>
                </a:solidFill>
              </a:rPr>
            </a:b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tx1"/>
                </a:solidFill>
              </a:rPr>
              <a:t>vulnerability testing</a:t>
            </a:r>
            <a:br>
              <a:rPr lang="en-US" b="1" dirty="0" smtClean="0">
                <a:solidFill>
                  <a:schemeClr val="tx1"/>
                </a:solidFill>
              </a:rPr>
            </a:b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52400" y="76200"/>
            <a:ext cx="8839200" cy="304800"/>
          </a:xfrm>
        </p:spPr>
        <p:txBody>
          <a:bodyPr>
            <a:normAutofit fontScale="90000"/>
          </a:bodyPr>
          <a:lstStyle/>
          <a:p>
            <a:pPr eaLnBrk="1" hangingPunct="1"/>
            <a:r>
              <a:rPr lang="en-US" sz="3200" smtClean="0">
                <a:latin typeface="Times New Roman" pitchFamily="18" charset="0"/>
                <a:cs typeface="Times New Roman" pitchFamily="18" charset="0"/>
              </a:rPr>
              <a:t>Resources Recovery Strategy</a:t>
            </a:r>
          </a:p>
        </p:txBody>
      </p:sp>
      <p:sp>
        <p:nvSpPr>
          <p:cNvPr id="19459" name="Content Placeholder 2"/>
          <p:cNvSpPr>
            <a:spLocks noGrp="1"/>
          </p:cNvSpPr>
          <p:nvPr>
            <p:ph idx="1"/>
          </p:nvPr>
        </p:nvSpPr>
        <p:spPr>
          <a:xfrm>
            <a:off x="152400" y="457200"/>
            <a:ext cx="8839200" cy="6248400"/>
          </a:xfrm>
        </p:spPr>
        <p:txBody>
          <a:bodyPr>
            <a:normAutofit lnSpcReduction="10000"/>
          </a:bodyPr>
          <a:lstStyle/>
          <a:p>
            <a:pPr eaLnBrk="1" hangingPunct="1"/>
            <a:r>
              <a:rPr lang="en-US" sz="2000" smtClean="0">
                <a:latin typeface="Times New Roman" pitchFamily="18" charset="0"/>
                <a:cs typeface="Times New Roman" pitchFamily="18" charset="0"/>
              </a:rPr>
              <a:t>A cyber recovery system requires a cyber vault that is both physically and virtually isolated and functions as a data center. It is automated to control the gap between a disaster recovery system and a cyber recovery system by leaving the link open or closing it when necessary. </a:t>
            </a:r>
          </a:p>
          <a:p>
            <a:pPr eaLnBrk="1" hangingPunct="1"/>
            <a:r>
              <a:rPr lang="en-US" sz="2000" smtClean="0">
                <a:latin typeface="Times New Roman" pitchFamily="18" charset="0"/>
                <a:cs typeface="Times New Roman" pitchFamily="18" charset="0"/>
              </a:rPr>
              <a:t>The vault storage backup system is immutable, meaning that the data cannot be modified or compromised by crypto-locking, leaving it safe for you to restore once your network is clean.</a:t>
            </a:r>
          </a:p>
          <a:p>
            <a:pPr eaLnBrk="1" hangingPunct="1"/>
            <a:r>
              <a:rPr lang="en-US" sz="2000" smtClean="0">
                <a:latin typeface="Times New Roman" pitchFamily="18" charset="0"/>
                <a:cs typeface="Times New Roman" pitchFamily="18" charset="0"/>
              </a:rPr>
              <a:t>Cyber recovery planning can be complex – but it is crucial. Follow the five steps below to strengthen your cyber recovery strategy</a:t>
            </a:r>
            <a:r>
              <a:rPr lang="en-US" sz="2400" b="1" smtClean="0">
                <a:latin typeface="Times New Roman" pitchFamily="18" charset="0"/>
                <a:cs typeface="Times New Roman" pitchFamily="18" charset="0"/>
              </a:rPr>
              <a:t>:</a:t>
            </a:r>
            <a:endParaRPr lang="en-US" sz="2000" b="1" smtClean="0">
              <a:latin typeface="Times New Roman" pitchFamily="18" charset="0"/>
              <a:cs typeface="Times New Roman" pitchFamily="18" charset="0"/>
            </a:endParaRPr>
          </a:p>
          <a:p>
            <a:pPr eaLnBrk="1" hangingPunct="1">
              <a:buFont typeface="Arial" charset="0"/>
              <a:buNone/>
            </a:pPr>
            <a:r>
              <a:rPr lang="en-US" sz="2000" b="1" u="sng" smtClean="0">
                <a:latin typeface="Times New Roman" pitchFamily="18" charset="0"/>
                <a:cs typeface="Times New Roman" pitchFamily="18" charset="0"/>
              </a:rPr>
              <a:t>Go Beyond Disaster Recovery</a:t>
            </a:r>
          </a:p>
          <a:p>
            <a:pPr eaLnBrk="1" hangingPunct="1"/>
            <a:r>
              <a:rPr lang="en-US" sz="2000" smtClean="0">
                <a:latin typeface="Times New Roman" pitchFamily="18" charset="0"/>
                <a:cs typeface="Times New Roman" pitchFamily="18" charset="0"/>
              </a:rPr>
              <a:t>First, recognize that cyber recovery planning is a specialized scenario that most disaster recovery solutions do not adequately cover. Cyber recovery is needed in order to protect your most essential data, minimize the risk of service disruption, and help your business remain resilient if faced with an attack. </a:t>
            </a:r>
          </a:p>
          <a:p>
            <a:pPr eaLnBrk="1" hangingPunct="1">
              <a:buFont typeface="Arial" charset="0"/>
              <a:buNone/>
            </a:pPr>
            <a:r>
              <a:rPr lang="en-US" sz="2000" b="1" smtClean="0"/>
              <a:t>Prioritize Your Data</a:t>
            </a:r>
          </a:p>
          <a:p>
            <a:pPr eaLnBrk="1" hangingPunct="1"/>
            <a:r>
              <a:rPr lang="en-US" sz="2000" smtClean="0">
                <a:latin typeface="Times New Roman" pitchFamily="18" charset="0"/>
                <a:cs typeface="Times New Roman" pitchFamily="18" charset="0"/>
              </a:rPr>
              <a:t>Understanding what data needs protecting is a critical step, as it will determine how much space and time will be needed for the solution, which drives a lot of the cost. When prioritizing the data, businesses must also consider on-premises and public cloud data</a:t>
            </a:r>
            <a:r>
              <a:rPr lang="en-US" sz="2000" smtClean="0"/>
              <a:t>.  </a:t>
            </a: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52400" y="0"/>
            <a:ext cx="8839200" cy="304800"/>
          </a:xfrm>
        </p:spPr>
        <p:txBody>
          <a:bodyPr>
            <a:normAutofit fontScale="90000"/>
          </a:bodyPr>
          <a:lstStyle/>
          <a:p>
            <a:pPr eaLnBrk="1" hangingPunct="1"/>
            <a:r>
              <a:rPr lang="en-US" sz="3200" smtClean="0">
                <a:latin typeface="Times New Roman" pitchFamily="18" charset="0"/>
                <a:cs typeface="Times New Roman" pitchFamily="18" charset="0"/>
              </a:rPr>
              <a:t>Resources Recovery Strategy</a:t>
            </a:r>
          </a:p>
        </p:txBody>
      </p:sp>
      <p:sp>
        <p:nvSpPr>
          <p:cNvPr id="20483" name="Content Placeholder 2"/>
          <p:cNvSpPr>
            <a:spLocks noGrp="1"/>
          </p:cNvSpPr>
          <p:nvPr>
            <p:ph idx="1"/>
          </p:nvPr>
        </p:nvSpPr>
        <p:spPr>
          <a:xfrm>
            <a:off x="152400" y="381000"/>
            <a:ext cx="8839200" cy="6477000"/>
          </a:xfrm>
        </p:spPr>
        <p:txBody>
          <a:bodyPr>
            <a:normAutofit lnSpcReduction="10000"/>
          </a:bodyPr>
          <a:lstStyle/>
          <a:p>
            <a:pPr eaLnBrk="1" hangingPunct="1">
              <a:buFont typeface="Arial" charset="0"/>
              <a:buNone/>
            </a:pPr>
            <a:r>
              <a:rPr lang="en-US" sz="2000" b="1" u="sng" smtClean="0">
                <a:latin typeface="Times New Roman" pitchFamily="18" charset="0"/>
                <a:cs typeface="Times New Roman" pitchFamily="18" charset="0"/>
              </a:rPr>
              <a:t>Leverage Air-Gapped Cyber Recovery Vaults and Immutable Copies</a:t>
            </a:r>
          </a:p>
          <a:p>
            <a:pPr eaLnBrk="1" hangingPunct="1"/>
            <a:r>
              <a:rPr lang="en-US" sz="2000" smtClean="0">
                <a:latin typeface="Times New Roman" pitchFamily="18" charset="0"/>
                <a:cs typeface="Times New Roman" pitchFamily="18" charset="0"/>
              </a:rPr>
              <a:t>An air-gapped and secure cyber recovery vault provides both physical and logical isolation of critical data, ensuring that cyber criminals cannot get to “known good” copies. An immutable copy ensures no changes can be made to the data. The air-gapped environment can be used to run integrity checks on the data and can be used as an isolated recovery environment (IRE).</a:t>
            </a:r>
          </a:p>
          <a:p>
            <a:pPr eaLnBrk="1" hangingPunct="1">
              <a:buFont typeface="Arial" charset="0"/>
              <a:buNone/>
            </a:pPr>
            <a:r>
              <a:rPr lang="en-US" sz="2000" b="1" u="sng" smtClean="0">
                <a:latin typeface="Times New Roman" pitchFamily="18" charset="0"/>
                <a:cs typeface="Times New Roman" pitchFamily="18" charset="0"/>
              </a:rPr>
              <a:t>Restore Your Data Efficiently</a:t>
            </a:r>
          </a:p>
          <a:p>
            <a:pPr eaLnBrk="1" hangingPunct="1"/>
            <a:r>
              <a:rPr lang="en-US" sz="2000" smtClean="0">
                <a:latin typeface="Times New Roman" pitchFamily="18" charset="0"/>
                <a:cs typeface="Times New Roman" pitchFamily="18" charset="0"/>
              </a:rPr>
              <a:t>Not all cyber recovery solutions support the same recovery paths. Some support recovering back to your on-premises environment, while others support recovery to a public cloud. A cyber recovery vault enabled for multi-cloud recovery allows you to choose from infinite resources, from across public clouds, for immediate restoration of your data</a:t>
            </a:r>
          </a:p>
          <a:p>
            <a:pPr eaLnBrk="1" hangingPunct="1">
              <a:buFont typeface="Arial" charset="0"/>
              <a:buNone/>
            </a:pPr>
            <a:r>
              <a:rPr lang="en-US" sz="2000" b="1" u="sng" smtClean="0">
                <a:latin typeface="Times New Roman" pitchFamily="18" charset="0"/>
                <a:cs typeface="Times New Roman" pitchFamily="18" charset="0"/>
              </a:rPr>
              <a:t>Remember That You’re Not Alone</a:t>
            </a:r>
          </a:p>
          <a:p>
            <a:pPr eaLnBrk="1" hangingPunct="1"/>
            <a:r>
              <a:rPr lang="en-US" sz="2000" smtClean="0">
                <a:latin typeface="Times New Roman" pitchFamily="18" charset="0"/>
                <a:cs typeface="Times New Roman" pitchFamily="18" charset="0"/>
              </a:rPr>
              <a:t>As cyber recovery strategies become a standard, a growing number of valuable resources can help your organization. For example, the NIST Cybersecurity Framework provides guidance about identifying data, protecting it, detecting risks, responding to an attack, and recovering from it. Similarly, analyst firm Gartner’s </a:t>
            </a:r>
            <a:r>
              <a:rPr lang="en-US" sz="2000" i="1" smtClean="0">
                <a:latin typeface="Times New Roman" pitchFamily="18" charset="0"/>
                <a:cs typeface="Times New Roman" pitchFamily="18" charset="0"/>
              </a:rPr>
              <a:t>How to Prepare for Ransomware Attacks</a:t>
            </a:r>
            <a:r>
              <a:rPr lang="en-US" sz="2000" smtClean="0">
                <a:latin typeface="Times New Roman" pitchFamily="18" charset="0"/>
                <a:cs typeface="Times New Roman" pitchFamily="18" charset="0"/>
              </a:rPr>
              <a:t> provides steps for pre- and post-incident care </a:t>
            </a:r>
            <a:r>
              <a:rPr lang="en-US" sz="2000" smtClean="0"/>
              <a:t>to help guard against the financial and reputational impacts of an attack.</a:t>
            </a: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52400" y="76200"/>
            <a:ext cx="8915400" cy="350838"/>
          </a:xfrm>
        </p:spPr>
        <p:txBody>
          <a:bodyPr>
            <a:normAutofit fontScale="90000"/>
          </a:bodyPr>
          <a:lstStyle/>
          <a:p>
            <a:pPr eaLnBrk="1" hangingPunct="1"/>
            <a:r>
              <a:rPr lang="en-US" sz="3200" smtClean="0">
                <a:latin typeface="Times New Roman" pitchFamily="18" charset="0"/>
                <a:cs typeface="Times New Roman" pitchFamily="18" charset="0"/>
              </a:rPr>
              <a:t>Resources Recovery Strategy</a:t>
            </a:r>
            <a:endParaRPr lang="en-US" sz="3200" smtClean="0"/>
          </a:p>
        </p:txBody>
      </p:sp>
      <p:sp>
        <p:nvSpPr>
          <p:cNvPr id="21507" name="Content Placeholder 2"/>
          <p:cNvSpPr>
            <a:spLocks noGrp="1"/>
          </p:cNvSpPr>
          <p:nvPr>
            <p:ph idx="1"/>
          </p:nvPr>
        </p:nvSpPr>
        <p:spPr>
          <a:xfrm>
            <a:off x="152400" y="533400"/>
            <a:ext cx="8839200" cy="6019800"/>
          </a:xfrm>
        </p:spPr>
        <p:txBody>
          <a:bodyPr/>
          <a:lstStyle/>
          <a:p>
            <a:pPr eaLnBrk="1" hangingPunct="1"/>
            <a:r>
              <a:rPr lang="en-US" sz="2000" smtClean="0">
                <a:latin typeface="Times New Roman" pitchFamily="18" charset="0"/>
                <a:cs typeface="Times New Roman" pitchFamily="18" charset="0"/>
              </a:rPr>
              <a:t>Cyber attacks can be devastating for a business big and small. The latest data breach report by IBM indicates that the average cost of a data breach in 2021 rose to the incredible figure of $4.24 million per incident, the highest average cost in the history of this report.</a:t>
            </a:r>
          </a:p>
          <a:p>
            <a:pPr eaLnBrk="1" hangingPunct="1">
              <a:buFont typeface="Arial" charset="0"/>
              <a:buNone/>
            </a:pPr>
            <a:r>
              <a:rPr lang="en-US" sz="2000" b="1" smtClean="0">
                <a:latin typeface="Times New Roman" pitchFamily="18" charset="0"/>
                <a:cs typeface="Times New Roman" pitchFamily="18" charset="0"/>
              </a:rPr>
              <a:t>Elements of a Cyber security Disaster Recovery Plan</a:t>
            </a:r>
          </a:p>
          <a:p>
            <a:pPr eaLnBrk="1" hangingPunct="1"/>
            <a:r>
              <a:rPr lang="en-US" sz="2000" smtClean="0">
                <a:latin typeface="Times New Roman" pitchFamily="18" charset="0"/>
                <a:cs typeface="Times New Roman" pitchFamily="18" charset="0"/>
              </a:rPr>
              <a:t>Before you begin the necessary steps for creating a disaster recovery plan, you need to consider what elements you need to include in order for it to be most successful. Keep in mind that the end goal of your cybersecurity disaster recovery plan is to make sure that your IT infrastructure is functional and secure.</a:t>
            </a:r>
          </a:p>
          <a:p>
            <a:pPr eaLnBrk="1" hangingPunct="1">
              <a:buFont typeface="Arial" charset="0"/>
              <a:buNone/>
            </a:pPr>
            <a:r>
              <a:rPr lang="en-US" sz="2000" smtClean="0">
                <a:latin typeface="Times New Roman" pitchFamily="18" charset="0"/>
                <a:cs typeface="Times New Roman" pitchFamily="18" charset="0"/>
              </a:rPr>
              <a:t>At a minimum, your DRP should include the following elements:</a:t>
            </a:r>
          </a:p>
          <a:p>
            <a:pPr eaLnBrk="1" hangingPunct="1"/>
            <a:r>
              <a:rPr lang="en-US" sz="2000" smtClean="0">
                <a:latin typeface="Times New Roman" pitchFamily="18" charset="0"/>
                <a:cs typeface="Times New Roman" pitchFamily="18" charset="0"/>
              </a:rPr>
              <a:t>A clear owner</a:t>
            </a:r>
          </a:p>
          <a:p>
            <a:pPr eaLnBrk="1" hangingPunct="1"/>
            <a:r>
              <a:rPr lang="en-US" sz="2000" smtClean="0">
                <a:latin typeface="Times New Roman" pitchFamily="18" charset="0"/>
                <a:cs typeface="Times New Roman" pitchFamily="18" charset="0"/>
              </a:rPr>
              <a:t>Involvement from members throughout your organization</a:t>
            </a:r>
          </a:p>
          <a:p>
            <a:pPr eaLnBrk="1" hangingPunct="1"/>
            <a:r>
              <a:rPr lang="en-US" sz="2000" smtClean="0">
                <a:latin typeface="Times New Roman" pitchFamily="18" charset="0"/>
                <a:cs typeface="Times New Roman" pitchFamily="18" charset="0"/>
              </a:rPr>
              <a:t>Clear paths for communication</a:t>
            </a:r>
          </a:p>
          <a:p>
            <a:pPr eaLnBrk="1" hangingPunct="1"/>
            <a:r>
              <a:rPr lang="en-US" sz="2000" smtClean="0">
                <a:latin typeface="Times New Roman" pitchFamily="18" charset="0"/>
                <a:cs typeface="Times New Roman" pitchFamily="18" charset="0"/>
              </a:rPr>
              <a:t>Simple methods for execution</a:t>
            </a:r>
          </a:p>
          <a:p>
            <a:pPr eaLnBrk="1" hangingPunct="1"/>
            <a:r>
              <a:rPr lang="en-US" sz="2000" smtClean="0">
                <a:latin typeface="Times New Roman" pitchFamily="18" charset="0"/>
                <a:cs typeface="Times New Roman" pitchFamily="18" charset="0"/>
              </a:rPr>
              <a:t>A comprehensive, multi-layered approach</a:t>
            </a:r>
          </a:p>
          <a:p>
            <a:pPr eaLnBrk="1" hangingPunct="1"/>
            <a:r>
              <a:rPr lang="en-US" sz="2000" smtClean="0">
                <a:latin typeface="Times New Roman" pitchFamily="18" charset="0"/>
                <a:cs typeface="Times New Roman" pitchFamily="18" charset="0"/>
              </a:rPr>
              <a:t>Regular practice and continuous updates</a:t>
            </a: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a:p>
            <a:pPr eaLnBrk="1" hangingPunct="1"/>
            <a:endParaRPr lang="en-US" sz="20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Security Testing</a:t>
            </a:r>
          </a:p>
        </p:txBody>
      </p:sp>
      <p:sp>
        <p:nvSpPr>
          <p:cNvPr id="22531" name="Content Placeholder 2"/>
          <p:cNvSpPr>
            <a:spLocks noGrp="1"/>
          </p:cNvSpPr>
          <p:nvPr>
            <p:ph idx="1"/>
          </p:nvPr>
        </p:nvSpPr>
        <p:spPr>
          <a:xfrm>
            <a:off x="152400" y="685800"/>
            <a:ext cx="8839200" cy="6019800"/>
          </a:xfrm>
        </p:spPr>
        <p:txBody>
          <a:bodyPr/>
          <a:lstStyle/>
          <a:p>
            <a:pPr marL="0" indent="0" eaLnBrk="1" hangingPunct="1">
              <a:buFont typeface="Arial" charset="0"/>
              <a:buNone/>
            </a:pPr>
            <a:r>
              <a:rPr lang="en-US" sz="2000" b="1" u="sng" smtClean="0">
                <a:latin typeface="Times New Roman" pitchFamily="18" charset="0"/>
                <a:cs typeface="Times New Roman" pitchFamily="18" charset="0"/>
              </a:rPr>
              <a:t>What is Security Testing?</a:t>
            </a:r>
          </a:p>
          <a:p>
            <a:pPr marL="0" indent="0" eaLnBrk="1" hangingPunct="1">
              <a:buFont typeface="Arial" charset="0"/>
              <a:buNone/>
            </a:pPr>
            <a:r>
              <a:rPr lang="en-US" sz="2000" smtClean="0">
                <a:latin typeface="Times New Roman" pitchFamily="18" charset="0"/>
                <a:cs typeface="Times New Roman" pitchFamily="18" charset="0"/>
              </a:rPr>
              <a:t>	Security Testing is a type of Software Testing that uncovers vulnerabilities, threats, risks in a software application and prevents malicious attacks from intruders. The purpose of Security Tests is to identify all possible </a:t>
            </a:r>
            <a:r>
              <a:rPr lang="en-US" sz="2000" smtClean="0">
                <a:solidFill>
                  <a:srgbClr val="FF0000"/>
                </a:solidFill>
                <a:latin typeface="Times New Roman" pitchFamily="18" charset="0"/>
                <a:cs typeface="Times New Roman" pitchFamily="18" charset="0"/>
              </a:rPr>
              <a:t>loopholes</a:t>
            </a:r>
            <a:r>
              <a:rPr lang="en-US" sz="2000" smtClean="0">
                <a:latin typeface="Times New Roman" pitchFamily="18" charset="0"/>
                <a:cs typeface="Times New Roman" pitchFamily="18" charset="0"/>
              </a:rPr>
              <a:t> and </a:t>
            </a:r>
            <a:r>
              <a:rPr lang="en-US" sz="2000" smtClean="0">
                <a:solidFill>
                  <a:srgbClr val="FF0000"/>
                </a:solidFill>
                <a:latin typeface="Times New Roman" pitchFamily="18" charset="0"/>
                <a:cs typeface="Times New Roman" pitchFamily="18" charset="0"/>
              </a:rPr>
              <a:t>weaknesses</a:t>
            </a:r>
            <a:r>
              <a:rPr lang="en-US" sz="2000" smtClean="0">
                <a:latin typeface="Times New Roman" pitchFamily="18" charset="0"/>
                <a:cs typeface="Times New Roman" pitchFamily="18" charset="0"/>
              </a:rPr>
              <a:t> of the software system which might result in a loss of information, revenue, repute at the hands of the employees or outsiders of the Organization.</a:t>
            </a:r>
          </a:p>
          <a:p>
            <a:pPr marL="0" indent="0" eaLnBrk="1" hangingPunct="1">
              <a:buFont typeface="Arial" charset="0"/>
              <a:buNone/>
            </a:pPr>
            <a:r>
              <a:rPr lang="en-US" sz="2000" b="1" u="sng" smtClean="0">
                <a:latin typeface="Times New Roman" pitchFamily="18" charset="0"/>
                <a:cs typeface="Times New Roman" pitchFamily="18" charset="0"/>
              </a:rPr>
              <a:t>Why Security Testing is Important? </a:t>
            </a:r>
          </a:p>
          <a:p>
            <a:pPr marL="0" indent="0" eaLnBrk="1" hangingPunct="1">
              <a:buFont typeface="Arial" charset="0"/>
              <a:buNone/>
            </a:pPr>
            <a:r>
              <a:rPr lang="en-US" sz="2000" smtClean="0">
                <a:latin typeface="Times New Roman" pitchFamily="18" charset="0"/>
                <a:cs typeface="Times New Roman" pitchFamily="18" charset="0"/>
              </a:rPr>
              <a:t>	The main goal of Security Testing is to identify the threats in the system and measure its potential vulnerabilities, so the threats can be encountered and the system does not stop functioning or can not be exploited. It also helps in detecting all possible security risks in the system and helps developers to fix the problems through coding.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Security Testing</a:t>
            </a:r>
          </a:p>
        </p:txBody>
      </p:sp>
      <p:sp>
        <p:nvSpPr>
          <p:cNvPr id="3" name="Content Placeholder 2"/>
          <p:cNvSpPr>
            <a:spLocks noGrp="1"/>
          </p:cNvSpPr>
          <p:nvPr>
            <p:ph idx="1"/>
          </p:nvPr>
        </p:nvSpPr>
        <p:spPr>
          <a:xfrm>
            <a:off x="152400" y="685800"/>
            <a:ext cx="8839200" cy="6019800"/>
          </a:xfrm>
        </p:spPr>
        <p:txBody>
          <a:bodyPr rtlCol="0">
            <a:normAutofit lnSpcReduction="10000"/>
          </a:bodyPr>
          <a:lstStyle/>
          <a:p>
            <a:pPr marL="0" indent="0" eaLnBrk="1" fontAlgn="auto" hangingPunct="1">
              <a:spcAft>
                <a:spcPts val="0"/>
              </a:spcAft>
              <a:buFont typeface="Arial" pitchFamily="34" charset="0"/>
              <a:buNone/>
              <a:defRPr/>
            </a:pPr>
            <a:r>
              <a:rPr lang="en-US" sz="2000" b="1" dirty="0">
                <a:latin typeface="Times New Roman" pitchFamily="18" charset="0"/>
                <a:cs typeface="Times New Roman" pitchFamily="18" charset="0"/>
              </a:rPr>
              <a:t>Types of Security Testing: </a:t>
            </a:r>
            <a:endParaRPr lang="en-US" sz="2000" b="1"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1.Vulnerability </a:t>
            </a:r>
            <a:r>
              <a:rPr lang="en-US" sz="2000" b="1" u="sng" dirty="0">
                <a:latin typeface="Times New Roman" pitchFamily="18" charset="0"/>
                <a:cs typeface="Times New Roman" pitchFamily="18" charset="0"/>
              </a:rPr>
              <a:t>Scanning: </a:t>
            </a:r>
            <a:r>
              <a:rPr lang="en-US" sz="2000" dirty="0">
                <a:latin typeface="Times New Roman" pitchFamily="18" charset="0"/>
                <a:cs typeface="Times New Roman" pitchFamily="18" charset="0"/>
              </a:rPr>
              <a:t>This is done through automated software to scan a system against known vulnerability signatures.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2.Security </a:t>
            </a:r>
            <a:r>
              <a:rPr lang="en-US" sz="2000" b="1" u="sng" dirty="0">
                <a:latin typeface="Times New Roman" pitchFamily="18" charset="0"/>
                <a:cs typeface="Times New Roman" pitchFamily="18" charset="0"/>
              </a:rPr>
              <a:t>Scanning</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It involves identifying network and system weaknesses, and later provides solutions for reducing these risks. This scanning can be performed for both Manual and Automated scanning.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3.Penetration </a:t>
            </a:r>
            <a:r>
              <a:rPr lang="en-US" sz="2000" b="1" u="sng" dirty="0">
                <a:latin typeface="Times New Roman" pitchFamily="18" charset="0"/>
                <a:cs typeface="Times New Roman" pitchFamily="18" charset="0"/>
              </a:rPr>
              <a:t>testing</a:t>
            </a:r>
            <a:r>
              <a:rPr lang="en-US" sz="2000" dirty="0">
                <a:latin typeface="Times New Roman" pitchFamily="18" charset="0"/>
                <a:cs typeface="Times New Roman" pitchFamily="18" charset="0"/>
              </a:rPr>
              <a:t>: This kind of testing simulates an attack from a malicious hacker. This testing involves analysis of a particular system to check for potential vulnerabilities to an external hacking attempt.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4.Risk </a:t>
            </a:r>
            <a:r>
              <a:rPr lang="en-US" sz="2000" b="1" u="sng" dirty="0">
                <a:latin typeface="Times New Roman" pitchFamily="18" charset="0"/>
                <a:cs typeface="Times New Roman" pitchFamily="18" charset="0"/>
              </a:rPr>
              <a:t>Assessment</a:t>
            </a:r>
            <a:r>
              <a:rPr lang="en-US" sz="2000" dirty="0">
                <a:latin typeface="Times New Roman" pitchFamily="18" charset="0"/>
                <a:cs typeface="Times New Roman" pitchFamily="18" charset="0"/>
              </a:rPr>
              <a:t>: This testing involves analysis of security risks observed in the organization. Risks are classified as Low, Medium and High. This testing recommends controls and measures to reduce the risk</a:t>
            </a:r>
            <a:r>
              <a:rPr lang="en-US" sz="2000"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 </a:t>
            </a:r>
            <a:r>
              <a:rPr lang="en-US" sz="2000" b="1" u="sng" dirty="0">
                <a:latin typeface="Times New Roman" pitchFamily="18" charset="0"/>
                <a:cs typeface="Times New Roman" pitchFamily="18" charset="0"/>
              </a:rPr>
              <a:t>5.Security Auditing</a:t>
            </a:r>
            <a:r>
              <a:rPr lang="en-US" sz="2000" dirty="0">
                <a:latin typeface="Times New Roman" pitchFamily="18" charset="0"/>
                <a:cs typeface="Times New Roman" pitchFamily="18" charset="0"/>
              </a:rPr>
              <a:t>: This is an internal inspection of Applications and Operating systems for security flaws. An audit can also be done via line by line inspection of code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6.Ethical </a:t>
            </a:r>
            <a:r>
              <a:rPr lang="en-US" sz="2000" b="1" u="sng" dirty="0">
                <a:latin typeface="Times New Roman" pitchFamily="18" charset="0"/>
                <a:cs typeface="Times New Roman" pitchFamily="18" charset="0"/>
              </a:rPr>
              <a:t>hacking:</a:t>
            </a:r>
            <a:r>
              <a:rPr lang="en-US" sz="2000" dirty="0">
                <a:latin typeface="Times New Roman" pitchFamily="18" charset="0"/>
                <a:cs typeface="Times New Roman" pitchFamily="18" charset="0"/>
              </a:rPr>
              <a:t> It’s hacking an Organization Software systems. Unlike malicious hackers, who steal for their own gains, the intent is to expose security flaws in the system.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7.Posture </a:t>
            </a:r>
            <a:r>
              <a:rPr lang="en-US" sz="2000" b="1" u="sng" dirty="0">
                <a:latin typeface="Times New Roman" pitchFamily="18" charset="0"/>
                <a:cs typeface="Times New Roman" pitchFamily="18" charset="0"/>
              </a:rPr>
              <a:t>Assessment: </a:t>
            </a:r>
            <a:r>
              <a:rPr lang="en-US" sz="2000" dirty="0">
                <a:latin typeface="Times New Roman" pitchFamily="18" charset="0"/>
                <a:cs typeface="Times New Roman" pitchFamily="18" charset="0"/>
              </a:rPr>
              <a:t>This combines Security scanning, Ethical Hacking and Risk Assessments to show an overall security posture of an organization.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Security Testing</a:t>
            </a:r>
          </a:p>
        </p:txBody>
      </p:sp>
      <p:sp>
        <p:nvSpPr>
          <p:cNvPr id="3" name="Content Placeholder 2"/>
          <p:cNvSpPr>
            <a:spLocks noGrp="1"/>
          </p:cNvSpPr>
          <p:nvPr>
            <p:ph idx="1"/>
          </p:nvPr>
        </p:nvSpPr>
        <p:spPr>
          <a:xfrm>
            <a:off x="152400" y="685800"/>
            <a:ext cx="8839200" cy="6019800"/>
          </a:xfrm>
        </p:spPr>
        <p:txBody>
          <a:bodyPr rtlCol="0">
            <a:normAutofit/>
          </a:bodyPr>
          <a:lstStyle/>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Example </a:t>
            </a:r>
            <a:r>
              <a:rPr lang="en-US" sz="2000" dirty="0">
                <a:latin typeface="Times New Roman" pitchFamily="18" charset="0"/>
                <a:cs typeface="Times New Roman" pitchFamily="18" charset="0"/>
              </a:rPr>
              <a:t>Test Scenarios for Security Testing: Sample Test scenarios to give you a glimpse of security test cases –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password should be in encrypted format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Application </a:t>
            </a:r>
            <a:r>
              <a:rPr lang="en-US" sz="2000" dirty="0">
                <a:latin typeface="Times New Roman" pitchFamily="18" charset="0"/>
                <a:cs typeface="Times New Roman" pitchFamily="18" charset="0"/>
              </a:rPr>
              <a:t>or System should not allow invalid users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Check </a:t>
            </a:r>
            <a:r>
              <a:rPr lang="en-US" sz="2000" dirty="0">
                <a:latin typeface="Times New Roman" pitchFamily="18" charset="0"/>
                <a:cs typeface="Times New Roman" pitchFamily="18" charset="0"/>
              </a:rPr>
              <a:t>cookies and session time for application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For </a:t>
            </a:r>
            <a:r>
              <a:rPr lang="en-US" sz="2000" dirty="0">
                <a:latin typeface="Times New Roman" pitchFamily="18" charset="0"/>
                <a:cs typeface="Times New Roman" pitchFamily="18" charset="0"/>
              </a:rPr>
              <a:t>financial sites, the Browser back button should not work</a:t>
            </a:r>
            <a:r>
              <a:rPr lang="en-US" sz="2000"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 Methodologies</a:t>
            </a:r>
            <a:r>
              <a:rPr lang="en-US" sz="2000" b="1" u="sng" dirty="0">
                <a:latin typeface="Times New Roman" pitchFamily="18" charset="0"/>
                <a:cs typeface="Times New Roman" pitchFamily="18" charset="0"/>
              </a:rPr>
              <a:t>/ Approach / Techniques for Security Testing </a:t>
            </a:r>
            <a:endParaRPr lang="en-US" sz="2000" b="1" u="sng"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security testing, different methodologies are followed, and they are as follows: </a:t>
            </a:r>
            <a:r>
              <a:rPr lang="en-US" sz="2000" b="1" u="sng" dirty="0" smtClean="0">
                <a:latin typeface="Times New Roman" pitchFamily="18" charset="0"/>
                <a:cs typeface="Times New Roman" pitchFamily="18" charset="0"/>
              </a:rPr>
              <a:t>Tiger </a:t>
            </a:r>
            <a:r>
              <a:rPr lang="en-US" sz="2000" b="1" u="sng" dirty="0">
                <a:latin typeface="Times New Roman" pitchFamily="18" charset="0"/>
                <a:cs typeface="Times New Roman" pitchFamily="18" charset="0"/>
              </a:rPr>
              <a:t>Box: </a:t>
            </a:r>
            <a:r>
              <a:rPr lang="en-US" sz="2000" dirty="0">
                <a:latin typeface="Times New Roman" pitchFamily="18" charset="0"/>
                <a:cs typeface="Times New Roman" pitchFamily="18" charset="0"/>
              </a:rPr>
              <a:t>This hacking is usually done on a laptop which has a collection of OSs and hacking tools. This testing helps penetration testers and security testers to conduct vulnerabilities assessment and attacks.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Black </a:t>
            </a:r>
            <a:r>
              <a:rPr lang="en-US" sz="2000" b="1" u="sng" dirty="0">
                <a:latin typeface="Times New Roman" pitchFamily="18" charset="0"/>
                <a:cs typeface="Times New Roman" pitchFamily="18" charset="0"/>
              </a:rPr>
              <a:t>Box: </a:t>
            </a:r>
            <a:r>
              <a:rPr lang="en-US" sz="2000" dirty="0">
                <a:latin typeface="Times New Roman" pitchFamily="18" charset="0"/>
                <a:cs typeface="Times New Roman" pitchFamily="18" charset="0"/>
              </a:rPr>
              <a:t>Tester is authorized to do testing on everything about the network topology and the technology.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b="1" u="sng" dirty="0" smtClean="0">
                <a:latin typeface="Times New Roman" pitchFamily="18" charset="0"/>
                <a:cs typeface="Times New Roman" pitchFamily="18" charset="0"/>
              </a:rPr>
              <a:t>Grey </a:t>
            </a:r>
            <a:r>
              <a:rPr lang="en-US" sz="2000" b="1" u="sng" dirty="0">
                <a:latin typeface="Times New Roman" pitchFamily="18" charset="0"/>
                <a:cs typeface="Times New Roman" pitchFamily="18" charset="0"/>
              </a:rPr>
              <a:t>Box: </a:t>
            </a:r>
            <a:r>
              <a:rPr lang="en-US" sz="2000" dirty="0">
                <a:latin typeface="Times New Roman" pitchFamily="18" charset="0"/>
                <a:cs typeface="Times New Roman" pitchFamily="18" charset="0"/>
              </a:rPr>
              <a:t>Partial information is given to the tester about the system, and it is a hybrid of white and black box models.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Security Testing</a:t>
            </a:r>
          </a:p>
        </p:txBody>
      </p:sp>
      <p:sp>
        <p:nvSpPr>
          <p:cNvPr id="3" name="Content Placeholder 2"/>
          <p:cNvSpPr>
            <a:spLocks noGrp="1"/>
          </p:cNvSpPr>
          <p:nvPr>
            <p:ph idx="1"/>
          </p:nvPr>
        </p:nvSpPr>
        <p:spPr>
          <a:xfrm>
            <a:off x="76200" y="533400"/>
            <a:ext cx="8991600" cy="6248400"/>
          </a:xfrm>
        </p:spPr>
        <p:txBody>
          <a:bodyPr rtlCol="0">
            <a:normAutofit fontScale="85000" lnSpcReduction="10000"/>
          </a:bodyPr>
          <a:lstStyle/>
          <a:p>
            <a:pPr marL="0" indent="0" eaLnBrk="1" fontAlgn="auto" hangingPunct="1">
              <a:spcAft>
                <a:spcPts val="0"/>
              </a:spcAft>
              <a:buFont typeface="Arial" pitchFamily="34" charset="0"/>
              <a:buNone/>
              <a:defRPr/>
            </a:pPr>
            <a:r>
              <a:rPr lang="en-US" sz="2000" b="1" u="sng" dirty="0" smtClean="0"/>
              <a:t>Security </a:t>
            </a:r>
            <a:r>
              <a:rPr lang="en-US" sz="2000" b="1" u="sng" dirty="0"/>
              <a:t>Testing </a:t>
            </a:r>
            <a:r>
              <a:rPr lang="en-US" sz="2000" b="1" u="sng" dirty="0" smtClean="0"/>
              <a:t>Tool:</a:t>
            </a: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1)</a:t>
            </a:r>
            <a:r>
              <a:rPr lang="en-US" sz="2000" b="1" u="sng" dirty="0" err="1" smtClean="0">
                <a:latin typeface="Times New Roman" pitchFamily="18" charset="0"/>
                <a:cs typeface="Times New Roman" pitchFamily="18" charset="0"/>
              </a:rPr>
              <a:t>Acunetix</a:t>
            </a:r>
            <a:r>
              <a:rPr lang="en-US" sz="2000" b="1" u="sng"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Intuitive and easy to use, </a:t>
            </a:r>
            <a:r>
              <a:rPr lang="en-US" sz="2000" dirty="0" err="1">
                <a:latin typeface="Times New Roman" pitchFamily="18" charset="0"/>
                <a:cs typeface="Times New Roman" pitchFamily="18" charset="0"/>
              </a:rPr>
              <a:t>Acunetix</a:t>
            </a:r>
            <a:r>
              <a:rPr lang="en-US" sz="2000" dirty="0">
                <a:latin typeface="Times New Roman" pitchFamily="18" charset="0"/>
                <a:cs typeface="Times New Roman" pitchFamily="18" charset="0"/>
              </a:rPr>
              <a:t> by </a:t>
            </a:r>
            <a:r>
              <a:rPr lang="en-US" sz="2000" dirty="0" err="1">
                <a:latin typeface="Times New Roman" pitchFamily="18" charset="0"/>
                <a:cs typeface="Times New Roman" pitchFamily="18" charset="0"/>
              </a:rPr>
              <a:t>Invicti</a:t>
            </a:r>
            <a:r>
              <a:rPr lang="en-US" sz="2000" dirty="0">
                <a:latin typeface="Times New Roman" pitchFamily="18" charset="0"/>
                <a:cs typeface="Times New Roman" pitchFamily="18" charset="0"/>
              </a:rPr>
              <a:t> helps small to medium-sized organizations ensure their </a:t>
            </a:r>
            <a:r>
              <a:rPr lang="en-US" sz="2000" b="1" dirty="0">
                <a:latin typeface="Times New Roman" pitchFamily="18" charset="0"/>
                <a:cs typeface="Times New Roman" pitchFamily="18" charset="0"/>
              </a:rPr>
              <a:t>web applications are secure from costly data breaches</a:t>
            </a:r>
            <a:r>
              <a:rPr lang="en-US" sz="2000" dirty="0">
                <a:latin typeface="Times New Roman" pitchFamily="18" charset="0"/>
                <a:cs typeface="Times New Roman" pitchFamily="18" charset="0"/>
              </a:rPr>
              <a:t>. It does so by detecting a wide range of web security issues and helping security and development professionals act fast to resolve them.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2</a:t>
            </a:r>
            <a:r>
              <a:rPr lang="en-US" sz="2000" dirty="0">
                <a:latin typeface="Times New Roman" pitchFamily="18" charset="0"/>
                <a:cs typeface="Times New Roman" pitchFamily="18" charset="0"/>
              </a:rPr>
              <a:t>) </a:t>
            </a:r>
            <a:r>
              <a:rPr lang="en-US" sz="2000" b="1" u="sng" dirty="0" smtClean="0">
                <a:latin typeface="Times New Roman" pitchFamily="18" charset="0"/>
                <a:cs typeface="Times New Roman" pitchFamily="18" charset="0"/>
              </a:rPr>
              <a:t>Intruder:</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Intruder is a powerful, automated penetration testing tool that discovers </a:t>
            </a:r>
            <a:r>
              <a:rPr lang="en-US" sz="2000" b="1" dirty="0">
                <a:latin typeface="Times New Roman" pitchFamily="18" charset="0"/>
                <a:cs typeface="Times New Roman" pitchFamily="18" charset="0"/>
              </a:rPr>
              <a:t>security weaknesses across your IT environment</a:t>
            </a:r>
            <a:r>
              <a:rPr lang="en-US" sz="2000" dirty="0">
                <a:latin typeface="Times New Roman" pitchFamily="18" charset="0"/>
                <a:cs typeface="Times New Roman" pitchFamily="18" charset="0"/>
              </a:rPr>
              <a:t>. Offering industry-leading security checks, continuous monitoring and an easy-to-use platform, Intruder keeps businesses of all sizes safe from hackers.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3</a:t>
            </a:r>
            <a:r>
              <a:rPr lang="en-US" sz="2000" dirty="0">
                <a:latin typeface="Times New Roman" pitchFamily="18" charset="0"/>
                <a:cs typeface="Times New Roman" pitchFamily="18" charset="0"/>
              </a:rPr>
              <a:t>) </a:t>
            </a:r>
            <a:r>
              <a:rPr lang="en-US" sz="2000" b="1" u="sng" dirty="0" err="1" smtClean="0">
                <a:latin typeface="Times New Roman" pitchFamily="18" charset="0"/>
                <a:cs typeface="Times New Roman" pitchFamily="18" charset="0"/>
              </a:rPr>
              <a:t>Owasp</a:t>
            </a:r>
            <a:r>
              <a:rPr lang="en-US" sz="2000" b="1" u="sng"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The Open Web Application Security Project (OWASP) is a worldwide non-profit organization focused on </a:t>
            </a:r>
            <a:r>
              <a:rPr lang="en-US" sz="2000" b="1" dirty="0">
                <a:latin typeface="Times New Roman" pitchFamily="18" charset="0"/>
                <a:cs typeface="Times New Roman" pitchFamily="18" charset="0"/>
              </a:rPr>
              <a:t>improving the security of software</a:t>
            </a:r>
            <a:r>
              <a:rPr lang="en-US" sz="2000" dirty="0">
                <a:latin typeface="Times New Roman" pitchFamily="18" charset="0"/>
                <a:cs typeface="Times New Roman" pitchFamily="18" charset="0"/>
              </a:rPr>
              <a:t>. The project has multiple tools to pen test various software environments and protocols. Flagship tools of the project include 1Zed Attack Proxy (ZAP – an integrated penetration testing tool) 2OWASP Dependency Check (it scans for project dependencies and checks against know vulnerabilities) 3OWASP Web Testing Environment Project (collection of security tools and documentation)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4</a:t>
            </a:r>
            <a:r>
              <a:rPr lang="en-US" sz="2000" dirty="0">
                <a:latin typeface="Times New Roman" pitchFamily="18" charset="0"/>
                <a:cs typeface="Times New Roman" pitchFamily="18" charset="0"/>
              </a:rPr>
              <a:t>) </a:t>
            </a:r>
            <a:r>
              <a:rPr lang="en-US" sz="2000" b="1" u="sng" dirty="0" err="1" smtClean="0">
                <a:latin typeface="Times New Roman" pitchFamily="18" charset="0"/>
                <a:cs typeface="Times New Roman" pitchFamily="18" charset="0"/>
              </a:rPr>
              <a:t>WireShark</a:t>
            </a:r>
            <a:r>
              <a:rPr lang="en-US" sz="2000" b="1" u="sng"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Wireshark</a:t>
            </a:r>
            <a:r>
              <a:rPr lang="en-US" sz="2000" dirty="0">
                <a:latin typeface="Times New Roman" pitchFamily="18" charset="0"/>
                <a:cs typeface="Times New Roman" pitchFamily="18" charset="0"/>
              </a:rPr>
              <a:t> is a </a:t>
            </a:r>
            <a:r>
              <a:rPr lang="en-US" sz="2000" b="1" dirty="0">
                <a:latin typeface="Times New Roman" pitchFamily="18" charset="0"/>
                <a:cs typeface="Times New Roman" pitchFamily="18" charset="0"/>
              </a:rPr>
              <a:t>network analysis tool </a:t>
            </a:r>
            <a:r>
              <a:rPr lang="en-US" sz="2000" dirty="0">
                <a:latin typeface="Times New Roman" pitchFamily="18" charset="0"/>
                <a:cs typeface="Times New Roman" pitchFamily="18" charset="0"/>
              </a:rPr>
              <a:t>previously known as Ethereal. It captures packet in real time and display them in human readable format. Basically, it is a network packet </a:t>
            </a:r>
            <a:r>
              <a:rPr lang="en-US" sz="2000" dirty="0" smtClean="0">
                <a:latin typeface="Times New Roman" pitchFamily="18" charset="0"/>
                <a:cs typeface="Times New Roman" pitchFamily="18" charset="0"/>
              </a:rPr>
              <a:t>analyzer which </a:t>
            </a:r>
            <a:r>
              <a:rPr lang="en-US" sz="2000" dirty="0">
                <a:latin typeface="Times New Roman" pitchFamily="18" charset="0"/>
                <a:cs typeface="Times New Roman" pitchFamily="18" charset="0"/>
              </a:rPr>
              <a:t>provides the minute details about your network protocols, decryption, packet information, etc. It is an open source and can be used on Linux, Windows, OS X, Solaris, </a:t>
            </a:r>
            <a:r>
              <a:rPr lang="en-US" sz="2000" dirty="0" err="1">
                <a:latin typeface="Times New Roman" pitchFamily="18" charset="0"/>
                <a:cs typeface="Times New Roman" pitchFamily="18" charset="0"/>
              </a:rPr>
              <a:t>NetBSD</a:t>
            </a:r>
            <a:r>
              <a:rPr lang="en-US" sz="2000" dirty="0">
                <a:latin typeface="Times New Roman" pitchFamily="18" charset="0"/>
                <a:cs typeface="Times New Roman" pitchFamily="18" charset="0"/>
              </a:rPr>
              <a:t>, FreeBSD and many other systems. The information that is retrieved via this tool can be viewed through a GUI or the TTY mode </a:t>
            </a:r>
            <a:r>
              <a:rPr lang="en-US" sz="2000" dirty="0" err="1">
                <a:latin typeface="Times New Roman" pitchFamily="18" charset="0"/>
                <a:cs typeface="Times New Roman" pitchFamily="18" charset="0"/>
              </a:rPr>
              <a:t>TShark</a:t>
            </a:r>
            <a:r>
              <a:rPr lang="en-US" sz="2000" dirty="0">
                <a:latin typeface="Times New Roman" pitchFamily="18" charset="0"/>
                <a:cs typeface="Times New Roman" pitchFamily="18" charset="0"/>
              </a:rPr>
              <a:t> Utility.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5</a:t>
            </a:r>
            <a:r>
              <a:rPr lang="en-US" sz="2000" dirty="0">
                <a:latin typeface="Times New Roman" pitchFamily="18" charset="0"/>
                <a:cs typeface="Times New Roman" pitchFamily="18" charset="0"/>
              </a:rPr>
              <a:t>) </a:t>
            </a:r>
            <a:r>
              <a:rPr lang="en-US" sz="2000" b="1" u="sng" dirty="0" smtClean="0">
                <a:latin typeface="Times New Roman" pitchFamily="18" charset="0"/>
                <a:cs typeface="Times New Roman" pitchFamily="18" charset="0"/>
              </a:rPr>
              <a:t>W3af:</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w3af is a </a:t>
            </a:r>
            <a:r>
              <a:rPr lang="en-US" sz="2000" b="1" dirty="0">
                <a:latin typeface="Times New Roman" pitchFamily="18" charset="0"/>
                <a:cs typeface="Times New Roman" pitchFamily="18" charset="0"/>
              </a:rPr>
              <a:t>web application attack and audit framework</a:t>
            </a:r>
            <a:r>
              <a:rPr lang="en-US" sz="2000" dirty="0">
                <a:latin typeface="Times New Roman" pitchFamily="18" charset="0"/>
                <a:cs typeface="Times New Roman" pitchFamily="18" charset="0"/>
              </a:rPr>
              <a:t>. It has three types of plugins; discovery, audit and attack that communicate with each other for any vulnerabilities in site, for example a discovery plugin in w3af looks for different </a:t>
            </a:r>
            <a:r>
              <a:rPr lang="en-US" sz="2000" dirty="0" err="1">
                <a:latin typeface="Times New Roman" pitchFamily="18" charset="0"/>
                <a:cs typeface="Times New Roman" pitchFamily="18" charset="0"/>
              </a:rPr>
              <a:t>url’s</a:t>
            </a:r>
            <a:r>
              <a:rPr lang="en-US" sz="2000" dirty="0">
                <a:latin typeface="Times New Roman" pitchFamily="18" charset="0"/>
                <a:cs typeface="Times New Roman" pitchFamily="18" charset="0"/>
              </a:rPr>
              <a:t> to test for vulnerabilities and forward it to the audit plugin which then uses these URL’s to search for vulnerabilities.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International Standards</a:t>
            </a:r>
          </a:p>
        </p:txBody>
      </p:sp>
      <p:sp>
        <p:nvSpPr>
          <p:cNvPr id="3" name="Content Placeholder 2"/>
          <p:cNvSpPr>
            <a:spLocks noGrp="1"/>
          </p:cNvSpPr>
          <p:nvPr>
            <p:ph idx="1"/>
          </p:nvPr>
        </p:nvSpPr>
        <p:spPr>
          <a:xfrm>
            <a:off x="152400" y="685800"/>
            <a:ext cx="8839200" cy="6019800"/>
          </a:xfrm>
        </p:spPr>
        <p:txBody>
          <a:bodyPr rtlCol="0">
            <a:normAutofit/>
          </a:bodyPr>
          <a:lstStyle/>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To make Cyber Security measures explicit, the written norms are required. These norms are known as standards.</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The standards may involve </a:t>
            </a:r>
            <a:r>
              <a:rPr lang="en-US" sz="2000" b="1" dirty="0" smtClean="0">
                <a:latin typeface="Times New Roman" pitchFamily="18" charset="0"/>
                <a:cs typeface="Times New Roman" pitchFamily="18" charset="0"/>
              </a:rPr>
              <a:t>methods</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guidelines</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reference framework </a:t>
            </a:r>
            <a:r>
              <a:rPr lang="en-US" sz="2000" dirty="0" smtClean="0">
                <a:latin typeface="Times New Roman" pitchFamily="18" charset="0"/>
                <a:cs typeface="Times New Roman" pitchFamily="18" charset="0"/>
              </a:rPr>
              <a:t>etc.</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The stands include requirements for </a:t>
            </a:r>
            <a:r>
              <a:rPr lang="en-US" sz="2000" b="1" dirty="0" smtClean="0">
                <a:latin typeface="Times New Roman" pitchFamily="18" charset="0"/>
                <a:cs typeface="Times New Roman" pitchFamily="18" charset="0"/>
              </a:rPr>
              <a:t>developing Information Security management System </a:t>
            </a:r>
            <a:r>
              <a:rPr lang="en-US" sz="2000" dirty="0" smtClean="0">
                <a:latin typeface="Times New Roman" pitchFamily="18" charset="0"/>
                <a:cs typeface="Times New Roman" pitchFamily="18" charset="0"/>
              </a:rPr>
              <a:t>(ISMS), </a:t>
            </a:r>
            <a:r>
              <a:rPr lang="en-US" sz="2000" b="1" dirty="0" smtClean="0">
                <a:latin typeface="Times New Roman" pitchFamily="18" charset="0"/>
                <a:cs typeface="Times New Roman" pitchFamily="18" charset="0"/>
              </a:rPr>
              <a:t>implementing security controls</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conducting risk assessments</a:t>
            </a:r>
            <a:r>
              <a:rPr lang="en-US" sz="2000" dirty="0" smtClean="0">
                <a:latin typeface="Times New Roman" pitchFamily="18" charset="0"/>
                <a:cs typeface="Times New Roman" pitchFamily="18" charset="0"/>
              </a:rPr>
              <a:t>.  </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The goal of security standards is to improve the </a:t>
            </a:r>
            <a:r>
              <a:rPr lang="en-US" sz="2000" b="1" dirty="0" smtClean="0">
                <a:latin typeface="Times New Roman" pitchFamily="18" charset="0"/>
                <a:cs typeface="Times New Roman" pitchFamily="18" charset="0"/>
              </a:rPr>
              <a:t>security of IT</a:t>
            </a:r>
            <a:r>
              <a:rPr lang="en-US" sz="2000" dirty="0" smtClean="0">
                <a:latin typeface="Times New Roman" pitchFamily="18" charset="0"/>
                <a:cs typeface="Times New Roman" pitchFamily="18" charset="0"/>
              </a:rPr>
              <a:t> systems, </a:t>
            </a:r>
            <a:r>
              <a:rPr lang="en-US" sz="2000" b="1" dirty="0" smtClean="0">
                <a:latin typeface="Times New Roman" pitchFamily="18" charset="0"/>
                <a:cs typeface="Times New Roman" pitchFamily="18" charset="0"/>
              </a:rPr>
              <a:t>network </a:t>
            </a:r>
            <a:r>
              <a:rPr lang="en-US" sz="2000" dirty="0" smtClean="0">
                <a:latin typeface="Times New Roman" pitchFamily="18" charset="0"/>
                <a:cs typeface="Times New Roman" pitchFamily="18" charset="0"/>
              </a:rPr>
              <a:t>and </a:t>
            </a:r>
            <a:r>
              <a:rPr lang="en-US" sz="2000" b="1" dirty="0" smtClean="0">
                <a:latin typeface="Times New Roman" pitchFamily="18" charset="0"/>
                <a:cs typeface="Times New Roman" pitchFamily="18" charset="0"/>
              </a:rPr>
              <a:t>critical infrastructure.</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Security standards are provided for all the organizations regardless of the size or the industry and sector in which they operate.</a:t>
            </a:r>
          </a:p>
          <a:p>
            <a:pPr marL="457200" indent="-457200" eaLnBrk="1" fontAlgn="auto" hangingPunct="1">
              <a:spcAft>
                <a:spcPts val="0"/>
              </a:spcAft>
              <a:buFont typeface="Arial" pitchFamily="34" charset="0"/>
              <a:buAutoNum type="arabicParenR"/>
              <a:defRPr/>
            </a:pPr>
            <a:r>
              <a:rPr lang="en-US" sz="2400" b="1" u="sng" dirty="0" smtClean="0">
                <a:latin typeface="Times New Roman" pitchFamily="18" charset="0"/>
                <a:cs typeface="Times New Roman" pitchFamily="18" charset="0"/>
              </a:rPr>
              <a:t>ISO</a:t>
            </a:r>
            <a:r>
              <a:rPr lang="en-US" sz="2400" dirty="0" smtClean="0">
                <a:latin typeface="Times New Roman" pitchFamily="18" charset="0"/>
                <a:cs typeface="Times New Roman" pitchFamily="18" charset="0"/>
              </a:rPr>
              <a:t> : </a:t>
            </a:r>
          </a:p>
          <a:p>
            <a:pPr marL="457200" indent="-457200"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It stands for International Organization for Standardization. International standards make things to work.</a:t>
            </a:r>
          </a:p>
          <a:p>
            <a:pPr marL="457200" indent="-457200"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These standards provide world class specifications for products, services, and computers to ensure quality, safety and efficiency.</a:t>
            </a:r>
          </a:p>
          <a:p>
            <a:pPr marL="457200" indent="-457200"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ISO standard officially established on 23/02/1947. it is an independent, non-governmental international organization.</a:t>
            </a:r>
          </a:p>
          <a:p>
            <a:pPr marL="457200" indent="-457200" eaLnBrk="1" fontAlgn="auto" hangingPunct="1">
              <a:spcAft>
                <a:spcPts val="0"/>
              </a:spcAft>
              <a:buFont typeface="Arial" pitchFamily="34" charset="0"/>
              <a:buChar char="•"/>
              <a:defRPr/>
            </a:pPr>
            <a:endParaRPr lang="en-US" sz="2000" dirty="0" smtClean="0">
              <a:latin typeface="Times New Roman" pitchFamily="18" charset="0"/>
              <a:cs typeface="Times New Roman" pitchFamily="18" charset="0"/>
            </a:endParaRPr>
          </a:p>
          <a:p>
            <a:pPr marL="457200" indent="-457200" eaLnBrk="1" fontAlgn="auto" hangingPunct="1">
              <a:spcAft>
                <a:spcPts val="0"/>
              </a:spcAft>
              <a:buFont typeface="Arial" pitchFamily="34" charset="0"/>
              <a:buNone/>
              <a:defRPr/>
            </a:pPr>
            <a:endParaRPr lang="en-US" sz="2000" b="1" u="sng"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International Standards</a:t>
            </a:r>
          </a:p>
        </p:txBody>
      </p:sp>
      <p:sp>
        <p:nvSpPr>
          <p:cNvPr id="27651" name="Content Placeholder 2"/>
          <p:cNvSpPr>
            <a:spLocks noGrp="1"/>
          </p:cNvSpPr>
          <p:nvPr>
            <p:ph idx="1"/>
          </p:nvPr>
        </p:nvSpPr>
        <p:spPr>
          <a:xfrm>
            <a:off x="152400" y="685800"/>
            <a:ext cx="8839200" cy="6019800"/>
          </a:xfrm>
        </p:spPr>
        <p:txBody>
          <a:bodyPr/>
          <a:lstStyle/>
          <a:p>
            <a:pPr eaLnBrk="1" hangingPunct="1"/>
            <a:r>
              <a:rPr lang="en-US" sz="2000" smtClean="0">
                <a:latin typeface="Times New Roman" pitchFamily="18" charset="0"/>
                <a:cs typeface="Times New Roman" pitchFamily="18" charset="0"/>
              </a:rPr>
              <a:t>Today it has a membership of  162 national standard bodies, and 784 technical committees &amp; sub-committees to take care of standard development.</a:t>
            </a:r>
          </a:p>
          <a:p>
            <a:pPr eaLnBrk="1" hangingPunct="1"/>
            <a:r>
              <a:rPr lang="en-US" sz="2000" smtClean="0">
                <a:latin typeface="Times New Roman" pitchFamily="18" charset="0"/>
                <a:cs typeface="Times New Roman" pitchFamily="18" charset="0"/>
              </a:rPr>
              <a:t>ISO has published over 22336 international standards and its related documents which covers almost every industry from IT to agriculture &amp; Healthcare.</a:t>
            </a:r>
          </a:p>
          <a:p>
            <a:pPr eaLnBrk="1" hangingPunct="1">
              <a:buFont typeface="Arial" charset="0"/>
              <a:buNone/>
            </a:pPr>
            <a:r>
              <a:rPr lang="en-US" sz="2000" b="1" u="sng" smtClean="0">
                <a:latin typeface="Times New Roman" pitchFamily="18" charset="0"/>
                <a:cs typeface="Times New Roman" pitchFamily="18" charset="0"/>
              </a:rPr>
              <a:t> a) ISO 27000 series</a:t>
            </a:r>
            <a:r>
              <a:rPr lang="en-US" sz="2000" smtClean="0">
                <a:latin typeface="Times New Roman" pitchFamily="18" charset="0"/>
                <a:cs typeface="Times New Roman" pitchFamily="18" charset="0"/>
              </a:rPr>
              <a:t>: </a:t>
            </a:r>
          </a:p>
          <a:p>
            <a:pPr eaLnBrk="1" hangingPunct="1"/>
            <a:r>
              <a:rPr lang="en-US" sz="2000" smtClean="0">
                <a:latin typeface="Times New Roman" pitchFamily="18" charset="0"/>
                <a:cs typeface="Times New Roman" pitchFamily="18" charset="0"/>
              </a:rPr>
              <a:t>it is the family of ISO standard which is developed by the ISO and the IEC(International Electro-technical Commission) to provide globally recognized framework for best IT management.</a:t>
            </a:r>
          </a:p>
          <a:p>
            <a:pPr eaLnBrk="1" hangingPunct="1"/>
            <a:r>
              <a:rPr lang="en-US" sz="2000" smtClean="0">
                <a:latin typeface="Times New Roman" pitchFamily="18" charset="0"/>
                <a:cs typeface="Times New Roman" pitchFamily="18" charset="0"/>
              </a:rPr>
              <a:t>The need of ISO 27000 series arise because of risk of cyber attacks which the organization face.</a:t>
            </a:r>
          </a:p>
          <a:p>
            <a:pPr eaLnBrk="1" hangingPunct="1"/>
            <a:r>
              <a:rPr lang="en-US" sz="2000" smtClean="0">
                <a:latin typeface="Times New Roman" pitchFamily="18" charset="0"/>
                <a:cs typeface="Times New Roman" pitchFamily="18" charset="0"/>
              </a:rPr>
              <a:t>The ISO 27000 series categorized into many types they are: </a:t>
            </a:r>
          </a:p>
          <a:p>
            <a:pPr eaLnBrk="1" hangingPunct="1">
              <a:buFont typeface="Arial" charset="0"/>
              <a:buNone/>
            </a:pPr>
            <a:r>
              <a:rPr lang="en-US" sz="2000" smtClean="0">
                <a:latin typeface="Times New Roman" pitchFamily="18" charset="0"/>
                <a:cs typeface="Times New Roman" pitchFamily="18" charset="0"/>
              </a:rPr>
              <a:t>	i) </a:t>
            </a:r>
            <a:r>
              <a:rPr lang="en-US" sz="2000" b="1" u="sng" smtClean="0">
                <a:latin typeface="Times New Roman" pitchFamily="18" charset="0"/>
                <a:cs typeface="Times New Roman" pitchFamily="18" charset="0"/>
              </a:rPr>
              <a:t>ISO 27001</a:t>
            </a:r>
            <a:r>
              <a:rPr lang="en-US" sz="2000" smtClean="0">
                <a:latin typeface="Times New Roman" pitchFamily="18" charset="0"/>
                <a:cs typeface="Times New Roman" pitchFamily="18" charset="0"/>
              </a:rPr>
              <a:t>: this standard allows us to prove clients &amp; stakeholders for any organization to managing the best security of their confidential data and information. This standard involve a process-based approach establishing  , implementing, operations , monitoring and maintaining and improve our ISMS.</a:t>
            </a:r>
          </a:p>
          <a:p>
            <a:pPr eaLnBrk="1" hangingPunct="1">
              <a:buFont typeface="Arial" charset="0"/>
              <a:buNone/>
            </a:pPr>
            <a:r>
              <a:rPr lang="en-US" sz="2000" smtClean="0">
                <a:latin typeface="Times New Roman" pitchFamily="18" charset="0"/>
                <a:cs typeface="Times New Roman" pitchFamily="18" charset="0"/>
              </a:rPr>
              <a:t>	ii) ISO 27000: this standard provides an explanation of terminologies used in  ISO 27001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International Standards</a:t>
            </a:r>
          </a:p>
        </p:txBody>
      </p:sp>
      <p:sp>
        <p:nvSpPr>
          <p:cNvPr id="28675" name="Content Placeholder 2"/>
          <p:cNvSpPr>
            <a:spLocks noGrp="1"/>
          </p:cNvSpPr>
          <p:nvPr>
            <p:ph idx="1"/>
          </p:nvPr>
        </p:nvSpPr>
        <p:spPr>
          <a:xfrm>
            <a:off x="152400" y="685800"/>
            <a:ext cx="8839200" cy="6019800"/>
          </a:xfrm>
        </p:spPr>
        <p:txBody>
          <a:bodyPr/>
          <a:lstStyle/>
          <a:p>
            <a:pPr eaLnBrk="1" hangingPunct="1">
              <a:buFont typeface="Arial" charset="0"/>
              <a:buNone/>
            </a:pPr>
            <a:r>
              <a:rPr lang="en-US" sz="2000" smtClean="0">
                <a:latin typeface="Times New Roman" pitchFamily="18" charset="0"/>
                <a:cs typeface="Times New Roman" pitchFamily="18" charset="0"/>
              </a:rPr>
              <a:t>	iii) </a:t>
            </a:r>
            <a:r>
              <a:rPr lang="en-US" sz="2000" b="1" u="sng" smtClean="0">
                <a:latin typeface="Times New Roman" pitchFamily="18" charset="0"/>
                <a:cs typeface="Times New Roman" pitchFamily="18" charset="0"/>
              </a:rPr>
              <a:t>ISO 270</a:t>
            </a:r>
            <a:r>
              <a:rPr lang="en-US" sz="2000" smtClean="0">
                <a:latin typeface="Times New Roman" pitchFamily="18" charset="0"/>
                <a:cs typeface="Times New Roman" pitchFamily="18" charset="0"/>
              </a:rPr>
              <a:t>02: This standard provides guidelines for organizational IS standards and IS management practices. IT includes selection, implementation, operating and management of controls taking into consideration of organizational IS risk environment.</a:t>
            </a:r>
          </a:p>
          <a:p>
            <a:pPr eaLnBrk="1" hangingPunct="1">
              <a:buFont typeface="Arial" charset="0"/>
              <a:buNone/>
            </a:pPr>
            <a:r>
              <a:rPr lang="en-US" sz="2000" smtClean="0">
                <a:latin typeface="Times New Roman" pitchFamily="18" charset="0"/>
                <a:cs typeface="Times New Roman" pitchFamily="18" charset="0"/>
              </a:rPr>
              <a:t>	iii) </a:t>
            </a:r>
            <a:r>
              <a:rPr lang="en-US" sz="2000" b="1" u="sng" smtClean="0">
                <a:latin typeface="Times New Roman" pitchFamily="18" charset="0"/>
                <a:cs typeface="Times New Roman" pitchFamily="18" charset="0"/>
              </a:rPr>
              <a:t>ISO 27005: </a:t>
            </a:r>
            <a:r>
              <a:rPr lang="en-US" sz="2000" smtClean="0">
                <a:latin typeface="Times New Roman" pitchFamily="18" charset="0"/>
                <a:cs typeface="Times New Roman" pitchFamily="18" charset="0"/>
              </a:rPr>
              <a:t>This standard supports general concepts specification 27001. It is designed to provide the guidelines for implementation of IS based on a risk management approach.  </a:t>
            </a:r>
          </a:p>
          <a:p>
            <a:pPr eaLnBrk="1" hangingPunct="1">
              <a:buFont typeface="Arial" charset="0"/>
              <a:buNone/>
            </a:pPr>
            <a:r>
              <a:rPr lang="en-US" sz="2000" smtClean="0">
                <a:latin typeface="Times New Roman" pitchFamily="18" charset="0"/>
                <a:cs typeface="Times New Roman" pitchFamily="18" charset="0"/>
              </a:rPr>
              <a:t>	To completely understand the ISO/IEC 27005, the knowledge of the concepts, models, processes and terminologies described in ISO/IEC 27001, and ISO/IEC 27002 is required.</a:t>
            </a:r>
          </a:p>
          <a:p>
            <a:pPr eaLnBrk="1" hangingPunct="1">
              <a:buFont typeface="Arial" charset="0"/>
              <a:buNone/>
            </a:pPr>
            <a:r>
              <a:rPr lang="en-US" sz="2000" smtClean="0">
                <a:latin typeface="Times New Roman" pitchFamily="18" charset="0"/>
                <a:cs typeface="Times New Roman" pitchFamily="18" charset="0"/>
              </a:rPr>
              <a:t>	iii) </a:t>
            </a:r>
            <a:r>
              <a:rPr lang="en-US" sz="2000" b="1" u="sng" smtClean="0">
                <a:latin typeface="Times New Roman" pitchFamily="18" charset="0"/>
                <a:cs typeface="Times New Roman" pitchFamily="18" charset="0"/>
              </a:rPr>
              <a:t>ISO 27032</a:t>
            </a:r>
            <a:r>
              <a:rPr lang="en-US" sz="2000" smtClean="0">
                <a:latin typeface="Times New Roman" pitchFamily="18" charset="0"/>
                <a:cs typeface="Times New Roman" pitchFamily="18" charset="0"/>
              </a:rPr>
              <a:t>:  it is the international standard which focuses explicitly on cyber security. This standard includes guidelines for protecting the information beyond the borders of an organization such as in collaborations, partnerships or other information sharing arrangements with clients and suppliers.</a:t>
            </a:r>
          </a:p>
          <a:p>
            <a:pPr eaLnBrk="1" hangingPunct="1">
              <a:buFont typeface="Arial" charset="0"/>
              <a:buNone/>
            </a:pPr>
            <a:r>
              <a:rPr lang="en-US" sz="200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Analysis and Logging</a:t>
            </a:r>
          </a:p>
        </p:txBody>
      </p:sp>
      <p:sp>
        <p:nvSpPr>
          <p:cNvPr id="3" name="Content Placeholder 2"/>
          <p:cNvSpPr>
            <a:spLocks noGrp="1"/>
          </p:cNvSpPr>
          <p:nvPr>
            <p:ph idx="1"/>
          </p:nvPr>
        </p:nvSpPr>
        <p:spPr>
          <a:xfrm>
            <a:off x="152400" y="685800"/>
            <a:ext cx="8839200" cy="6019800"/>
          </a:xfrm>
        </p:spPr>
        <p:txBody>
          <a:bodyPr rtlCol="0">
            <a:normAutofit/>
          </a:bodyPr>
          <a:lstStyle/>
          <a:p>
            <a:pPr eaLnBrk="1" fontAlgn="auto" hangingPunct="1">
              <a:spcAft>
                <a:spcPts val="0"/>
              </a:spcAft>
              <a:buFont typeface="Arial" pitchFamily="34" charset="0"/>
              <a:buChar char="•"/>
              <a:defRPr/>
            </a:pPr>
            <a:r>
              <a:rPr lang="en-US" sz="2000" b="1" u="sng" dirty="0">
                <a:latin typeface="Times New Roman" pitchFamily="18" charset="0"/>
                <a:cs typeface="Times New Roman" pitchFamily="18" charset="0"/>
              </a:rPr>
              <a:t>What is Security Logging and Analysis or Monitoring? </a:t>
            </a:r>
            <a:endParaRPr lang="en-US" sz="2000" dirty="0" smtClean="0">
              <a:latin typeface="Times New Roman" pitchFamily="18" charset="0"/>
              <a:cs typeface="Times New Roman" pitchFamily="18" charset="0"/>
            </a:endParaRPr>
          </a:p>
          <a:p>
            <a:pPr marL="0" indent="0" algn="just"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Security </a:t>
            </a:r>
            <a:r>
              <a:rPr lang="en-US" sz="2000" dirty="0">
                <a:latin typeface="Times New Roman" pitchFamily="18" charset="0"/>
                <a:cs typeface="Times New Roman" pitchFamily="18" charset="0"/>
              </a:rPr>
              <a:t>event logging and analysis are two parts of a singular process that is integral to the maintenance of a secure infrastructure. Every activity on your environment, from emails to logins to firewall updates, is considered a security event. All of these events are, (or should be,) logged in order to keep tabs on everything that’s happening in your technology landscape. </a:t>
            </a:r>
            <a:endParaRPr lang="en-US" sz="2000" dirty="0" smtClean="0">
              <a:latin typeface="Times New Roman" pitchFamily="18" charset="0"/>
              <a:cs typeface="Times New Roman" pitchFamily="18" charset="0"/>
            </a:endParaRPr>
          </a:p>
          <a:p>
            <a:pPr marL="0" indent="0" algn="just"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When it comes to monitoring those logs, organizations will examine the electronic audit log files of confidential information for signs of unauthorized activities. </a:t>
            </a:r>
            <a:endParaRPr lang="en-US" sz="2000" dirty="0" smtClean="0">
              <a:latin typeface="Times New Roman" pitchFamily="18" charset="0"/>
              <a:cs typeface="Times New Roman" pitchFamily="18" charset="0"/>
            </a:endParaRPr>
          </a:p>
          <a:p>
            <a:pPr marL="0" indent="0" algn="just"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If unauthorized activities (or attempts thereof) are found, the data will be moved to a central database for additional investigations and necessary action. </a:t>
            </a:r>
            <a:endParaRPr lang="en-US" sz="2000" dirty="0" smtClean="0">
              <a:latin typeface="Times New Roman" pitchFamily="18" charset="0"/>
              <a:cs typeface="Times New Roman" pitchFamily="18" charset="0"/>
            </a:endParaRPr>
          </a:p>
          <a:p>
            <a:pPr marL="0" indent="0" algn="just"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In a time where digital threats are widespread and ever-changing, the data gleaned from these log files is vital in keeping the infrastructure agile and responsive.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Analysis and Logging</a:t>
            </a:r>
          </a:p>
        </p:txBody>
      </p:sp>
      <p:sp>
        <p:nvSpPr>
          <p:cNvPr id="3" name="Content Placeholder 2"/>
          <p:cNvSpPr>
            <a:spLocks noGrp="1"/>
          </p:cNvSpPr>
          <p:nvPr>
            <p:ph idx="1"/>
          </p:nvPr>
        </p:nvSpPr>
        <p:spPr>
          <a:xfrm>
            <a:off x="152400" y="685800"/>
            <a:ext cx="8839200" cy="6019800"/>
          </a:xfrm>
        </p:spPr>
        <p:txBody>
          <a:bodyPr rtlCol="0">
            <a:normAutofit/>
          </a:bodyPr>
          <a:lstStyle/>
          <a:p>
            <a:pPr eaLnBrk="1" fontAlgn="auto" hangingPunct="1">
              <a:spcAft>
                <a:spcPts val="0"/>
              </a:spcAft>
              <a:buFont typeface="Arial" pitchFamily="34" charset="0"/>
              <a:buChar char="•"/>
              <a:defRPr/>
            </a:pPr>
            <a:r>
              <a:rPr lang="en-US" sz="2000" b="1" u="sng" dirty="0">
                <a:latin typeface="Times New Roman" pitchFamily="18" charset="0"/>
                <a:cs typeface="Times New Roman" pitchFamily="18" charset="0"/>
              </a:rPr>
              <a:t>How does it work</a:t>
            </a:r>
            <a:r>
              <a:rPr lang="en-US" sz="2000" b="1" u="sng"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Security event logging and monitoring can only work when it is part of an effective data collection and analysis process. Security logs often contain a massive swath of data. So much of it that it will be near impossible for a human eye to effectively identify threats within it.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means there will often be missed security incidents, false flags, and duplicate information. </a:t>
            </a:r>
            <a:endParaRPr lang="en-US" sz="2000" dirty="0" smtClean="0">
              <a:latin typeface="Times New Roman" pitchFamily="18" charset="0"/>
              <a:cs typeface="Times New Roman" pitchFamily="18" charset="0"/>
            </a:endParaRPr>
          </a:p>
          <a:p>
            <a:pPr marL="0" indent="0" eaLnBrk="1" fontAlgn="auto" hangingPunct="1">
              <a:spcAft>
                <a:spcPts val="0"/>
              </a:spcAft>
              <a:buFont typeface="Arial" pitchFamily="34" charset="0"/>
              <a:buNone/>
              <a:defRPr/>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This means that the key to effective Security Logging and Monitoring processes is the ability to weed out unnecessary information. To focus solely on critical events that could compromise the integrity and/or availability of the confidential information.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Analysis and Logging</a:t>
            </a:r>
          </a:p>
        </p:txBody>
      </p:sp>
      <p:sp>
        <p:nvSpPr>
          <p:cNvPr id="3" name="Content Placeholder 2"/>
          <p:cNvSpPr>
            <a:spLocks noGrp="1"/>
          </p:cNvSpPr>
          <p:nvPr>
            <p:ph idx="1"/>
          </p:nvPr>
        </p:nvSpPr>
        <p:spPr>
          <a:xfrm>
            <a:off x="152400" y="685800"/>
            <a:ext cx="8839200" cy="6019800"/>
          </a:xfrm>
        </p:spPr>
        <p:txBody>
          <a:bodyPr rtlCol="0">
            <a:normAutofit/>
          </a:bodyPr>
          <a:lstStyle/>
          <a:p>
            <a:pPr marL="0" indent="0" eaLnBrk="1" fontAlgn="auto" hangingPunct="1">
              <a:spcAft>
                <a:spcPts val="0"/>
              </a:spcAft>
              <a:buFont typeface="Arial" pitchFamily="34" charset="0"/>
              <a:buNone/>
              <a:defRPr/>
            </a:pPr>
            <a:r>
              <a:rPr lang="en-US" sz="2000" dirty="0">
                <a:latin typeface="Times New Roman" pitchFamily="18" charset="0"/>
                <a:cs typeface="Times New Roman" pitchFamily="18" charset="0"/>
              </a:rPr>
              <a:t>An effective log data collection and analysis process should incorporate tools to quickly and easily review audit logs for evidence of critical events </a:t>
            </a:r>
            <a:r>
              <a:rPr lang="en-US" sz="2000" dirty="0" smtClean="0">
                <a:latin typeface="Times New Roman" pitchFamily="18" charset="0"/>
                <a:cs typeface="Times New Roman" pitchFamily="18" charset="0"/>
              </a:rPr>
              <a:t>like:</a:t>
            </a:r>
          </a:p>
          <a:p>
            <a:pPr eaLnBrk="1" fontAlgn="auto" hangingPunct="1">
              <a:spcAft>
                <a:spcPts val="0"/>
              </a:spcAft>
              <a:buFont typeface="Arial" pitchFamily="34" charset="0"/>
              <a:buChar char="•"/>
              <a:defRPr/>
            </a:pPr>
            <a:r>
              <a:rPr lang="en-US" sz="2000" b="1" dirty="0" smtClean="0">
                <a:latin typeface="Times New Roman" pitchFamily="18" charset="0"/>
                <a:cs typeface="Times New Roman" pitchFamily="18" charset="0"/>
              </a:rPr>
              <a:t>Reconnaissance </a:t>
            </a:r>
            <a:r>
              <a:rPr lang="en-US" sz="2000" b="1" dirty="0">
                <a:latin typeface="Times New Roman" pitchFamily="18" charset="0"/>
                <a:cs typeface="Times New Roman" pitchFamily="18" charset="0"/>
              </a:rPr>
              <a:t>against your environment </a:t>
            </a:r>
            <a:r>
              <a:rPr lang="en-US" sz="2000" dirty="0">
                <a:latin typeface="Times New Roman" pitchFamily="18" charset="0"/>
                <a:cs typeface="Times New Roman" pitchFamily="18" charset="0"/>
              </a:rPr>
              <a:t>– where adversaries perform research on your environment… that could make you their next target.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b="1" dirty="0" err="1" smtClean="0">
                <a:latin typeface="Times New Roman" pitchFamily="18" charset="0"/>
                <a:cs typeface="Times New Roman" pitchFamily="18" charset="0"/>
              </a:rPr>
              <a:t>Weaponization</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 an intrusion within your environment where adversaries have decided to take action against your network and IT systems.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b="1" dirty="0" smtClean="0">
                <a:latin typeface="Times New Roman" pitchFamily="18" charset="0"/>
                <a:cs typeface="Times New Roman" pitchFamily="18" charset="0"/>
              </a:rPr>
              <a:t>      Delivery </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 the manifestation of an exploit against a vulnerability within your network or IT systems.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b="1" dirty="0" smtClean="0">
                <a:latin typeface="Times New Roman" pitchFamily="18" charset="0"/>
                <a:cs typeface="Times New Roman" pitchFamily="18" charset="0"/>
              </a:rPr>
              <a:t>Installation </a:t>
            </a:r>
            <a:r>
              <a:rPr lang="en-US" sz="2000" b="1" dirty="0">
                <a:latin typeface="Times New Roman" pitchFamily="18" charset="0"/>
                <a:cs typeface="Times New Roman" pitchFamily="18" charset="0"/>
              </a:rPr>
              <a:t>of malware </a:t>
            </a:r>
            <a:r>
              <a:rPr lang="en-US" sz="2000" dirty="0">
                <a:latin typeface="Times New Roman" pitchFamily="18" charset="0"/>
                <a:cs typeface="Times New Roman" pitchFamily="18" charset="0"/>
              </a:rPr>
              <a:t>– observed when an adversary has modified native functionality in your environment to maintain persistence.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b="1" dirty="0" smtClean="0">
                <a:latin typeface="Times New Roman" pitchFamily="18" charset="0"/>
                <a:cs typeface="Times New Roman" pitchFamily="18" charset="0"/>
              </a:rPr>
              <a:t>Command </a:t>
            </a:r>
            <a:r>
              <a:rPr lang="en-US" sz="2000" b="1" dirty="0">
                <a:latin typeface="Times New Roman" pitchFamily="18" charset="0"/>
                <a:cs typeface="Times New Roman" pitchFamily="18" charset="0"/>
              </a:rPr>
              <a:t>and Control </a:t>
            </a:r>
            <a:r>
              <a:rPr lang="en-US" sz="2000" dirty="0">
                <a:latin typeface="Times New Roman" pitchFamily="18" charset="0"/>
                <a:cs typeface="Times New Roman" pitchFamily="18" charset="0"/>
              </a:rPr>
              <a:t>– when criminal hackers gain access to your server and systems and effectively take control of your environment. </a:t>
            </a:r>
            <a:endParaRPr lang="en-US" sz="2000"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b="1" dirty="0" smtClean="0">
                <a:latin typeface="Times New Roman" pitchFamily="18" charset="0"/>
                <a:cs typeface="Times New Roman" pitchFamily="18" charset="0"/>
              </a:rPr>
              <a:t>Action </a:t>
            </a:r>
            <a:r>
              <a:rPr lang="en-US" sz="2000" b="1" dirty="0">
                <a:latin typeface="Times New Roman" pitchFamily="18" charset="0"/>
                <a:cs typeface="Times New Roman" pitchFamily="18" charset="0"/>
              </a:rPr>
              <a:t>begins </a:t>
            </a:r>
            <a:r>
              <a:rPr lang="en-US" sz="2000" dirty="0">
                <a:latin typeface="Times New Roman" pitchFamily="18" charset="0"/>
                <a:cs typeface="Times New Roman" pitchFamily="18" charset="0"/>
              </a:rPr>
              <a:t>– determining what the adversary actions and maintaining visibility to them at all times are critical, you want to understand their desired goal and prevent the successful intrusion.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Analysis and Logging</a:t>
            </a:r>
          </a:p>
        </p:txBody>
      </p:sp>
      <p:sp>
        <p:nvSpPr>
          <p:cNvPr id="32771" name="Content Placeholder 2"/>
          <p:cNvSpPr>
            <a:spLocks noGrp="1"/>
          </p:cNvSpPr>
          <p:nvPr>
            <p:ph idx="1"/>
          </p:nvPr>
        </p:nvSpPr>
        <p:spPr>
          <a:xfrm>
            <a:off x="152400" y="685800"/>
            <a:ext cx="8839200" cy="6019800"/>
          </a:xfrm>
        </p:spPr>
        <p:txBody>
          <a:bodyPr/>
          <a:lstStyle/>
          <a:p>
            <a:pPr marL="0" indent="0" algn="ctr" eaLnBrk="1" hangingPunct="1">
              <a:buFont typeface="Arial" charset="0"/>
              <a:buNone/>
            </a:pPr>
            <a:r>
              <a:rPr lang="en-US" sz="2000" smtClean="0">
                <a:latin typeface="Times New Roman" pitchFamily="18" charset="0"/>
                <a:cs typeface="Times New Roman" pitchFamily="18" charset="0"/>
              </a:rPr>
              <a:t>Benefits of security Analyzing and Logging: </a:t>
            </a:r>
          </a:p>
          <a:p>
            <a:pPr marL="0" indent="0" eaLnBrk="1" hangingPunct="1">
              <a:buFont typeface="Arial" charset="0"/>
              <a:buNone/>
            </a:pPr>
            <a:r>
              <a:rPr lang="en-US" sz="2000" smtClean="0">
                <a:latin typeface="Times New Roman" pitchFamily="18" charset="0"/>
                <a:cs typeface="Times New Roman" pitchFamily="18" charset="0"/>
              </a:rPr>
              <a:t> </a:t>
            </a:r>
            <a:r>
              <a:rPr lang="en-US" sz="2000" b="1" smtClean="0">
                <a:latin typeface="Times New Roman" pitchFamily="18" charset="0"/>
                <a:cs typeface="Times New Roman" pitchFamily="18" charset="0"/>
              </a:rPr>
              <a:t>Security logging and analyzing for the detection of security breaches </a:t>
            </a:r>
          </a:p>
          <a:p>
            <a:pPr marL="0" indent="0" eaLnBrk="1" hangingPunct="1">
              <a:buFont typeface="Arial" charset="0"/>
              <a:buNone/>
            </a:pPr>
            <a:r>
              <a:rPr lang="en-US" sz="2000" smtClean="0">
                <a:latin typeface="Times New Roman" pitchFamily="18" charset="0"/>
                <a:cs typeface="Times New Roman" pitchFamily="18" charset="0"/>
              </a:rPr>
              <a:t>Most enterprises are afflicted by different types of security events. They can help guard against malicious external threats while also guarding against internal misuses of information. They can be detected in real-time to facilitate fast intervention while also contributing to your long-term strategy. </a:t>
            </a:r>
          </a:p>
          <a:p>
            <a:pPr marL="0" indent="0" eaLnBrk="1" hangingPunct="1">
              <a:buFont typeface="Arial" charset="0"/>
              <a:buNone/>
            </a:pPr>
            <a:r>
              <a:rPr lang="en-US" sz="2000" smtClean="0">
                <a:latin typeface="Times New Roman" pitchFamily="18" charset="0"/>
                <a:cs typeface="Times New Roman" pitchFamily="18" charset="0"/>
              </a:rPr>
              <a:t>▪ </a:t>
            </a:r>
            <a:r>
              <a:rPr lang="en-US" sz="2000" b="1" smtClean="0">
                <a:latin typeface="Times New Roman" pitchFamily="18" charset="0"/>
                <a:cs typeface="Times New Roman" pitchFamily="18" charset="0"/>
              </a:rPr>
              <a:t>Security logging and analyzing for event reconstruction</a:t>
            </a:r>
          </a:p>
          <a:p>
            <a:pPr marL="0" indent="0" eaLnBrk="1" hangingPunct="1">
              <a:buFont typeface="Arial" charset="0"/>
              <a:buNone/>
            </a:pPr>
            <a:r>
              <a:rPr lang="en-US" sz="2000" b="1" smtClean="0">
                <a:latin typeface="Times New Roman" pitchFamily="18" charset="0"/>
                <a:cs typeface="Times New Roman" pitchFamily="18" charset="0"/>
              </a:rPr>
              <a:t> </a:t>
            </a:r>
            <a:r>
              <a:rPr lang="en-US" sz="2000" smtClean="0">
                <a:latin typeface="Times New Roman" pitchFamily="18" charset="0"/>
                <a:cs typeface="Times New Roman" pitchFamily="18" charset="0"/>
              </a:rPr>
              <a:t>Even if a breach should occur, audit trails can facilitate a reconstruction of the events leading up to the incursion. CIOs will have a clear idea of how the breach occurred and how to rectify vulnerabilities. </a:t>
            </a:r>
          </a:p>
          <a:p>
            <a:pPr marL="0" indent="0" eaLnBrk="1" hangingPunct="1">
              <a:buFont typeface="Arial" charset="0"/>
              <a:buNone/>
            </a:pPr>
            <a:r>
              <a:rPr lang="en-US" sz="2000" smtClean="0">
                <a:latin typeface="Times New Roman" pitchFamily="18" charset="0"/>
                <a:cs typeface="Times New Roman" pitchFamily="18" charset="0"/>
              </a:rPr>
              <a:t> </a:t>
            </a:r>
            <a:r>
              <a:rPr lang="en-US" sz="2000" b="1" smtClean="0">
                <a:latin typeface="Times New Roman" pitchFamily="18" charset="0"/>
                <a:cs typeface="Times New Roman" pitchFamily="18" charset="0"/>
              </a:rPr>
              <a:t>Security logging and analyzing for faster recovery </a:t>
            </a:r>
          </a:p>
          <a:p>
            <a:pPr marL="0" indent="0" eaLnBrk="1" hangingPunct="1">
              <a:buFont typeface="Arial" charset="0"/>
              <a:buNone/>
            </a:pPr>
            <a:r>
              <a:rPr lang="en-US" sz="2000" smtClean="0">
                <a:latin typeface="Times New Roman" pitchFamily="18" charset="0"/>
                <a:cs typeface="Times New Roman" pitchFamily="18" charset="0"/>
              </a:rPr>
              <a:t>Downtime is the bane of businesses. Audit logs can create a fast and effective recovery process.They can help to reconstruct data files which were lost or corrupted by reverse engineering from the changes recorded in the logs.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52400" y="76200"/>
            <a:ext cx="8839200" cy="381000"/>
          </a:xfrm>
        </p:spPr>
        <p:txBody>
          <a:bodyPr>
            <a:normAutofit fontScale="90000"/>
          </a:bodyPr>
          <a:lstStyle/>
          <a:p>
            <a:pPr eaLnBrk="1" hangingPunct="1"/>
            <a:r>
              <a:rPr lang="en-US" sz="3200" b="1" smtClean="0">
                <a:latin typeface="Times New Roman" pitchFamily="18" charset="0"/>
                <a:cs typeface="Times New Roman" pitchFamily="18" charset="0"/>
              </a:rPr>
              <a:t>Security Certification</a:t>
            </a:r>
          </a:p>
        </p:txBody>
      </p:sp>
      <p:sp>
        <p:nvSpPr>
          <p:cNvPr id="33795" name="Content Placeholder 2"/>
          <p:cNvSpPr>
            <a:spLocks noGrp="1"/>
          </p:cNvSpPr>
          <p:nvPr>
            <p:ph idx="1"/>
          </p:nvPr>
        </p:nvSpPr>
        <p:spPr>
          <a:xfrm>
            <a:off x="152400" y="685800"/>
            <a:ext cx="8839200" cy="6019800"/>
          </a:xfrm>
        </p:spPr>
        <p:txBody>
          <a:bodyPr/>
          <a:lstStyle/>
          <a:p>
            <a:pPr eaLnBrk="1" hangingPunct="1"/>
            <a:r>
              <a:rPr lang="en-US" sz="2000" smtClean="0">
                <a:latin typeface="Times New Roman" pitchFamily="18" charset="0"/>
                <a:cs typeface="Times New Roman" pitchFamily="18" charset="0"/>
              </a:rPr>
              <a:t>A certification degree will lead us to our dream job. At some point in our professional life, and IT security certification from a renowned third-party organization may be necessary.</a:t>
            </a:r>
          </a:p>
          <a:p>
            <a:pPr eaLnBrk="1" hangingPunct="1"/>
            <a:r>
              <a:rPr lang="en-US" sz="2000" smtClean="0">
                <a:latin typeface="Times New Roman" pitchFamily="18" charset="0"/>
                <a:cs typeface="Times New Roman" pitchFamily="18" charset="0"/>
              </a:rPr>
              <a:t>Cyber Security Certifications are available in different shapes and subjects such as forensic to intrusion to ethical hacking. They are typically administrated by independent accredited organizations such as CompTIA, EC Council, GIAC, ISACA, and (ISC) 2</a:t>
            </a:r>
          </a:p>
          <a:p>
            <a:pPr eaLnBrk="1" hangingPunct="1"/>
            <a:r>
              <a:rPr lang="en-US" sz="2000" smtClean="0">
                <a:latin typeface="Times New Roman" pitchFamily="18" charset="0"/>
                <a:cs typeface="Times New Roman" pitchFamily="18" charset="0"/>
              </a:rPr>
              <a:t>The certification program is divided into three categories in these accredited organization:</a:t>
            </a:r>
          </a:p>
          <a:p>
            <a:pPr eaLnBrk="1" hangingPunct="1"/>
            <a:r>
              <a:rPr lang="en-US" sz="2000" smtClean="0">
                <a:latin typeface="Times New Roman" pitchFamily="18" charset="0"/>
                <a:cs typeface="Times New Roman" pitchFamily="18" charset="0"/>
              </a:rPr>
              <a:t>The basic entry-level certification is meant to educate you in- foundation principles, best practices, important tools, latest technologies, etc.</a:t>
            </a:r>
          </a:p>
          <a:p>
            <a:pPr eaLnBrk="1" hangingPunct="1"/>
            <a:r>
              <a:rPr lang="en-US" sz="2000" smtClean="0">
                <a:latin typeface="Times New Roman" pitchFamily="18" charset="0"/>
                <a:cs typeface="Times New Roman" pitchFamily="18" charset="0"/>
              </a:rPr>
              <a:t>The intermediate and expert-level certifications presume that we have extensive job experience and a detailed grasp of the subject matter.</a:t>
            </a:r>
          </a:p>
          <a:p>
            <a:pPr eaLnBrk="1" hangingPunct="1"/>
            <a:endParaRPr lang="en-US" sz="20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52400" y="76200"/>
            <a:ext cx="8839200" cy="381000"/>
          </a:xfrm>
        </p:spPr>
        <p:txBody>
          <a:bodyPr>
            <a:normAutofit fontScale="90000"/>
          </a:bodyPr>
          <a:lstStyle/>
          <a:p>
            <a:pPr eaLnBrk="1" hangingPunct="1"/>
            <a:r>
              <a:rPr lang="en-US" sz="3200" b="1" smtClean="0">
                <a:latin typeface="Times New Roman" pitchFamily="18" charset="0"/>
                <a:cs typeface="Times New Roman" pitchFamily="18" charset="0"/>
              </a:rPr>
              <a:t>Security Certification</a:t>
            </a:r>
          </a:p>
        </p:txBody>
      </p:sp>
      <p:sp>
        <p:nvSpPr>
          <p:cNvPr id="3" name="Content Placeholder 2"/>
          <p:cNvSpPr>
            <a:spLocks noGrp="1"/>
          </p:cNvSpPr>
          <p:nvPr>
            <p:ph idx="1"/>
          </p:nvPr>
        </p:nvSpPr>
        <p:spPr>
          <a:xfrm>
            <a:off x="152400" y="685800"/>
            <a:ext cx="8839200" cy="6019800"/>
          </a:xfrm>
        </p:spPr>
        <p:txBody>
          <a:bodyPr rtlCol="0">
            <a:normAutofit/>
          </a:bodyPr>
          <a:lstStyle/>
          <a:p>
            <a:pPr marL="0" indent="0" eaLnBrk="1" fontAlgn="auto" hangingPunct="1">
              <a:spcAft>
                <a:spcPts val="0"/>
              </a:spcAft>
              <a:buFont typeface="Arial" pitchFamily="34" charset="0"/>
              <a:buNone/>
              <a:defRPr/>
            </a:pPr>
            <a:r>
              <a:rPr lang="en-US" sz="2000" b="1" u="sng" dirty="0">
                <a:latin typeface="Times New Roman" pitchFamily="18" charset="0"/>
                <a:cs typeface="Times New Roman" pitchFamily="18" charset="0"/>
              </a:rPr>
              <a:t>According to the topic or level</a:t>
            </a:r>
            <a:r>
              <a:rPr lang="en-US" sz="2000" b="1" u="sng" dirty="0" smtClean="0">
                <a:latin typeface="Times New Roman" pitchFamily="18" charset="0"/>
                <a:cs typeface="Times New Roman" pitchFamily="18" charset="0"/>
              </a:rPr>
              <a:t>:</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The employees of the organizations mostly acquire IT security certifications.</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The training and the final exam have consisted of the credential process.</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It must be renewed periodically, such as for every 3-4 years.</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To be reaccredited, we'll need continuing education credits and the ability to pass the current exam</a:t>
            </a:r>
            <a:r>
              <a:rPr lang="en-US" sz="2000" dirty="0" smtClean="0">
                <a:latin typeface="Times New Roman" pitchFamily="18" charset="0"/>
                <a:cs typeface="Times New Roman" pitchFamily="18" charset="0"/>
              </a:rPr>
              <a:t>.</a:t>
            </a:r>
          </a:p>
          <a:p>
            <a:pPr marL="0" indent="0" eaLnBrk="1" fontAlgn="auto" hangingPunct="1">
              <a:spcAft>
                <a:spcPts val="0"/>
              </a:spcAft>
              <a:buFont typeface="Arial" pitchFamily="34" charset="0"/>
              <a:buNone/>
              <a:defRPr/>
            </a:pPr>
            <a:r>
              <a:rPr lang="en-US" sz="2000" b="1" u="sng" dirty="0">
                <a:latin typeface="Times New Roman" pitchFamily="18" charset="0"/>
                <a:cs typeface="Times New Roman" pitchFamily="18" charset="0"/>
              </a:rPr>
              <a:t>Costs for Cyber Security </a:t>
            </a:r>
            <a:r>
              <a:rPr lang="en-US" sz="2000" b="1" u="sng" dirty="0" smtClean="0">
                <a:latin typeface="Times New Roman" pitchFamily="18" charset="0"/>
                <a:cs typeface="Times New Roman" pitchFamily="18" charset="0"/>
              </a:rPr>
              <a:t>Certification:</a:t>
            </a:r>
            <a:endParaRPr lang="en-US" sz="2000" b="1" u="sng" dirty="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When we want to get the </a:t>
            </a:r>
            <a:r>
              <a:rPr lang="en-US" sz="2000" dirty="0" smtClean="0">
                <a:latin typeface="Times New Roman" pitchFamily="18" charset="0"/>
                <a:cs typeface="Times New Roman" pitchFamily="18" charset="0"/>
              </a:rPr>
              <a:t>cyber security </a:t>
            </a:r>
            <a:r>
              <a:rPr lang="en-US" sz="2000" dirty="0">
                <a:latin typeface="Times New Roman" pitchFamily="18" charset="0"/>
                <a:cs typeface="Times New Roman" pitchFamily="18" charset="0"/>
              </a:rPr>
              <a:t>certification, nothing can stop us from getting our dream job if we have the skills.</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We cannot here lie about the expense of the certification. The </a:t>
            </a:r>
            <a:r>
              <a:rPr lang="en-US" sz="2000" dirty="0" smtClean="0">
                <a:latin typeface="Times New Roman" pitchFamily="18" charset="0"/>
                <a:cs typeface="Times New Roman" pitchFamily="18" charset="0"/>
              </a:rPr>
              <a:t>cyber security </a:t>
            </a:r>
            <a:r>
              <a:rPr lang="en-US" sz="2000" dirty="0">
                <a:latin typeface="Times New Roman" pitchFamily="18" charset="0"/>
                <a:cs typeface="Times New Roman" pitchFamily="18" charset="0"/>
              </a:rPr>
              <a:t>certification can be expensive and time-consuming.</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Any entry-level certification takes three-nine months to complete and costs us back </a:t>
            </a:r>
            <a:r>
              <a:rPr lang="en-US" sz="2000" b="1" i="1" dirty="0">
                <a:latin typeface="Times New Roman" pitchFamily="18" charset="0"/>
                <a:cs typeface="Times New Roman" pitchFamily="18" charset="0"/>
              </a:rPr>
              <a:t>$300-$600</a:t>
            </a:r>
            <a:r>
              <a:rPr lang="en-US" sz="2000" dirty="0">
                <a:latin typeface="Times New Roman" pitchFamily="18" charset="0"/>
                <a:cs typeface="Times New Roman" pitchFamily="18" charset="0"/>
              </a:rPr>
              <a:t> for the examination. This certification leads to promotion, better job prospects and raise. It will help you to get a hike in your salary.</a:t>
            </a:r>
          </a:p>
          <a:p>
            <a:pPr eaLnBrk="1" fontAlgn="auto" hangingPunct="1">
              <a:spcAft>
                <a:spcPts val="0"/>
              </a:spcAft>
              <a:buFont typeface="Arial" pitchFamily="34" charset="0"/>
              <a:buChar char="•"/>
              <a:defRPr/>
            </a:pPr>
            <a:endParaRPr lang="en-US" sz="2000" dirty="0"/>
          </a:p>
          <a:p>
            <a:pPr eaLnBrk="1" fontAlgn="auto" hangingPunct="1">
              <a:spcAft>
                <a:spcPts val="0"/>
              </a:spcAft>
              <a:buFont typeface="Arial" pitchFamily="34" charset="0"/>
              <a:buChar char="•"/>
              <a:defRPr/>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52400" y="76200"/>
            <a:ext cx="8839200" cy="381000"/>
          </a:xfrm>
        </p:spPr>
        <p:txBody>
          <a:bodyPr>
            <a:normAutofit fontScale="90000"/>
          </a:bodyPr>
          <a:lstStyle/>
          <a:p>
            <a:pPr eaLnBrk="1" hangingPunct="1"/>
            <a:r>
              <a:rPr lang="en-US" sz="3200" b="1" smtClean="0">
                <a:latin typeface="Times New Roman" pitchFamily="18" charset="0"/>
                <a:cs typeface="Times New Roman" pitchFamily="18" charset="0"/>
              </a:rPr>
              <a:t>Security Certification</a:t>
            </a:r>
          </a:p>
        </p:txBody>
      </p:sp>
      <p:sp>
        <p:nvSpPr>
          <p:cNvPr id="3" name="Content Placeholder 2"/>
          <p:cNvSpPr>
            <a:spLocks noGrp="1"/>
          </p:cNvSpPr>
          <p:nvPr>
            <p:ph idx="1"/>
          </p:nvPr>
        </p:nvSpPr>
        <p:spPr>
          <a:xfrm>
            <a:off x="152400" y="685800"/>
            <a:ext cx="8839200" cy="6019800"/>
          </a:xfrm>
        </p:spPr>
        <p:txBody>
          <a:bodyPr rtlCol="0">
            <a:normAutofit/>
          </a:bodyPr>
          <a:lstStyle/>
          <a:p>
            <a:pPr marL="0" indent="0" eaLnBrk="1" fontAlgn="auto" hangingPunct="1">
              <a:spcAft>
                <a:spcPts val="0"/>
              </a:spcAft>
              <a:buFont typeface="Arial" pitchFamily="34" charset="0"/>
              <a:buNone/>
              <a:defRPr/>
            </a:pPr>
            <a:r>
              <a:rPr lang="en-US" sz="2000" b="1" dirty="0">
                <a:latin typeface="Times New Roman" pitchFamily="18" charset="0"/>
                <a:cs typeface="Times New Roman" pitchFamily="18" charset="0"/>
              </a:rPr>
              <a:t>Which Certification to Choose</a:t>
            </a:r>
          </a:p>
          <a:p>
            <a:pPr eaLnBrk="1" fontAlgn="auto" hangingPunct="1">
              <a:spcAft>
                <a:spcPts val="0"/>
              </a:spcAft>
              <a:buFont typeface="Arial" pitchFamily="34" charset="0"/>
              <a:buChar char="•"/>
              <a:defRPr/>
            </a:pPr>
            <a:r>
              <a:rPr lang="en-US" sz="2000" dirty="0">
                <a:latin typeface="Times New Roman" pitchFamily="18" charset="0"/>
                <a:cs typeface="Times New Roman" pitchFamily="18" charset="0"/>
              </a:rPr>
              <a:t>When you want to enroll in entry-level training, you may start by considering the given certification:</a:t>
            </a:r>
          </a:p>
          <a:p>
            <a:pPr eaLnBrk="1" fontAlgn="auto" hangingPunct="1">
              <a:spcAft>
                <a:spcPts val="0"/>
              </a:spcAft>
              <a:buFont typeface="Arial" pitchFamily="34" charset="0"/>
              <a:buChar char="•"/>
              <a:defRPr/>
            </a:pPr>
            <a:r>
              <a:rPr lang="en-US" sz="2000" dirty="0" err="1">
                <a:latin typeface="Times New Roman" pitchFamily="18" charset="0"/>
                <a:cs typeface="Times New Roman" pitchFamily="18" charset="0"/>
              </a:rPr>
              <a:t>CompTIA</a:t>
            </a:r>
            <a:r>
              <a:rPr lang="en-US" sz="2000" dirty="0">
                <a:latin typeface="Times New Roman" pitchFamily="18" charset="0"/>
                <a:cs typeface="Times New Roman" pitchFamily="18" charset="0"/>
              </a:rPr>
              <a:t> Security+</a:t>
            </a: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GSEC:</a:t>
            </a:r>
            <a:r>
              <a:rPr lang="en-US" sz="2000" dirty="0">
                <a:latin typeface="Times New Roman" pitchFamily="18" charset="0"/>
                <a:cs typeface="Times New Roman" pitchFamily="18" charset="0"/>
              </a:rPr>
              <a:t> GIAC Security Essential Certification</a:t>
            </a: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SSCP:</a:t>
            </a:r>
            <a:r>
              <a:rPr lang="en-US" sz="2000" dirty="0">
                <a:latin typeface="Times New Roman" pitchFamily="18" charset="0"/>
                <a:cs typeface="Times New Roman" pitchFamily="18" charset="0"/>
              </a:rPr>
              <a:t> System Security Certified Practitioner</a:t>
            </a:r>
          </a:p>
          <a:p>
            <a:pPr eaLnBrk="1" fontAlgn="auto" hangingPunct="1">
              <a:spcAft>
                <a:spcPts val="0"/>
              </a:spcAft>
              <a:buFont typeface="Arial" pitchFamily="34" charset="0"/>
              <a:buChar char="•"/>
              <a:defRPr/>
            </a:pPr>
            <a:r>
              <a:rPr lang="en-US" sz="2000" dirty="0" smtClean="0">
                <a:latin typeface="Times New Roman" pitchFamily="18" charset="0"/>
                <a:cs typeface="Times New Roman" pitchFamily="18" charset="0"/>
              </a:rPr>
              <a:t>Or </a:t>
            </a:r>
            <a:r>
              <a:rPr lang="en-US" sz="2000" dirty="0">
                <a:latin typeface="Times New Roman" pitchFamily="18" charset="0"/>
                <a:cs typeface="Times New Roman" pitchFamily="18" charset="0"/>
              </a:rPr>
              <a:t>you can select security+, which is one of the most well-known beginners' certification. But these certifications will depend on your level of expertise, and action depends upon your level of expertise and your field of interest.</a:t>
            </a:r>
          </a:p>
          <a:p>
            <a:pPr marL="0" indent="0" eaLnBrk="1" fontAlgn="auto" hangingPunct="1">
              <a:spcAft>
                <a:spcPts val="0"/>
              </a:spcAft>
              <a:buFont typeface="Arial" pitchFamily="34" charset="0"/>
              <a:buNone/>
              <a:defRPr/>
            </a:pPr>
            <a:r>
              <a:rPr lang="en-US" sz="2000" b="1" u="sng" dirty="0">
                <a:latin typeface="Times New Roman" pitchFamily="18" charset="0"/>
                <a:cs typeface="Times New Roman" pitchFamily="18" charset="0"/>
              </a:rPr>
              <a:t>Some of the popular </a:t>
            </a:r>
            <a:r>
              <a:rPr lang="en-US" sz="2000" b="1" u="sng" dirty="0" smtClean="0">
                <a:latin typeface="Times New Roman" pitchFamily="18" charset="0"/>
                <a:cs typeface="Times New Roman" pitchFamily="18" charset="0"/>
              </a:rPr>
              <a:t>certification:</a:t>
            </a:r>
            <a:endParaRPr lang="en-US" sz="2000" b="1" u="sng" dirty="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CISSP:</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Certified Information System Security Professional</a:t>
            </a:r>
            <a:r>
              <a:rPr lang="en-US" sz="2000" dirty="0">
                <a:latin typeface="Times New Roman" pitchFamily="18" charset="0"/>
                <a:cs typeface="Times New Roman" pitchFamily="18" charset="0"/>
              </a:rPr>
              <a:t> is a high-level certification that is focused on security policy and management. It is the most frequently acquired certification in the business by the individuals. It is one of the top-paying IT security certifications.</a:t>
            </a:r>
          </a:p>
          <a:p>
            <a:pPr eaLnBrk="1" fontAlgn="auto" hangingPunct="1">
              <a:spcAft>
                <a:spcPts val="0"/>
              </a:spcAft>
              <a:buFont typeface="Arial" pitchFamily="34" charset="0"/>
              <a:buChar char="•"/>
              <a:defRPr/>
            </a:pPr>
            <a:r>
              <a:rPr lang="en-US" sz="2000" b="1" dirty="0">
                <a:latin typeface="Times New Roman" pitchFamily="18" charset="0"/>
                <a:cs typeface="Times New Roman" pitchFamily="18" charset="0"/>
              </a:rPr>
              <a:t>CISA:</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Certified Information System Auditor</a:t>
            </a:r>
            <a:r>
              <a:rPr lang="en-US" sz="2000" dirty="0">
                <a:latin typeface="Times New Roman" pitchFamily="18" charset="0"/>
                <a:cs typeface="Times New Roman" pitchFamily="18" charset="0"/>
              </a:rPr>
              <a:t> has been designed for the professionals who audit, control, monitor and assess information technology and business systems.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52400" y="76200"/>
            <a:ext cx="8839200" cy="381000"/>
          </a:xfrm>
        </p:spPr>
        <p:txBody>
          <a:bodyPr>
            <a:normAutofit fontScale="90000"/>
          </a:bodyPr>
          <a:lstStyle/>
          <a:p>
            <a:pPr eaLnBrk="1" hangingPunct="1"/>
            <a:r>
              <a:rPr lang="en-US" sz="3200" smtClean="0">
                <a:latin typeface="Times New Roman" pitchFamily="18" charset="0"/>
                <a:cs typeface="Times New Roman" pitchFamily="18" charset="0"/>
              </a:rPr>
              <a:t>security Certification</a:t>
            </a:r>
          </a:p>
        </p:txBody>
      </p:sp>
      <p:sp>
        <p:nvSpPr>
          <p:cNvPr id="36867" name="Content Placeholder 2"/>
          <p:cNvSpPr>
            <a:spLocks noGrp="1"/>
          </p:cNvSpPr>
          <p:nvPr>
            <p:ph idx="1"/>
          </p:nvPr>
        </p:nvSpPr>
        <p:spPr>
          <a:xfrm>
            <a:off x="152400" y="685800"/>
            <a:ext cx="8839200" cy="6019800"/>
          </a:xfrm>
        </p:spPr>
        <p:txBody>
          <a:bodyPr/>
          <a:lstStyle/>
          <a:p>
            <a:pPr eaLnBrk="1" hangingPunct="1"/>
            <a:r>
              <a:rPr lang="en-US" sz="2000" b="1" smtClean="0"/>
              <a:t>CISM:</a:t>
            </a:r>
            <a:r>
              <a:rPr lang="en-US" sz="2000" smtClean="0"/>
              <a:t> </a:t>
            </a:r>
            <a:r>
              <a:rPr lang="en-US" sz="2000" i="1" smtClean="0"/>
              <a:t>Certified Information Security Manager</a:t>
            </a:r>
            <a:r>
              <a:rPr lang="en-US" sz="2000" smtClean="0"/>
              <a:t> has been geared towards people in managerial positions such as the CIO of IT security.</a:t>
            </a:r>
          </a:p>
          <a:p>
            <a:pPr eaLnBrk="1" hangingPunct="1"/>
            <a:r>
              <a:rPr lang="en-US" sz="2000" b="1" smtClean="0"/>
              <a:t>GCIH:</a:t>
            </a:r>
            <a:r>
              <a:rPr lang="en-US" sz="2000" smtClean="0"/>
              <a:t> </a:t>
            </a:r>
            <a:r>
              <a:rPr lang="en-US" sz="2000" i="1" smtClean="0"/>
              <a:t>GIAC Certified Incident Handler</a:t>
            </a:r>
            <a:r>
              <a:rPr lang="en-US" sz="2000" smtClean="0"/>
              <a:t> is for the incident handlers responsible for detecting, responding to and resolving computer security incidents.</a:t>
            </a:r>
          </a:p>
          <a:p>
            <a:pPr eaLnBrk="1" hangingPunct="1"/>
            <a:r>
              <a:rPr lang="en-US" sz="2000" b="1" smtClean="0"/>
              <a:t>CEH:</a:t>
            </a:r>
            <a:r>
              <a:rPr lang="en-US" sz="2000" smtClean="0"/>
              <a:t> </a:t>
            </a:r>
            <a:r>
              <a:rPr lang="en-US" sz="2000" i="1" smtClean="0"/>
              <a:t>Certified Ethical Hacker</a:t>
            </a:r>
            <a:r>
              <a:rPr lang="en-US" sz="2000" smtClean="0"/>
              <a:t> has been discussed among white hat hackers and penetration testers.</a:t>
            </a:r>
          </a:p>
          <a:p>
            <a:pPr eaLnBrk="1" hangingPunct="1"/>
            <a:r>
              <a:rPr lang="en-US" sz="2000" b="1" smtClean="0"/>
              <a:t>OSCP:</a:t>
            </a:r>
            <a:r>
              <a:rPr lang="en-US" sz="2000" smtClean="0"/>
              <a:t> </a:t>
            </a:r>
            <a:r>
              <a:rPr lang="en-US" sz="2000" i="1" smtClean="0"/>
              <a:t>Offensive Security Certified Professional</a:t>
            </a:r>
            <a:r>
              <a:rPr lang="en-US" sz="2000" smtClean="0"/>
              <a:t> has been designed for the penetration testers and includes a rigorous 24-hour certification exam.</a:t>
            </a:r>
          </a:p>
          <a:p>
            <a:pPr eaLnBrk="1" hangingPunct="1"/>
            <a:r>
              <a:rPr lang="en-US" sz="2000" smtClean="0"/>
              <a:t/>
            </a:r>
            <a:br>
              <a:rPr lang="en-US" sz="2000" smtClean="0"/>
            </a:br>
            <a:r>
              <a:rPr lang="en-US" sz="2000" smtClean="0"/>
              <a:t/>
            </a:r>
            <a:br>
              <a:rPr lang="en-US" sz="2000" smtClean="0"/>
            </a:br>
            <a:r>
              <a:rPr lang="en-US" sz="2000" smtClean="0"/>
              <a:t/>
            </a:r>
            <a:br>
              <a:rPr lang="en-US" sz="2000" smtClean="0"/>
            </a:br>
            <a:r>
              <a:rPr lang="en-US" sz="2000" smtClean="0"/>
              <a:t/>
            </a:r>
            <a:br>
              <a:rPr lang="en-US" sz="2000" smtClean="0"/>
            </a:br>
            <a:endParaRPr lang="en-US" sz="20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TotalTime>
  <Words>4484</Words>
  <Application>Microsoft Office PowerPoint</Application>
  <PresentationFormat>On-screen Show (4:3)</PresentationFormat>
  <Paragraphs>352</Paragraphs>
  <Slides>39</Slides>
  <Notes>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Unit-4 Cyber Security Audit &amp; Standards</vt:lpstr>
      <vt:lpstr>Cyber Security Audit &amp; Standards</vt:lpstr>
      <vt:lpstr>Cyber Security Audit &amp; Standards</vt:lpstr>
      <vt:lpstr>Cyber Security Standards</vt:lpstr>
      <vt:lpstr>Cyber Security Standards</vt:lpstr>
      <vt:lpstr>Cyber Security Standards</vt:lpstr>
      <vt:lpstr>Slide 7</vt:lpstr>
      <vt:lpstr>Risk Assessment and Management</vt:lpstr>
      <vt:lpstr>Risk Assessment and Management</vt:lpstr>
      <vt:lpstr>Risk Assessment and Management</vt:lpstr>
      <vt:lpstr>Risk Assessment and Management</vt:lpstr>
      <vt:lpstr>Risk Assessment and Management</vt:lpstr>
      <vt:lpstr>Asset Classification</vt:lpstr>
      <vt:lpstr>Asset Classification</vt:lpstr>
      <vt:lpstr>Asset Classification</vt:lpstr>
      <vt:lpstr>Crisis Management Plan</vt:lpstr>
      <vt:lpstr>Crisis Management Plan</vt:lpstr>
      <vt:lpstr>Crisis Management Plan</vt:lpstr>
      <vt:lpstr>Crisis Management Plan</vt:lpstr>
      <vt:lpstr>penetration testing </vt:lpstr>
      <vt:lpstr>vulnerability testing </vt:lpstr>
      <vt:lpstr>Resources Recovery Strategy</vt:lpstr>
      <vt:lpstr>Resources Recovery Strategy</vt:lpstr>
      <vt:lpstr>Resources Recovery Strategy</vt:lpstr>
      <vt:lpstr>Security Testing</vt:lpstr>
      <vt:lpstr>Security Testing</vt:lpstr>
      <vt:lpstr>Security Testing</vt:lpstr>
      <vt:lpstr>Security Testing</vt:lpstr>
      <vt:lpstr>International Standards</vt:lpstr>
      <vt:lpstr>International Standards</vt:lpstr>
      <vt:lpstr>International Standards</vt:lpstr>
      <vt:lpstr>Analysis and Logging</vt:lpstr>
      <vt:lpstr>Analysis and Logging</vt:lpstr>
      <vt:lpstr>Analysis and Logging</vt:lpstr>
      <vt:lpstr>Analysis and Logging</vt:lpstr>
      <vt:lpstr>Security Certification</vt:lpstr>
      <vt:lpstr>Security Certification</vt:lpstr>
      <vt:lpstr>Security Certification</vt:lpstr>
      <vt:lpstr>security Certification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Unit-4 Cyber Security Audit &amp; Standards</dc:title>
  <dc:creator>student</dc:creator>
  <cp:lastModifiedBy>student</cp:lastModifiedBy>
  <cp:revision>16</cp:revision>
  <dcterms:created xsi:type="dcterms:W3CDTF">2026-09-15T07:26:26Z</dcterms:created>
  <dcterms:modified xsi:type="dcterms:W3CDTF">2026-09-15T10:09:23Z</dcterms:modified>
</cp:coreProperties>
</file>